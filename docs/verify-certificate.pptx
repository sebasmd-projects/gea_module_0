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comes with every certification, how to check that a document is genuine, and what you can share with a third party without handing over more than you need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certified document the platform keeps three versions and computes the digital fingerprint of each. Knowing which is which prevents the most common mistake: sending out the wrong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PDF you receive. With both codes stamped on. This is the holder's own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propensionesabogados.com, open Platforms in the top menu and choose Certification. That link leads to the verification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a portal: documents or people. It depends on what is in front of you: a piece of paper, or someone claiming to represent the 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code to your email before you can look anything up. Only on the documents portal. The people portal does not ask for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code to your email before you can look anything up. Only on the documents portal. The people portal does not ask for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check, and they are not equivalent. By code, or by uploading the file. The second answers a question the first one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file is not ours. What the file check says about a PDF the platform did not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screen, read part by part. This is the screen an auditor will look at. It pays to know what each part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screen, read part by part. This is the screen an auditor will look at. It pays to know what each part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above goes through the firm's website. An auditor will want something that does not, and that is what the certification record is for: a file holding the fingerprints of all three files with a cryptographic signature 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AEGIS summary and a provable date. For when several documents are grouped, and for when you need to prove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timestamp, on its own page. Public, no code needed: this is what the printed QR opens.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Checking the person, not the paper. For when someone says they are acting on behalf of the 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share, and what not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3A"/>
        </a:solidFill>
      </p:bgPr>
    </p:bg>
    <p:spTree>
      <p:nvGrpSpPr>
        <p:cNvPr id="1" name=""/>
        <p:cNvGrpSpPr/>
        <p:nvPr/>
      </p:nvGrpSpPr>
      <p:grpSpPr>
        <a:xfrm>
          <a:off x="0" y="0"/>
          <a:ext cx="0" cy="0"/>
          <a:chOff x="0" y="0"/>
          <a:chExt cx="0" cy="0"/>
        </a:xfrm>
      </p:grpSpPr>
      <p:sp>
        <p:nvSpPr>
          <p:cNvPr id="2" name="Shape 0"/>
          <p:cNvSpPr/>
          <p:nvPr/>
        </p:nvSpPr>
        <p:spPr>
          <a:xfrm>
            <a:off x="502920" y="1874520"/>
            <a:ext cx="365760" cy="365760"/>
          </a:xfrm>
          <a:prstGeom prst="ellipse">
            <a:avLst/>
          </a:prstGeom>
          <a:ln w="15875">
            <a:solidFill>
              <a:srgbClr val="9C7222"/>
            </a:solidFill>
            <a:prstDash val="solid"/>
          </a:ln>
        </p:spPr>
      </p:sp>
      <p:sp>
        <p:nvSpPr>
          <p:cNvPr id="3" name="Text 1"/>
          <p:cNvSpPr txBox="1"/>
          <p:nvPr/>
        </p:nvSpPr>
        <p:spPr>
          <a:xfrm>
            <a:off x="502920" y="1874520"/>
            <a:ext cx="365760" cy="365760"/>
          </a:xfrm>
          <a:prstGeom prst="rect">
            <a:avLst/>
          </a:prstGeom>
          <a:noFill/>
          <a:ln/>
        </p:spPr>
        <p:txBody>
          <a:bodyPr wrap="square" lIns="0" tIns="0" rIns="0" bIns="0" rtlCol="0" anchor="ctr"/>
          <a:lstStyle/>
          <a:p>
            <a:pPr algn="ctr" indent="0" marL="0">
              <a:buNone/>
            </a:pPr>
            <a:r>
              <a:rPr lang="en-US" sz="1500" b="1" dirty="0">
                <a:solidFill>
                  <a:srgbClr val="9C7222"/>
                </a:solidFill>
                <a:latin typeface="Cambria" pitchFamily="34" charset="0"/>
                <a:ea typeface="Cambria" pitchFamily="34" charset="-122"/>
                <a:cs typeface="Cambria" pitchFamily="34" charset="-120"/>
              </a:rPr>
              <a:t>A</a:t>
            </a:r>
            <a:endParaRPr lang="en-US" sz="1500" dirty="0"/>
          </a:p>
        </p:txBody>
      </p:sp>
      <p:sp>
        <p:nvSpPr>
          <p:cNvPr id="4" name="Text 2"/>
          <p:cNvSpPr txBox="1"/>
          <p:nvPr/>
        </p:nvSpPr>
        <p:spPr>
          <a:xfrm>
            <a:off x="1014984" y="1874520"/>
            <a:ext cx="7315200" cy="365760"/>
          </a:xfrm>
          <a:prstGeom prst="rect">
            <a:avLst/>
          </a:prstGeom>
          <a:noFill/>
          <a:ln/>
        </p:spPr>
        <p:txBody>
          <a:bodyPr wrap="square" lIns="0" tIns="0" rIns="0" bIns="0" rtlCol="0" anchor="ctr"/>
          <a:lstStyle/>
          <a:p>
            <a:pPr indent="0" marL="0">
              <a:buNone/>
            </a:pPr>
            <a:r>
              <a:rPr lang="en-US" sz="900" spc="160" kern="0" dirty="0">
                <a:solidFill>
                  <a:srgbClr val="B9B2A4"/>
                </a:solidFill>
                <a:latin typeface="Courier New" pitchFamily="34" charset="0"/>
                <a:ea typeface="Courier New" pitchFamily="34" charset="-122"/>
                <a:cs typeface="Courier New" pitchFamily="34" charset="-120"/>
              </a:rPr>
              <a:t>PROPENSIONES ABOGADOS INTERNACIONAL · AEGIS</a:t>
            </a:r>
            <a:endParaRPr lang="en-US" sz="900" dirty="0"/>
          </a:p>
        </p:txBody>
      </p:sp>
      <p:sp>
        <p:nvSpPr>
          <p:cNvPr id="5" name="Text 3"/>
          <p:cNvSpPr txBox="1"/>
          <p:nvPr/>
        </p:nvSpPr>
        <p:spPr>
          <a:xfrm>
            <a:off x="502920" y="2514600"/>
            <a:ext cx="9601200" cy="1371600"/>
          </a:xfrm>
          <a:prstGeom prst="rect">
            <a:avLst/>
          </a:prstGeom>
          <a:noFill/>
          <a:ln/>
        </p:spPr>
        <p:txBody>
          <a:bodyPr wrap="square" lIns="0" tIns="0" rIns="0" bIns="0" rtlCol="0" anchor="t"/>
          <a:lstStyle/>
          <a:p>
            <a:pPr indent="0" marL="0">
              <a:buNone/>
            </a:pPr>
            <a:r>
              <a:rPr lang="en-US" sz="4400" b="1" dirty="0">
                <a:solidFill>
                  <a:srgbClr val="FAF8F3"/>
                </a:solidFill>
                <a:latin typeface="Cambria" pitchFamily="34" charset="0"/>
                <a:ea typeface="Cambria" pitchFamily="34" charset="-122"/>
                <a:cs typeface="Cambria" pitchFamily="34" charset="-120"/>
              </a:rPr>
              <a:t>How to verify a certificate</a:t>
            </a:r>
            <a:endParaRPr lang="en-US" sz="4400" dirty="0"/>
          </a:p>
        </p:txBody>
      </p:sp>
      <p:sp>
        <p:nvSpPr>
          <p:cNvPr id="6" name="Text 4"/>
          <p:cNvSpPr txBox="1"/>
          <p:nvPr/>
        </p:nvSpPr>
        <p:spPr>
          <a:xfrm>
            <a:off x="502920" y="3931920"/>
            <a:ext cx="7863840" cy="1005840"/>
          </a:xfrm>
          <a:prstGeom prst="rect">
            <a:avLst/>
          </a:prstGeom>
          <a:noFill/>
          <a:ln/>
        </p:spPr>
        <p:txBody>
          <a:bodyPr wrap="square" lIns="0" tIns="0" rIns="0" bIns="0" rtlCol="0" anchor="t"/>
          <a:lstStyle/>
          <a:p>
            <a:pPr indent="0" marL="0">
              <a:buNone/>
            </a:pPr>
            <a:r>
              <a:rPr lang="en-US" sz="1500" dirty="0">
                <a:solidFill>
                  <a:srgbClr val="C9C2B4"/>
                </a:solidFill>
                <a:latin typeface="Calibri" pitchFamily="34" charset="0"/>
                <a:ea typeface="Calibri" pitchFamily="34" charset="-122"/>
                <a:cs typeface="Calibri" pitchFamily="34" charset="-120"/>
              </a:rPr>
              <a:t>What comes with every certification, how to check that a document is genuine, and what you can share with a third party without handing over more than you need to.</a:t>
            </a:r>
            <a:endParaRPr lang="en-US" sz="1500" dirty="0"/>
          </a:p>
        </p:txBody>
      </p:sp>
      <p:sp>
        <p:nvSpPr>
          <p:cNvPr id="7" name="Shape 5"/>
          <p:cNvSpPr/>
          <p:nvPr/>
        </p:nvSpPr>
        <p:spPr>
          <a:xfrm>
            <a:off x="502920" y="5120640"/>
            <a:ext cx="2889504" cy="329184"/>
          </a:xfrm>
          <a:prstGeom prst="roundRect">
            <a:avLst>
              <a:gd name="adj" fmla="val 50000"/>
            </a:avLst>
          </a:prstGeom>
          <a:ln w="12700">
            <a:solidFill>
              <a:srgbClr val="4A5468"/>
            </a:solidFill>
            <a:prstDash val="solid"/>
          </a:ln>
        </p:spPr>
      </p:sp>
      <p:sp>
        <p:nvSpPr>
          <p:cNvPr id="8" name="Text 6"/>
          <p:cNvSpPr txBox="1"/>
          <p:nvPr/>
        </p:nvSpPr>
        <p:spPr>
          <a:xfrm>
            <a:off x="502920" y="5120640"/>
            <a:ext cx="2889504" cy="329184"/>
          </a:xfrm>
          <a:prstGeom prst="rect">
            <a:avLst/>
          </a:prstGeom>
          <a:noFill/>
          <a:ln/>
        </p:spPr>
        <p:txBody>
          <a:bodyPr wrap="square" lIns="0" tIns="0" rIns="0" bIns="0" rtlCol="0" anchor="ctr"/>
          <a:lstStyle/>
          <a:p>
            <a:pPr algn="ctr" indent="0" marL="0">
              <a:buNone/>
            </a:pPr>
            <a:r>
              <a:rPr lang="en-US" sz="1000" dirty="0">
                <a:solidFill>
                  <a:srgbClr val="C9C2B4"/>
                </a:solidFill>
                <a:latin typeface="Calibri" pitchFamily="34" charset="0"/>
                <a:ea typeface="Calibri" pitchFamily="34" charset="-122"/>
                <a:cs typeface="Calibri" pitchFamily="34" charset="-120"/>
              </a:rPr>
              <a:t>Certificate holders</a:t>
            </a:r>
            <a:endParaRPr lang="en-US" sz="1000" dirty="0"/>
          </a:p>
        </p:txBody>
      </p:sp>
      <p:sp>
        <p:nvSpPr>
          <p:cNvPr id="9" name="Shape 7"/>
          <p:cNvSpPr/>
          <p:nvPr/>
        </p:nvSpPr>
        <p:spPr>
          <a:xfrm>
            <a:off x="3538728" y="5120640"/>
            <a:ext cx="3657600" cy="329184"/>
          </a:xfrm>
          <a:prstGeom prst="roundRect">
            <a:avLst>
              <a:gd name="adj" fmla="val 50000"/>
            </a:avLst>
          </a:prstGeom>
          <a:ln w="12700">
            <a:solidFill>
              <a:srgbClr val="4A5468"/>
            </a:solidFill>
            <a:prstDash val="solid"/>
          </a:ln>
        </p:spPr>
      </p:sp>
      <p:sp>
        <p:nvSpPr>
          <p:cNvPr id="10" name="Text 8"/>
          <p:cNvSpPr txBox="1"/>
          <p:nvPr/>
        </p:nvSpPr>
        <p:spPr>
          <a:xfrm>
            <a:off x="3538728" y="5120640"/>
            <a:ext cx="3657600" cy="329184"/>
          </a:xfrm>
          <a:prstGeom prst="rect">
            <a:avLst/>
          </a:prstGeom>
          <a:noFill/>
          <a:ln/>
        </p:spPr>
        <p:txBody>
          <a:bodyPr wrap="square" lIns="0" tIns="0" rIns="0" bIns="0" rtlCol="0" anchor="ctr"/>
          <a:lstStyle/>
          <a:p>
            <a:pPr algn="ctr" indent="0" marL="0">
              <a:buNone/>
            </a:pPr>
            <a:r>
              <a:rPr lang="en-US" sz="1000" dirty="0">
                <a:solidFill>
                  <a:srgbClr val="C9C2B4"/>
                </a:solidFill>
                <a:latin typeface="Calibri" pitchFamily="34" charset="0"/>
                <a:ea typeface="Calibri" pitchFamily="34" charset="-122"/>
                <a:cs typeface="Calibri" pitchFamily="34" charset="-120"/>
              </a:rPr>
              <a:t>Buyers and counterparties</a:t>
            </a:r>
            <a:endParaRPr lang="en-US" sz="1000" dirty="0"/>
          </a:p>
        </p:txBody>
      </p:sp>
      <p:sp>
        <p:nvSpPr>
          <p:cNvPr id="11" name="Shape 9"/>
          <p:cNvSpPr/>
          <p:nvPr/>
        </p:nvSpPr>
        <p:spPr>
          <a:xfrm>
            <a:off x="7342632" y="5120640"/>
            <a:ext cx="3017520" cy="329184"/>
          </a:xfrm>
          <a:prstGeom prst="roundRect">
            <a:avLst>
              <a:gd name="adj" fmla="val 50000"/>
            </a:avLst>
          </a:prstGeom>
          <a:ln w="12700">
            <a:solidFill>
              <a:srgbClr val="4A5468"/>
            </a:solidFill>
            <a:prstDash val="solid"/>
          </a:ln>
        </p:spPr>
      </p:sp>
      <p:sp>
        <p:nvSpPr>
          <p:cNvPr id="12" name="Text 10"/>
          <p:cNvSpPr txBox="1"/>
          <p:nvPr/>
        </p:nvSpPr>
        <p:spPr>
          <a:xfrm>
            <a:off x="7342632" y="5120640"/>
            <a:ext cx="3017520" cy="329184"/>
          </a:xfrm>
          <a:prstGeom prst="rect">
            <a:avLst/>
          </a:prstGeom>
          <a:noFill/>
          <a:ln/>
        </p:spPr>
        <p:txBody>
          <a:bodyPr wrap="square" lIns="0" tIns="0" rIns="0" bIns="0" rtlCol="0" anchor="ctr"/>
          <a:lstStyle/>
          <a:p>
            <a:pPr algn="ctr" indent="0" marL="0">
              <a:buNone/>
            </a:pPr>
            <a:r>
              <a:rPr lang="en-US" sz="1000" dirty="0">
                <a:solidFill>
                  <a:srgbClr val="C9C2B4"/>
                </a:solidFill>
                <a:latin typeface="Calibri" pitchFamily="34" charset="0"/>
                <a:ea typeface="Calibri" pitchFamily="34" charset="-122"/>
                <a:cs typeface="Calibri" pitchFamily="34" charset="-120"/>
              </a:rPr>
              <a:t>Audit and compliance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84048"/>
            <a:ext cx="1051560" cy="548640"/>
          </a:xfrm>
          <a:prstGeom prst="rect">
            <a:avLst/>
          </a:prstGeom>
          <a:noFill/>
          <a:ln/>
        </p:spPr>
        <p:txBody>
          <a:bodyPr wrap="square" lIns="0" tIns="0" rIns="0" bIns="0" rtlCol="0" anchor="t"/>
          <a:lstStyle/>
          <a:p>
            <a:pPr indent="0" marL="0">
              <a:buNone/>
            </a:pPr>
            <a:r>
              <a:rPr lang="en-US" sz="800" spc="140" kern="0" dirty="0">
                <a:solidFill>
                  <a:srgbClr val="6B6559"/>
                </a:solidFill>
                <a:latin typeface="Courier New" pitchFamily="34" charset="0"/>
                <a:ea typeface="Courier New" pitchFamily="34" charset="-122"/>
                <a:cs typeface="Courier New" pitchFamily="34" charset="-120"/>
              </a:rPr>
              <a:t>BEFORE YOU START</a:t>
            </a:r>
            <a:endParaRPr lang="en-US" sz="800" dirty="0"/>
          </a:p>
        </p:txBody>
      </p:sp>
      <p:sp>
        <p:nvSpPr>
          <p:cNvPr id="3" name="Text 1"/>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A certificate is three files, not one</a:t>
            </a:r>
            <a:endParaRPr lang="en-US" sz="2600" dirty="0"/>
          </a:p>
        </p:txBody>
      </p:sp>
      <p:sp>
        <p:nvSpPr>
          <p:cNvPr id="4" name="Text 2"/>
          <p:cNvSpPr txBox="1"/>
          <p:nvPr/>
        </p:nvSpPr>
        <p:spPr>
          <a:xfrm>
            <a:off x="1645920" y="841248"/>
            <a:ext cx="10012680" cy="274320"/>
          </a:xfrm>
          <a:prstGeom prst="rect">
            <a:avLst/>
          </a:prstGeom>
          <a:noFill/>
          <a:ln/>
        </p:spPr>
        <p:txBody>
          <a:bodyPr wrap="square" lIns="0" tIns="0" rIns="0" bIns="0" rtlCol="0" anchor="t"/>
          <a:lstStyle/>
          <a:p>
            <a:pPr indent="0" marL="0">
              <a:buNone/>
            </a:pPr>
            <a:r>
              <a:rPr lang="en-US" sz="1200" dirty="0">
                <a:solidFill>
                  <a:srgbClr val="6B6559"/>
                </a:solidFill>
                <a:latin typeface="Calibri" pitchFamily="34" charset="0"/>
                <a:ea typeface="Calibri" pitchFamily="34" charset="-122"/>
                <a:cs typeface="Calibri" pitchFamily="34" charset="-120"/>
              </a:rPr>
              <a:t>All three say the same thing. They differ in who may see them, and in what each one carries printed on it.</a:t>
            </a:r>
            <a:endParaRPr lang="en-US" sz="1200" dirty="0"/>
          </a:p>
        </p:txBody>
      </p:sp>
      <p:sp>
        <p:nvSpPr>
          <p:cNvPr id="5" name="Text 3"/>
          <p:cNvSpPr txBox="1"/>
          <p:nvPr/>
        </p:nvSpPr>
        <p:spPr>
          <a:xfrm>
            <a:off x="1645920" y="1280160"/>
            <a:ext cx="10012680" cy="457200"/>
          </a:xfrm>
          <a:prstGeom prst="rect">
            <a:avLst/>
          </a:prstGeom>
          <a:noFill/>
          <a:ln/>
        </p:spPr>
        <p:txBody>
          <a:bodyPr wrap="square" lIns="0" tIns="0" rIns="0" bIns="0" rtlCol="0" anchor="t"/>
          <a:lstStyle/>
          <a:p>
            <a:pPr indent="0" marL="0">
              <a:buNone/>
            </a:pPr>
            <a:r>
              <a:rPr lang="en-US" sz="1150" dirty="0">
                <a:solidFill>
                  <a:srgbClr val="12203A"/>
                </a:solidFill>
                <a:latin typeface="Calibri" pitchFamily="34" charset="0"/>
                <a:ea typeface="Calibri" pitchFamily="34" charset="-122"/>
                <a:cs typeface="Calibri" pitchFamily="34" charset="-120"/>
              </a:rPr>
              <a:t>For every certified document the platform keeps three versions and computes the digital fingerprint of each. Knowing which is which prevents the most common mistake: sending out the wrong one.</a:t>
            </a:r>
            <a:endParaRPr lang="en-US" sz="1150" dirty="0"/>
          </a:p>
        </p:txBody>
      </p:sp>
      <p:sp>
        <p:nvSpPr>
          <p:cNvPr id="6" name="Shape 4"/>
          <p:cNvSpPr/>
          <p:nvPr/>
        </p:nvSpPr>
        <p:spPr>
          <a:xfrm>
            <a:off x="502920" y="1847088"/>
            <a:ext cx="3535680" cy="3947160"/>
          </a:xfrm>
          <a:prstGeom prst="roundRect">
            <a:avLst>
              <a:gd name="adj" fmla="val 1293"/>
            </a:avLst>
          </a:prstGeom>
          <a:solidFill>
            <a:srgbClr val="FFFFFF"/>
          </a:solidFill>
          <a:ln w="9525">
            <a:solidFill>
              <a:srgbClr val="DED8CB"/>
            </a:solidFill>
            <a:prstDash val="solid"/>
          </a:ln>
        </p:spPr>
      </p:sp>
      <p:pic>
        <p:nvPicPr>
          <p:cNvPr id="7" name="Image 0" descr="/tmp/claude-0/-home-user-gea-module-0/05c86c8b-2f1b-52ff-8f50-3243e9e36b63/scratchpad/deck_img/pdf_1_original.png">    </p:cNvPr>
          <p:cNvPicPr>
            <a:picLocks noChangeAspect="1"/>
          </p:cNvPicPr>
          <p:nvPr/>
        </p:nvPicPr>
        <p:blipFill>
          <a:blip r:embed="rId1"/>
          <a:stretch>
            <a:fillRect/>
          </a:stretch>
        </p:blipFill>
        <p:spPr>
          <a:xfrm>
            <a:off x="1368890" y="1993392"/>
            <a:ext cx="1803741" cy="2331720"/>
          </a:xfrm>
          <a:prstGeom prst="rect">
            <a:avLst/>
          </a:prstGeom>
        </p:spPr>
      </p:pic>
      <p:sp>
        <p:nvSpPr>
          <p:cNvPr id="8" name="Shape 5"/>
          <p:cNvSpPr/>
          <p:nvPr/>
        </p:nvSpPr>
        <p:spPr>
          <a:xfrm>
            <a:off x="704088" y="4453128"/>
            <a:ext cx="1321308" cy="237744"/>
          </a:xfrm>
          <a:prstGeom prst="roundRect">
            <a:avLst>
              <a:gd name="adj" fmla="val 15385"/>
            </a:avLst>
          </a:prstGeom>
          <a:solidFill>
            <a:srgbClr val="F3F0E8"/>
          </a:solidFill>
          <a:ln w="6350">
            <a:solidFill>
              <a:srgbClr val="F3F0E8"/>
            </a:solidFill>
            <a:prstDash val="solid"/>
          </a:ln>
        </p:spPr>
      </p:sp>
      <p:sp>
        <p:nvSpPr>
          <p:cNvPr id="9" name="Text 6"/>
          <p:cNvSpPr txBox="1"/>
          <p:nvPr/>
        </p:nvSpPr>
        <p:spPr>
          <a:xfrm>
            <a:off x="704088" y="4453128"/>
            <a:ext cx="1321308" cy="237744"/>
          </a:xfrm>
          <a:prstGeom prst="rect">
            <a:avLst/>
          </a:prstGeom>
          <a:noFill/>
          <a:ln/>
        </p:spPr>
        <p:txBody>
          <a:bodyPr wrap="square" lIns="0" tIns="0" rIns="0" bIns="0" rtlCol="0" anchor="ctr"/>
          <a:lstStyle/>
          <a:p>
            <a:pPr algn="ctr" indent="0" marL="0">
              <a:buNone/>
            </a:pPr>
            <a:r>
              <a:rPr lang="en-US" sz="700" dirty="0">
                <a:solidFill>
                  <a:srgbClr val="6B6559"/>
                </a:solidFill>
                <a:latin typeface="Courier New" pitchFamily="34" charset="0"/>
                <a:ea typeface="Courier New" pitchFamily="34" charset="-122"/>
                <a:cs typeface="Courier New" pitchFamily="34" charset="-120"/>
              </a:rPr>
              <a:t>STAYS ON FILE</a:t>
            </a:r>
            <a:endParaRPr lang="en-US" sz="700" dirty="0"/>
          </a:p>
        </p:txBody>
      </p:sp>
      <p:sp>
        <p:nvSpPr>
          <p:cNvPr id="10" name="Text 7"/>
          <p:cNvSpPr txBox="1"/>
          <p:nvPr/>
        </p:nvSpPr>
        <p:spPr>
          <a:xfrm>
            <a:off x="704088" y="4764024"/>
            <a:ext cx="3133344" cy="310896"/>
          </a:xfrm>
          <a:prstGeom prst="rect">
            <a:avLst/>
          </a:prstGeom>
          <a:noFill/>
          <a:ln/>
        </p:spPr>
        <p:txBody>
          <a:bodyPr wrap="square" lIns="0" tIns="0" rIns="0" bIns="0" rtlCol="0" anchor="t"/>
          <a:lstStyle/>
          <a:p>
            <a:pPr indent="0" marL="0">
              <a:buNone/>
            </a:pPr>
            <a:r>
              <a:rPr lang="en-US" sz="1500" b="1" dirty="0">
                <a:solidFill>
                  <a:srgbClr val="12203A"/>
                </a:solidFill>
                <a:latin typeface="Cambria" pitchFamily="34" charset="0"/>
                <a:ea typeface="Cambria" pitchFamily="34" charset="-122"/>
                <a:cs typeface="Cambria" pitchFamily="34" charset="-120"/>
              </a:rPr>
              <a:t>Original</a:t>
            </a:r>
            <a:endParaRPr lang="en-US" sz="1500" dirty="0"/>
          </a:p>
        </p:txBody>
      </p:sp>
      <p:sp>
        <p:nvSpPr>
          <p:cNvPr id="11" name="Text 8"/>
          <p:cNvSpPr txBox="1"/>
          <p:nvPr/>
        </p:nvSpPr>
        <p:spPr>
          <a:xfrm>
            <a:off x="704088" y="5093208"/>
            <a:ext cx="3133344" cy="563880"/>
          </a:xfrm>
          <a:prstGeom prst="rect">
            <a:avLst/>
          </a:prstGeom>
          <a:noFill/>
          <a:ln/>
        </p:spPr>
        <p:txBody>
          <a:bodyPr wrap="square" lIns="0" tIns="0" rIns="0" bIns="0" rtlCol="0" anchor="t"/>
          <a:lstStyle/>
          <a:p>
            <a:pPr indent="0" marL="0">
              <a:buNone/>
            </a:pPr>
            <a:r>
              <a:rPr lang="en-US" sz="1000" dirty="0">
                <a:solidFill>
                  <a:srgbClr val="6B6559"/>
                </a:solidFill>
                <a:latin typeface="Calibri" pitchFamily="34" charset="0"/>
                <a:ea typeface="Calibri" pitchFamily="34" charset="-122"/>
                <a:cs typeface="Calibri" pitchFamily="34" charset="-120"/>
              </a:rPr>
              <a:t>The document exactly as it was filed, with no codes on it. It never leaves the platform: only internal staff can open it.</a:t>
            </a:r>
            <a:endParaRPr lang="en-US" sz="1000" dirty="0"/>
          </a:p>
        </p:txBody>
      </p:sp>
      <p:sp>
        <p:nvSpPr>
          <p:cNvPr id="12" name="Shape 9"/>
          <p:cNvSpPr/>
          <p:nvPr/>
        </p:nvSpPr>
        <p:spPr>
          <a:xfrm>
            <a:off x="4312920" y="1847088"/>
            <a:ext cx="3535680" cy="3947160"/>
          </a:xfrm>
          <a:prstGeom prst="roundRect">
            <a:avLst>
              <a:gd name="adj" fmla="val 1293"/>
            </a:avLst>
          </a:prstGeom>
          <a:solidFill>
            <a:srgbClr val="FFFFFF"/>
          </a:solidFill>
          <a:ln w="9525">
            <a:solidFill>
              <a:srgbClr val="DED8CB"/>
            </a:solidFill>
            <a:prstDash val="solid"/>
          </a:ln>
        </p:spPr>
      </p:sp>
      <p:pic>
        <p:nvPicPr>
          <p:cNvPr id="13" name="Image 1" descr="/tmp/claude-0/-home-user-gea-module-0/05c86c8b-2f1b-52ff-8f50-3243e9e36b63/scratchpad/deck_img/pdf_2_certificado.png">    </p:cNvPr>
          <p:cNvPicPr>
            <a:picLocks noChangeAspect="1"/>
          </p:cNvPicPr>
          <p:nvPr/>
        </p:nvPicPr>
        <p:blipFill>
          <a:blip r:embed="rId2"/>
          <a:stretch>
            <a:fillRect/>
          </a:stretch>
        </p:blipFill>
        <p:spPr>
          <a:xfrm>
            <a:off x="5178890" y="1993392"/>
            <a:ext cx="1803741" cy="2331720"/>
          </a:xfrm>
          <a:prstGeom prst="rect">
            <a:avLst/>
          </a:prstGeom>
        </p:spPr>
      </p:pic>
      <p:sp>
        <p:nvSpPr>
          <p:cNvPr id="14" name="Shape 10"/>
          <p:cNvSpPr/>
          <p:nvPr/>
        </p:nvSpPr>
        <p:spPr>
          <a:xfrm>
            <a:off x="4514088" y="4453128"/>
            <a:ext cx="1943100" cy="237744"/>
          </a:xfrm>
          <a:prstGeom prst="roundRect">
            <a:avLst>
              <a:gd name="adj" fmla="val 15385"/>
            </a:avLst>
          </a:prstGeom>
          <a:solidFill>
            <a:srgbClr val="F3F0E8"/>
          </a:solidFill>
          <a:ln w="6350">
            <a:solidFill>
              <a:srgbClr val="F3F0E8"/>
            </a:solidFill>
            <a:prstDash val="solid"/>
          </a:ln>
        </p:spPr>
      </p:sp>
      <p:sp>
        <p:nvSpPr>
          <p:cNvPr id="15" name="Text 11"/>
          <p:cNvSpPr txBox="1"/>
          <p:nvPr/>
        </p:nvSpPr>
        <p:spPr>
          <a:xfrm>
            <a:off x="4514088" y="4453128"/>
            <a:ext cx="1943100" cy="237744"/>
          </a:xfrm>
          <a:prstGeom prst="rect">
            <a:avLst/>
          </a:prstGeom>
          <a:noFill/>
          <a:ln/>
        </p:spPr>
        <p:txBody>
          <a:bodyPr wrap="square" lIns="0" tIns="0" rIns="0" bIns="0" rtlCol="0" anchor="ctr"/>
          <a:lstStyle/>
          <a:p>
            <a:pPr algn="ctr" indent="0" marL="0">
              <a:buNone/>
            </a:pPr>
            <a:r>
              <a:rPr lang="en-US" sz="700" dirty="0">
                <a:solidFill>
                  <a:srgbClr val="6B6559"/>
                </a:solidFill>
                <a:latin typeface="Courier New" pitchFamily="34" charset="0"/>
                <a:ea typeface="Courier New" pitchFamily="34" charset="-122"/>
                <a:cs typeface="Courier New" pitchFamily="34" charset="-120"/>
              </a:rPr>
              <a:t>THE AUTHORITATIVE ONE</a:t>
            </a:r>
            <a:endParaRPr lang="en-US" sz="700" dirty="0"/>
          </a:p>
        </p:txBody>
      </p:sp>
      <p:sp>
        <p:nvSpPr>
          <p:cNvPr id="16" name="Text 12"/>
          <p:cNvSpPr txBox="1"/>
          <p:nvPr/>
        </p:nvSpPr>
        <p:spPr>
          <a:xfrm>
            <a:off x="4514088" y="4764024"/>
            <a:ext cx="3133344" cy="310896"/>
          </a:xfrm>
          <a:prstGeom prst="rect">
            <a:avLst/>
          </a:prstGeom>
          <a:noFill/>
          <a:ln/>
        </p:spPr>
        <p:txBody>
          <a:bodyPr wrap="square" lIns="0" tIns="0" rIns="0" bIns="0" rtlCol="0" anchor="t"/>
          <a:lstStyle/>
          <a:p>
            <a:pPr indent="0" marL="0">
              <a:buNone/>
            </a:pPr>
            <a:r>
              <a:rPr lang="en-US" sz="1500" b="1" dirty="0">
                <a:solidFill>
                  <a:srgbClr val="12203A"/>
                </a:solidFill>
                <a:latin typeface="Cambria" pitchFamily="34" charset="0"/>
                <a:ea typeface="Cambria" pitchFamily="34" charset="-122"/>
                <a:cs typeface="Cambria" pitchFamily="34" charset="-120"/>
              </a:rPr>
              <a:t>Certified</a:t>
            </a:r>
            <a:endParaRPr lang="en-US" sz="1500" dirty="0"/>
          </a:p>
        </p:txBody>
      </p:sp>
      <p:sp>
        <p:nvSpPr>
          <p:cNvPr id="17" name="Text 13"/>
          <p:cNvSpPr txBox="1"/>
          <p:nvPr/>
        </p:nvSpPr>
        <p:spPr>
          <a:xfrm>
            <a:off x="4514088" y="5093208"/>
            <a:ext cx="3133344" cy="563880"/>
          </a:xfrm>
          <a:prstGeom prst="rect">
            <a:avLst/>
          </a:prstGeom>
          <a:noFill/>
          <a:ln/>
        </p:spPr>
        <p:txBody>
          <a:bodyPr wrap="square" lIns="0" tIns="0" rIns="0" bIns="0" rtlCol="0" anchor="t"/>
          <a:lstStyle/>
          <a:p>
            <a:pPr indent="0" marL="0">
              <a:buNone/>
            </a:pPr>
            <a:r>
              <a:rPr lang="en-US" sz="1000" dirty="0">
                <a:solidFill>
                  <a:srgbClr val="6B6559"/>
                </a:solidFill>
                <a:latin typeface="Calibri" pitchFamily="34" charset="0"/>
                <a:ea typeface="Calibri" pitchFamily="34" charset="-122"/>
                <a:cs typeface="Calibri" pitchFamily="34" charset="-120"/>
              </a:rPr>
              <a:t>The original with its barcode and QR stamped on. This is the file the certification refers to, and the holder's own copy.</a:t>
            </a:r>
            <a:endParaRPr lang="en-US" sz="1000" dirty="0"/>
          </a:p>
        </p:txBody>
      </p:sp>
      <p:sp>
        <p:nvSpPr>
          <p:cNvPr id="18" name="Shape 14"/>
          <p:cNvSpPr/>
          <p:nvPr/>
        </p:nvSpPr>
        <p:spPr>
          <a:xfrm>
            <a:off x="8122920" y="1847088"/>
            <a:ext cx="3535680" cy="3947160"/>
          </a:xfrm>
          <a:prstGeom prst="roundRect">
            <a:avLst>
              <a:gd name="adj" fmla="val 1293"/>
            </a:avLst>
          </a:prstGeom>
          <a:solidFill>
            <a:srgbClr val="FFFFFF"/>
          </a:solidFill>
          <a:ln w="9525">
            <a:solidFill>
              <a:srgbClr val="DED8CB"/>
            </a:solidFill>
            <a:prstDash val="solid"/>
          </a:ln>
        </p:spPr>
      </p:sp>
      <p:pic>
        <p:nvPicPr>
          <p:cNvPr id="19" name="Image 2" descr="/tmp/claude-0/-home-user-gea-module-0/05c86c8b-2f1b-52ff-8f50-3243e9e36b63/scratchpad/deck_img/pdf_3_copia.png">    </p:cNvPr>
          <p:cNvPicPr>
            <a:picLocks noChangeAspect="1"/>
          </p:cNvPicPr>
          <p:nvPr/>
        </p:nvPicPr>
        <p:blipFill>
          <a:blip r:embed="rId3"/>
          <a:stretch>
            <a:fillRect/>
          </a:stretch>
        </p:blipFill>
        <p:spPr>
          <a:xfrm>
            <a:off x="8988890" y="1993392"/>
            <a:ext cx="1803741" cy="2331720"/>
          </a:xfrm>
          <a:prstGeom prst="rect">
            <a:avLst/>
          </a:prstGeom>
        </p:spPr>
      </p:pic>
      <p:sp>
        <p:nvSpPr>
          <p:cNvPr id="20" name="Shape 15"/>
          <p:cNvSpPr/>
          <p:nvPr/>
        </p:nvSpPr>
        <p:spPr>
          <a:xfrm>
            <a:off x="8324088" y="4453128"/>
            <a:ext cx="2253996" cy="237744"/>
          </a:xfrm>
          <a:prstGeom prst="roundRect">
            <a:avLst>
              <a:gd name="adj" fmla="val 15385"/>
            </a:avLst>
          </a:prstGeom>
          <a:solidFill>
            <a:srgbClr val="E4F0E9"/>
          </a:solidFill>
          <a:ln w="6350">
            <a:solidFill>
              <a:srgbClr val="E4F0E9"/>
            </a:solidFill>
            <a:prstDash val="solid"/>
          </a:ln>
        </p:spPr>
      </p:sp>
      <p:sp>
        <p:nvSpPr>
          <p:cNvPr id="21" name="Text 16"/>
          <p:cNvSpPr txBox="1"/>
          <p:nvPr/>
        </p:nvSpPr>
        <p:spPr>
          <a:xfrm>
            <a:off x="8324088" y="4453128"/>
            <a:ext cx="2253996" cy="237744"/>
          </a:xfrm>
          <a:prstGeom prst="rect">
            <a:avLst/>
          </a:prstGeom>
          <a:noFill/>
          <a:ln/>
        </p:spPr>
        <p:txBody>
          <a:bodyPr wrap="square" lIns="0" tIns="0" rIns="0" bIns="0" rtlCol="0" anchor="ctr"/>
          <a:lstStyle/>
          <a:p>
            <a:pPr algn="ctr" indent="0" marL="0">
              <a:buNone/>
            </a:pPr>
            <a:r>
              <a:rPr lang="en-US" sz="700" dirty="0">
                <a:solidFill>
                  <a:srgbClr val="1B6046"/>
                </a:solidFill>
                <a:latin typeface="Courier New" pitchFamily="34" charset="0"/>
                <a:ea typeface="Courier New" pitchFamily="34" charset="-122"/>
                <a:cs typeface="Courier New" pitchFamily="34" charset="-120"/>
              </a:rPr>
              <a:t>THIS IS THE ONE YOU SHARE</a:t>
            </a:r>
            <a:endParaRPr lang="en-US" sz="700" dirty="0"/>
          </a:p>
        </p:txBody>
      </p:sp>
      <p:sp>
        <p:nvSpPr>
          <p:cNvPr id="22" name="Text 17"/>
          <p:cNvSpPr txBox="1"/>
          <p:nvPr/>
        </p:nvSpPr>
        <p:spPr>
          <a:xfrm>
            <a:off x="8324088" y="4764024"/>
            <a:ext cx="3133344" cy="310896"/>
          </a:xfrm>
          <a:prstGeom prst="rect">
            <a:avLst/>
          </a:prstGeom>
          <a:noFill/>
          <a:ln/>
        </p:spPr>
        <p:txBody>
          <a:bodyPr wrap="square" lIns="0" tIns="0" rIns="0" bIns="0" rtlCol="0" anchor="t"/>
          <a:lstStyle/>
          <a:p>
            <a:pPr indent="0" marL="0">
              <a:buNone/>
            </a:pPr>
            <a:r>
              <a:rPr lang="en-US" sz="1500" b="1" dirty="0">
                <a:solidFill>
                  <a:srgbClr val="12203A"/>
                </a:solidFill>
                <a:latin typeface="Cambria" pitchFamily="34" charset="0"/>
                <a:ea typeface="Cambria" pitchFamily="34" charset="-122"/>
                <a:cs typeface="Cambria" pitchFamily="34" charset="-120"/>
              </a:rPr>
              <a:t>Distributable copy</a:t>
            </a:r>
            <a:endParaRPr lang="en-US" sz="1500" dirty="0"/>
          </a:p>
        </p:txBody>
      </p:sp>
      <p:sp>
        <p:nvSpPr>
          <p:cNvPr id="23" name="Text 18"/>
          <p:cNvSpPr txBox="1"/>
          <p:nvPr/>
        </p:nvSpPr>
        <p:spPr>
          <a:xfrm>
            <a:off x="8324088" y="5093208"/>
            <a:ext cx="3133344" cy="563880"/>
          </a:xfrm>
          <a:prstGeom prst="rect">
            <a:avLst/>
          </a:prstGeom>
          <a:noFill/>
          <a:ln/>
        </p:spPr>
        <p:txBody>
          <a:bodyPr wrap="square" lIns="0" tIns="0" rIns="0" bIns="0" rtlCol="0" anchor="t"/>
          <a:lstStyle/>
          <a:p>
            <a:pPr indent="0" marL="0">
              <a:buNone/>
            </a:pPr>
            <a:r>
              <a:rPr lang="en-US" sz="1000" dirty="0">
                <a:solidFill>
                  <a:srgbClr val="6B6559"/>
                </a:solidFill>
                <a:latin typeface="Calibri" pitchFamily="34" charset="0"/>
                <a:ea typeface="Calibri" pitchFamily="34" charset="-122"/>
                <a:cs typeface="Calibri" pitchFamily="34" charset="-120"/>
              </a:rPr>
              <a:t>Identical to look at, carrying an invisible watermark that lets it be recognised as a copy issued here even if it is renamed on the way.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84048"/>
            <a:ext cx="1051560" cy="548640"/>
          </a:xfrm>
          <a:prstGeom prst="rect">
            <a:avLst/>
          </a:prstGeom>
          <a:noFill/>
          <a:ln/>
        </p:spPr>
        <p:txBody>
          <a:bodyPr wrap="square" lIns="0" tIns="0" rIns="0" bIns="0" rtlCol="0" anchor="t"/>
          <a:lstStyle/>
          <a:p>
            <a:pPr indent="0" marL="0">
              <a:buNone/>
            </a:pPr>
            <a:r>
              <a:rPr lang="en-US" sz="800" spc="140" kern="0" dirty="0">
                <a:solidFill>
                  <a:srgbClr val="6B6559"/>
                </a:solidFill>
                <a:latin typeface="Courier New" pitchFamily="34" charset="0"/>
                <a:ea typeface="Courier New" pitchFamily="34" charset="-122"/>
                <a:cs typeface="Courier New" pitchFamily="34" charset="-120"/>
              </a:rPr>
              <a:t>BEFORE YOU START</a:t>
            </a:r>
            <a:endParaRPr lang="en-US" sz="800" dirty="0"/>
          </a:p>
        </p:txBody>
      </p:sp>
      <p:sp>
        <p:nvSpPr>
          <p:cNvPr id="3" name="Text 1"/>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The PDF you receive</a:t>
            </a:r>
            <a:endParaRPr lang="en-US" sz="2600" dirty="0"/>
          </a:p>
        </p:txBody>
      </p:sp>
      <p:sp>
        <p:nvSpPr>
          <p:cNvPr id="4" name="Text 2"/>
          <p:cNvSpPr txBox="1"/>
          <p:nvPr/>
        </p:nvSpPr>
        <p:spPr>
          <a:xfrm>
            <a:off x="1645920" y="841248"/>
            <a:ext cx="10012680" cy="274320"/>
          </a:xfrm>
          <a:prstGeom prst="rect">
            <a:avLst/>
          </a:prstGeom>
          <a:noFill/>
          <a:ln/>
        </p:spPr>
        <p:txBody>
          <a:bodyPr wrap="square" lIns="0" tIns="0" rIns="0" bIns="0" rtlCol="0" anchor="t"/>
          <a:lstStyle/>
          <a:p>
            <a:pPr indent="0" marL="0">
              <a:buNone/>
            </a:pPr>
            <a:r>
              <a:rPr lang="en-US" sz="1200" dirty="0">
                <a:solidFill>
                  <a:srgbClr val="6B6559"/>
                </a:solidFill>
                <a:latin typeface="Calibri" pitchFamily="34" charset="0"/>
                <a:ea typeface="Calibri" pitchFamily="34" charset="-122"/>
                <a:cs typeface="Calibri" pitchFamily="34" charset="-120"/>
              </a:rPr>
              <a:t>With both codes stamped on. This is the holder's own copy.</a:t>
            </a:r>
            <a:endParaRPr lang="en-US" sz="1200" dirty="0"/>
          </a:p>
        </p:txBody>
      </p:sp>
      <p:pic>
        <p:nvPicPr>
          <p:cNvPr id="5" name="Image 0" descr="/tmp/claude-0/-home-user-gea-module-0/05c86c8b-2f1b-52ff-8f50-3243e9e36b63/scratchpad/deck_img/pdf_2_certificado.png">    </p:cNvPr>
          <p:cNvPicPr>
            <a:picLocks noChangeAspect="1"/>
          </p:cNvPicPr>
          <p:nvPr/>
        </p:nvPicPr>
        <p:blipFill>
          <a:blip r:embed="rId1"/>
          <a:stretch>
            <a:fillRect/>
          </a:stretch>
        </p:blipFill>
        <p:spPr>
          <a:xfrm>
            <a:off x="502920" y="1280160"/>
            <a:ext cx="3741878" cy="4837176"/>
          </a:xfrm>
          <a:prstGeom prst="rect">
            <a:avLst/>
          </a:prstGeom>
        </p:spPr>
      </p:pic>
      <p:sp>
        <p:nvSpPr>
          <p:cNvPr id="6" name="Shape 3"/>
          <p:cNvSpPr/>
          <p:nvPr/>
        </p:nvSpPr>
        <p:spPr>
          <a:xfrm>
            <a:off x="502920" y="1280160"/>
            <a:ext cx="3741878" cy="4837176"/>
          </a:xfrm>
          <a:prstGeom prst="rect">
            <a:avLst/>
          </a:prstGeom>
          <a:ln w="9525">
            <a:solidFill>
              <a:srgbClr val="DED8CB"/>
            </a:solidFill>
            <a:prstDash val="solid"/>
          </a:ln>
        </p:spPr>
      </p:sp>
      <p:sp>
        <p:nvSpPr>
          <p:cNvPr id="7" name="Shape 4"/>
          <p:cNvSpPr/>
          <p:nvPr/>
        </p:nvSpPr>
        <p:spPr>
          <a:xfrm>
            <a:off x="1741107" y="5654902"/>
            <a:ext cx="1318638" cy="237022"/>
          </a:xfrm>
          <a:prstGeom prst="roundRect">
            <a:avLst>
              <a:gd name="adj" fmla="val 11574"/>
            </a:avLst>
          </a:prstGeom>
          <a:ln w="19050">
            <a:solidFill>
              <a:srgbClr val="9C7222"/>
            </a:solidFill>
            <a:prstDash val="solid"/>
          </a:ln>
        </p:spPr>
      </p:sp>
      <p:sp>
        <p:nvSpPr>
          <p:cNvPr id="8" name="Shape 5"/>
          <p:cNvSpPr/>
          <p:nvPr/>
        </p:nvSpPr>
        <p:spPr>
          <a:xfrm>
            <a:off x="1622235" y="5536030"/>
            <a:ext cx="237744" cy="237744"/>
          </a:xfrm>
          <a:prstGeom prst="ellipse">
            <a:avLst/>
          </a:prstGeom>
          <a:solidFill>
            <a:srgbClr val="9C7222"/>
          </a:solidFill>
          <a:ln w="12700">
            <a:solidFill>
              <a:srgbClr val="FFFFFF"/>
            </a:solidFill>
            <a:prstDash val="solid"/>
          </a:ln>
        </p:spPr>
      </p:sp>
      <p:sp>
        <p:nvSpPr>
          <p:cNvPr id="9" name="Text 6"/>
          <p:cNvSpPr txBox="1"/>
          <p:nvPr/>
        </p:nvSpPr>
        <p:spPr>
          <a:xfrm>
            <a:off x="1622235" y="553603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1</a:t>
            </a:r>
            <a:endParaRPr lang="en-US" sz="900" dirty="0"/>
          </a:p>
        </p:txBody>
      </p:sp>
      <p:sp>
        <p:nvSpPr>
          <p:cNvPr id="10" name="Shape 7"/>
          <p:cNvSpPr/>
          <p:nvPr/>
        </p:nvSpPr>
        <p:spPr>
          <a:xfrm>
            <a:off x="3551054" y="5404820"/>
            <a:ext cx="486070" cy="487104"/>
          </a:xfrm>
          <a:prstGeom prst="roundRect">
            <a:avLst>
              <a:gd name="adj" fmla="val 5644"/>
            </a:avLst>
          </a:prstGeom>
          <a:ln w="19050">
            <a:solidFill>
              <a:srgbClr val="9C7222"/>
            </a:solidFill>
            <a:prstDash val="solid"/>
          </a:ln>
        </p:spPr>
      </p:sp>
      <p:sp>
        <p:nvSpPr>
          <p:cNvPr id="11" name="Shape 8"/>
          <p:cNvSpPr/>
          <p:nvPr/>
        </p:nvSpPr>
        <p:spPr>
          <a:xfrm>
            <a:off x="3432182" y="5285948"/>
            <a:ext cx="237744" cy="237744"/>
          </a:xfrm>
          <a:prstGeom prst="ellipse">
            <a:avLst/>
          </a:prstGeom>
          <a:solidFill>
            <a:srgbClr val="9C7222"/>
          </a:solidFill>
          <a:ln w="12700">
            <a:solidFill>
              <a:srgbClr val="FFFFFF"/>
            </a:solidFill>
            <a:prstDash val="solid"/>
          </a:ln>
        </p:spPr>
      </p:sp>
      <p:sp>
        <p:nvSpPr>
          <p:cNvPr id="12" name="Text 9"/>
          <p:cNvSpPr txBox="1"/>
          <p:nvPr/>
        </p:nvSpPr>
        <p:spPr>
          <a:xfrm>
            <a:off x="3432182" y="528594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2</a:t>
            </a:r>
            <a:endParaRPr lang="en-US" sz="900" dirty="0"/>
          </a:p>
        </p:txBody>
      </p:sp>
      <p:sp>
        <p:nvSpPr>
          <p:cNvPr id="13" name="Shape 10"/>
          <p:cNvSpPr/>
          <p:nvPr/>
        </p:nvSpPr>
        <p:spPr>
          <a:xfrm>
            <a:off x="7680960" y="1307592"/>
            <a:ext cx="219456" cy="219456"/>
          </a:xfrm>
          <a:prstGeom prst="ellipse">
            <a:avLst/>
          </a:prstGeom>
          <a:ln w="12700">
            <a:solidFill>
              <a:srgbClr val="9C7222"/>
            </a:solidFill>
            <a:prstDash val="solid"/>
          </a:ln>
        </p:spPr>
      </p:sp>
      <p:sp>
        <p:nvSpPr>
          <p:cNvPr id="14" name="Text 11"/>
          <p:cNvSpPr txBox="1"/>
          <p:nvPr/>
        </p:nvSpPr>
        <p:spPr>
          <a:xfrm>
            <a:off x="7680960" y="1307592"/>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1</a:t>
            </a:r>
            <a:endParaRPr lang="en-US" sz="850" dirty="0"/>
          </a:p>
        </p:txBody>
      </p:sp>
      <p:sp>
        <p:nvSpPr>
          <p:cNvPr id="15" name="Text 12"/>
          <p:cNvSpPr txBox="1"/>
          <p:nvPr/>
        </p:nvSpPr>
        <p:spPr>
          <a:xfrm>
            <a:off x="7991856" y="1280160"/>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The certification code, printed. </a:t>
            </a:r>
            <a:pPr indent="0" marL="0">
              <a:buNone/>
            </a:pPr>
            <a:r>
              <a:rPr lang="en-US" sz="1050" dirty="0">
                <a:solidFill>
                  <a:srgbClr val="6B6559"/>
                </a:solidFill>
                <a:latin typeface="Calibri" pitchFamily="34" charset="0"/>
                <a:ea typeface="Calibri" pitchFamily="34" charset="-122"/>
                <a:cs typeface="Calibri" pitchFamily="34" charset="-120"/>
              </a:rPr>
              <a:t>Readable by a barcode scanner. It is the same text the result screen shows.</a:t>
            </a:r>
            <a:endParaRPr lang="en-US" sz="1050" dirty="0"/>
          </a:p>
        </p:txBody>
      </p:sp>
      <p:sp>
        <p:nvSpPr>
          <p:cNvPr id="16" name="Shape 13"/>
          <p:cNvSpPr/>
          <p:nvPr/>
        </p:nvSpPr>
        <p:spPr>
          <a:xfrm>
            <a:off x="7680960" y="2068830"/>
            <a:ext cx="219456" cy="219456"/>
          </a:xfrm>
          <a:prstGeom prst="ellipse">
            <a:avLst/>
          </a:prstGeom>
          <a:ln w="12700">
            <a:solidFill>
              <a:srgbClr val="9C7222"/>
            </a:solidFill>
            <a:prstDash val="solid"/>
          </a:ln>
        </p:spPr>
      </p:sp>
      <p:sp>
        <p:nvSpPr>
          <p:cNvPr id="17" name="Text 14"/>
          <p:cNvSpPr txBox="1"/>
          <p:nvPr/>
        </p:nvSpPr>
        <p:spPr>
          <a:xfrm>
            <a:off x="7680960" y="2068830"/>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2</a:t>
            </a:r>
            <a:endParaRPr lang="en-US" sz="850" dirty="0"/>
          </a:p>
        </p:txBody>
      </p:sp>
      <p:sp>
        <p:nvSpPr>
          <p:cNvPr id="18" name="Text 15"/>
          <p:cNvSpPr txBox="1"/>
          <p:nvPr/>
        </p:nvSpPr>
        <p:spPr>
          <a:xfrm>
            <a:off x="7991856" y="2041398"/>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The QR. </a:t>
            </a:r>
            <a:pPr indent="0" marL="0">
              <a:buNone/>
            </a:pPr>
            <a:r>
              <a:rPr lang="en-US" sz="1050" dirty="0">
                <a:solidFill>
                  <a:srgbClr val="6B6559"/>
                </a:solidFill>
                <a:latin typeface="Calibri" pitchFamily="34" charset="0"/>
                <a:ea typeface="Calibri" pitchFamily="34" charset="-122"/>
                <a:cs typeface="Calibri" pitchFamily="34" charset="-120"/>
              </a:rPr>
              <a:t>It carries the address of this document's verification page, built on the firm's canonical domain and not on whichever machine did the certifying.</a:t>
            </a:r>
            <a:endParaRPr lang="en-US" sz="1050" dirty="0"/>
          </a:p>
        </p:txBody>
      </p:sp>
      <p:sp>
        <p:nvSpPr>
          <p:cNvPr id="19" name="Text 16"/>
          <p:cNvSpPr txBox="1"/>
          <p:nvPr/>
        </p:nvSpPr>
        <p:spPr>
          <a:xfrm>
            <a:off x="502920" y="6190488"/>
            <a:ext cx="3741878" cy="219456"/>
          </a:xfrm>
          <a:prstGeom prst="rect">
            <a:avLst/>
          </a:prstGeom>
          <a:noFill/>
          <a:ln/>
        </p:spPr>
        <p:txBody>
          <a:bodyPr wrap="square" lIns="0" tIns="0" rIns="0" bIns="0" rtlCol="0" anchor="t"/>
          <a:lstStyle/>
          <a:p>
            <a:pPr indent="0" marL="0">
              <a:buNone/>
            </a:pPr>
            <a:r>
              <a:rPr lang="en-US" sz="800" dirty="0">
                <a:solidFill>
                  <a:srgbClr val="6B6559"/>
                </a:solidFill>
                <a:latin typeface="Courier New" pitchFamily="34" charset="0"/>
                <a:ea typeface="Courier New" pitchFamily="34" charset="-122"/>
                <a:cs typeface="Courier New" pitchFamily="34" charset="-120"/>
              </a:rPr>
              <a:t>The certified PDF, as it is received</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10896"/>
            <a:ext cx="640080" cy="566928"/>
          </a:xfrm>
          <a:prstGeom prst="rect">
            <a:avLst/>
          </a:prstGeom>
          <a:noFill/>
          <a:ln/>
        </p:spPr>
        <p:txBody>
          <a:bodyPr wrap="square" lIns="0" tIns="0" rIns="0" bIns="0" rtlCol="0" anchor="t"/>
          <a:lstStyle/>
          <a:p>
            <a:pPr algn="l" indent="0" marL="0">
              <a:buNone/>
            </a:pPr>
            <a:r>
              <a:rPr lang="en-US" sz="4000" dirty="0">
                <a:solidFill>
                  <a:srgbClr val="9C7222"/>
                </a:solidFill>
                <a:latin typeface="Cambria" pitchFamily="34" charset="0"/>
                <a:ea typeface="Cambria" pitchFamily="34" charset="-122"/>
                <a:cs typeface="Cambria" pitchFamily="34" charset="-120"/>
              </a:rPr>
              <a:t>1</a:t>
            </a:r>
            <a:endParaRPr lang="en-US" sz="4000" dirty="0"/>
          </a:p>
        </p:txBody>
      </p:sp>
      <p:sp>
        <p:nvSpPr>
          <p:cNvPr id="3" name="Text 1"/>
          <p:cNvSpPr txBox="1"/>
          <p:nvPr/>
        </p:nvSpPr>
        <p:spPr>
          <a:xfrm>
            <a:off x="502920" y="859536"/>
            <a:ext cx="822960" cy="219456"/>
          </a:xfrm>
          <a:prstGeom prst="rect">
            <a:avLst/>
          </a:prstGeom>
          <a:noFill/>
          <a:ln/>
        </p:spPr>
        <p:txBody>
          <a:bodyPr wrap="square" lIns="0" tIns="0" rIns="0" bIns="0" rtlCol="0" anchor="ctr"/>
          <a:lstStyle/>
          <a:p>
            <a:pPr indent="0" marL="0">
              <a:buNone/>
            </a:pPr>
            <a:r>
              <a:rPr lang="en-US" sz="800" spc="140" kern="0" dirty="0">
                <a:solidFill>
                  <a:srgbClr val="6B6559"/>
                </a:solidFill>
                <a:latin typeface="Courier New" pitchFamily="34" charset="0"/>
                <a:ea typeface="Courier New" pitchFamily="34" charset="-122"/>
                <a:cs typeface="Courier New" pitchFamily="34" charset="-120"/>
              </a:rPr>
              <a:t>STEP</a:t>
            </a:r>
            <a:endParaRPr lang="en-US" sz="800" dirty="0"/>
          </a:p>
        </p:txBody>
      </p:sp>
      <p:sp>
        <p:nvSpPr>
          <p:cNvPr id="4" name="Text 2"/>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You go in through the firm's own site</a:t>
            </a:r>
            <a:endParaRPr lang="en-US" sz="2600" dirty="0"/>
          </a:p>
        </p:txBody>
      </p:sp>
      <p:sp>
        <p:nvSpPr>
          <p:cNvPr id="5" name="Text 3"/>
          <p:cNvSpPr txBox="1"/>
          <p:nvPr/>
        </p:nvSpPr>
        <p:spPr>
          <a:xfrm>
            <a:off x="1645920" y="841248"/>
            <a:ext cx="10012680" cy="274320"/>
          </a:xfrm>
          <a:prstGeom prst="rect">
            <a:avLst/>
          </a:prstGeom>
          <a:noFill/>
          <a:ln/>
        </p:spPr>
        <p:txBody>
          <a:bodyPr wrap="square" lIns="0" tIns="0" rIns="0" bIns="0" rtlCol="0" anchor="t"/>
          <a:lstStyle/>
          <a:p>
            <a:pPr indent="0" marL="0">
              <a:buNone/>
            </a:pPr>
            <a:r>
              <a:rPr lang="en-US" sz="1200" dirty="0">
                <a:solidFill>
                  <a:srgbClr val="6B6559"/>
                </a:solidFill>
                <a:latin typeface="Calibri" pitchFamily="34" charset="0"/>
                <a:ea typeface="Calibri" pitchFamily="34" charset="-122"/>
                <a:cs typeface="Calibri" pitchFamily="34" charset="-120"/>
              </a:rPr>
              <a:t>Not through a link that arrives by email. The right door is one you type.</a:t>
            </a:r>
            <a:endParaRPr lang="en-US" sz="1200" dirty="0"/>
          </a:p>
        </p:txBody>
      </p:sp>
      <p:sp>
        <p:nvSpPr>
          <p:cNvPr id="6" name="Text 4"/>
          <p:cNvSpPr txBox="1"/>
          <p:nvPr/>
        </p:nvSpPr>
        <p:spPr>
          <a:xfrm>
            <a:off x="1645920" y="1280160"/>
            <a:ext cx="10012680" cy="658368"/>
          </a:xfrm>
          <a:prstGeom prst="rect">
            <a:avLst/>
          </a:prstGeom>
          <a:noFill/>
          <a:ln/>
        </p:spPr>
        <p:txBody>
          <a:bodyPr wrap="square" lIns="0" tIns="0" rIns="0" bIns="0" rtlCol="0" anchor="t"/>
          <a:lstStyle/>
          <a:p>
            <a:pPr indent="0" marL="0">
              <a:buNone/>
            </a:pPr>
            <a:r>
              <a:rPr lang="en-US" sz="1250" dirty="0">
                <a:solidFill>
                  <a:srgbClr val="12203A"/>
                </a:solidFill>
                <a:latin typeface="Calibri" pitchFamily="34" charset="0"/>
                <a:ea typeface="Calibri" pitchFamily="34" charset="-122"/>
                <a:cs typeface="Calibri" pitchFamily="34" charset="-120"/>
              </a:rPr>
              <a:t>At propensionesabogados.com, open Platforms in the top menu and choose Certification. That link leads to the verification portal.</a:t>
            </a:r>
            <a:endParaRPr lang="en-US" sz="1250" dirty="0"/>
          </a:p>
        </p:txBody>
      </p:sp>
      <p:sp>
        <p:nvSpPr>
          <p:cNvPr id="7" name="Shape 5"/>
          <p:cNvSpPr/>
          <p:nvPr/>
        </p:nvSpPr>
        <p:spPr>
          <a:xfrm>
            <a:off x="1645920" y="2711958"/>
            <a:ext cx="2110435" cy="457200"/>
          </a:xfrm>
          <a:prstGeom prst="roundRect">
            <a:avLst>
              <a:gd name="adj" fmla="val 10000"/>
            </a:avLst>
          </a:prstGeom>
          <a:solidFill>
            <a:srgbClr val="FFFFFF"/>
          </a:solidFill>
          <a:ln w="12700">
            <a:solidFill>
              <a:srgbClr val="DED8CB"/>
            </a:solidFill>
            <a:prstDash val="solid"/>
          </a:ln>
        </p:spPr>
      </p:sp>
      <p:sp>
        <p:nvSpPr>
          <p:cNvPr id="8" name="Text 6"/>
          <p:cNvSpPr txBox="1"/>
          <p:nvPr/>
        </p:nvSpPr>
        <p:spPr>
          <a:xfrm>
            <a:off x="1645920" y="2711958"/>
            <a:ext cx="2110435" cy="457200"/>
          </a:xfrm>
          <a:prstGeom prst="rect">
            <a:avLst/>
          </a:prstGeom>
          <a:noFill/>
          <a:ln/>
        </p:spPr>
        <p:txBody>
          <a:bodyPr wrap="square" lIns="0" tIns="0" rIns="0" bIns="0" rtlCol="0" anchor="ctr"/>
          <a:lstStyle/>
          <a:p>
            <a:pPr algn="ctr" indent="0" marL="0">
              <a:buNone/>
            </a:pPr>
            <a:r>
              <a:rPr lang="en-US" sz="900" dirty="0">
                <a:solidFill>
                  <a:srgbClr val="12203A"/>
                </a:solidFill>
                <a:latin typeface="Courier New" pitchFamily="34" charset="0"/>
                <a:ea typeface="Courier New" pitchFamily="34" charset="-122"/>
                <a:cs typeface="Courier New" pitchFamily="34" charset="-120"/>
              </a:rPr>
              <a:t>propensionesabogados.com</a:t>
            </a:r>
            <a:endParaRPr lang="en-US" sz="900" dirty="0"/>
          </a:p>
        </p:txBody>
      </p:sp>
      <p:sp>
        <p:nvSpPr>
          <p:cNvPr id="9" name="Text 7"/>
          <p:cNvSpPr txBox="1"/>
          <p:nvPr/>
        </p:nvSpPr>
        <p:spPr>
          <a:xfrm>
            <a:off x="3756355" y="2711958"/>
            <a:ext cx="274320" cy="457200"/>
          </a:xfrm>
          <a:prstGeom prst="rect">
            <a:avLst/>
          </a:prstGeom>
          <a:noFill/>
          <a:ln/>
        </p:spPr>
        <p:txBody>
          <a:bodyPr wrap="square" lIns="0" tIns="0" rIns="0" bIns="0" rtlCol="0" anchor="ctr"/>
          <a:lstStyle/>
          <a:p>
            <a:pPr algn="ctr" indent="0" marL="0">
              <a:buNone/>
            </a:pPr>
            <a:r>
              <a:rPr lang="en-US" sz="1300" dirty="0">
                <a:solidFill>
                  <a:srgbClr val="6B6559"/>
                </a:solidFill>
                <a:latin typeface="Calibri" pitchFamily="34" charset="0"/>
                <a:ea typeface="Calibri" pitchFamily="34" charset="-122"/>
                <a:cs typeface="Calibri" pitchFamily="34" charset="-120"/>
              </a:rPr>
              <a:t>→</a:t>
            </a:r>
            <a:endParaRPr lang="en-US" sz="1300" dirty="0"/>
          </a:p>
        </p:txBody>
      </p:sp>
      <p:sp>
        <p:nvSpPr>
          <p:cNvPr id="10" name="Shape 8"/>
          <p:cNvSpPr/>
          <p:nvPr/>
        </p:nvSpPr>
        <p:spPr>
          <a:xfrm>
            <a:off x="4030675" y="2711958"/>
            <a:ext cx="985723" cy="457200"/>
          </a:xfrm>
          <a:prstGeom prst="roundRect">
            <a:avLst>
              <a:gd name="adj" fmla="val 10000"/>
            </a:avLst>
          </a:prstGeom>
          <a:solidFill>
            <a:srgbClr val="FFFFFF"/>
          </a:solidFill>
          <a:ln w="12700">
            <a:solidFill>
              <a:srgbClr val="DED8CB"/>
            </a:solidFill>
            <a:prstDash val="solid"/>
          </a:ln>
        </p:spPr>
      </p:sp>
      <p:sp>
        <p:nvSpPr>
          <p:cNvPr id="11" name="Text 9"/>
          <p:cNvSpPr txBox="1"/>
          <p:nvPr/>
        </p:nvSpPr>
        <p:spPr>
          <a:xfrm>
            <a:off x="4030675" y="2711958"/>
            <a:ext cx="985723" cy="457200"/>
          </a:xfrm>
          <a:prstGeom prst="rect">
            <a:avLst/>
          </a:prstGeom>
          <a:noFill/>
          <a:ln/>
        </p:spPr>
        <p:txBody>
          <a:bodyPr wrap="square" lIns="0" tIns="0" rIns="0" bIns="0" rtlCol="0" anchor="ctr"/>
          <a:lstStyle/>
          <a:p>
            <a:pPr algn="ctr" indent="0" marL="0">
              <a:buNone/>
            </a:pPr>
            <a:r>
              <a:rPr lang="en-US" sz="900" dirty="0">
                <a:solidFill>
                  <a:srgbClr val="12203A"/>
                </a:solidFill>
                <a:latin typeface="Courier New" pitchFamily="34" charset="0"/>
                <a:ea typeface="Courier New" pitchFamily="34" charset="-122"/>
                <a:cs typeface="Courier New" pitchFamily="34" charset="-120"/>
              </a:rPr>
              <a:t>Platforms</a:t>
            </a:r>
            <a:endParaRPr lang="en-US" sz="900" dirty="0"/>
          </a:p>
        </p:txBody>
      </p:sp>
      <p:sp>
        <p:nvSpPr>
          <p:cNvPr id="12" name="Text 10"/>
          <p:cNvSpPr txBox="1"/>
          <p:nvPr/>
        </p:nvSpPr>
        <p:spPr>
          <a:xfrm>
            <a:off x="5016398" y="2711958"/>
            <a:ext cx="274320" cy="457200"/>
          </a:xfrm>
          <a:prstGeom prst="rect">
            <a:avLst/>
          </a:prstGeom>
          <a:noFill/>
          <a:ln/>
        </p:spPr>
        <p:txBody>
          <a:bodyPr wrap="square" lIns="0" tIns="0" rIns="0" bIns="0" rtlCol="0" anchor="ctr"/>
          <a:lstStyle/>
          <a:p>
            <a:pPr algn="ctr" indent="0" marL="0">
              <a:buNone/>
            </a:pPr>
            <a:r>
              <a:rPr lang="en-US" sz="1300" dirty="0">
                <a:solidFill>
                  <a:srgbClr val="6B6559"/>
                </a:solidFill>
                <a:latin typeface="Calibri" pitchFamily="34" charset="0"/>
                <a:ea typeface="Calibri" pitchFamily="34" charset="-122"/>
                <a:cs typeface="Calibri" pitchFamily="34" charset="-120"/>
              </a:rPr>
              <a:t>→</a:t>
            </a:r>
            <a:endParaRPr lang="en-US" sz="1300" dirty="0"/>
          </a:p>
        </p:txBody>
      </p:sp>
      <p:sp>
        <p:nvSpPr>
          <p:cNvPr id="13" name="Shape 11"/>
          <p:cNvSpPr/>
          <p:nvPr/>
        </p:nvSpPr>
        <p:spPr>
          <a:xfrm>
            <a:off x="5290718" y="2711958"/>
            <a:ext cx="1285646" cy="457200"/>
          </a:xfrm>
          <a:prstGeom prst="roundRect">
            <a:avLst>
              <a:gd name="adj" fmla="val 10000"/>
            </a:avLst>
          </a:prstGeom>
          <a:solidFill>
            <a:srgbClr val="FFFFFF"/>
          </a:solidFill>
          <a:ln w="12700">
            <a:solidFill>
              <a:srgbClr val="9C7222"/>
            </a:solidFill>
            <a:prstDash val="solid"/>
          </a:ln>
        </p:spPr>
      </p:sp>
      <p:sp>
        <p:nvSpPr>
          <p:cNvPr id="14" name="Text 12"/>
          <p:cNvSpPr txBox="1"/>
          <p:nvPr/>
        </p:nvSpPr>
        <p:spPr>
          <a:xfrm>
            <a:off x="5290718" y="2711958"/>
            <a:ext cx="1285646" cy="457200"/>
          </a:xfrm>
          <a:prstGeom prst="rect">
            <a:avLst/>
          </a:prstGeom>
          <a:noFill/>
          <a:ln/>
        </p:spPr>
        <p:txBody>
          <a:bodyPr wrap="square" lIns="0" tIns="0" rIns="0" bIns="0" rtlCol="0" anchor="ctr"/>
          <a:lstStyle/>
          <a:p>
            <a:pPr algn="ctr" indent="0" marL="0">
              <a:buNone/>
            </a:pPr>
            <a:r>
              <a:rPr lang="en-US" sz="900" dirty="0">
                <a:solidFill>
                  <a:srgbClr val="9C7222"/>
                </a:solidFill>
                <a:latin typeface="Courier New" pitchFamily="34" charset="0"/>
                <a:ea typeface="Courier New" pitchFamily="34" charset="-122"/>
                <a:cs typeface="Courier New" pitchFamily="34" charset="-120"/>
              </a:rPr>
              <a:t>Certification</a:t>
            </a:r>
            <a:endParaRPr lang="en-US" sz="900" dirty="0"/>
          </a:p>
        </p:txBody>
      </p:sp>
      <p:sp>
        <p:nvSpPr>
          <p:cNvPr id="15" name="Text 13"/>
          <p:cNvSpPr txBox="1"/>
          <p:nvPr/>
        </p:nvSpPr>
        <p:spPr>
          <a:xfrm>
            <a:off x="6576365" y="2711958"/>
            <a:ext cx="274320" cy="457200"/>
          </a:xfrm>
          <a:prstGeom prst="rect">
            <a:avLst/>
          </a:prstGeom>
          <a:noFill/>
          <a:ln/>
        </p:spPr>
        <p:txBody>
          <a:bodyPr wrap="square" lIns="0" tIns="0" rIns="0" bIns="0" rtlCol="0" anchor="ctr"/>
          <a:lstStyle/>
          <a:p>
            <a:pPr algn="ctr" indent="0" marL="0">
              <a:buNone/>
            </a:pPr>
            <a:r>
              <a:rPr lang="en-US" sz="1300" dirty="0">
                <a:solidFill>
                  <a:srgbClr val="6B6559"/>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6850685" y="2711958"/>
            <a:ext cx="3685032" cy="457200"/>
          </a:xfrm>
          <a:prstGeom prst="roundRect">
            <a:avLst>
              <a:gd name="adj" fmla="val 10000"/>
            </a:avLst>
          </a:prstGeom>
          <a:solidFill>
            <a:srgbClr val="FFFFFF"/>
          </a:solidFill>
          <a:ln w="12700">
            <a:solidFill>
              <a:srgbClr val="9C7222"/>
            </a:solidFill>
            <a:prstDash val="solid"/>
          </a:ln>
        </p:spPr>
      </p:sp>
      <p:sp>
        <p:nvSpPr>
          <p:cNvPr id="17" name="Text 15"/>
          <p:cNvSpPr txBox="1"/>
          <p:nvPr/>
        </p:nvSpPr>
        <p:spPr>
          <a:xfrm>
            <a:off x="6850685" y="2711958"/>
            <a:ext cx="3685032" cy="457200"/>
          </a:xfrm>
          <a:prstGeom prst="rect">
            <a:avLst/>
          </a:prstGeom>
          <a:noFill/>
          <a:ln/>
        </p:spPr>
        <p:txBody>
          <a:bodyPr wrap="square" lIns="0" tIns="0" rIns="0" bIns="0" rtlCol="0" anchor="ctr"/>
          <a:lstStyle/>
          <a:p>
            <a:pPr algn="ctr" indent="0" marL="0">
              <a:buNone/>
            </a:pPr>
            <a:r>
              <a:rPr lang="en-US" sz="900" dirty="0">
                <a:solidFill>
                  <a:srgbClr val="9C7222"/>
                </a:solidFill>
                <a:latin typeface="Courier New" pitchFamily="34" charset="0"/>
                <a:ea typeface="Courier New" pitchFamily="34" charset="-122"/>
                <a:cs typeface="Courier New" pitchFamily="34" charset="-120"/>
              </a:rPr>
              <a:t>geausa.propensionesabogados.com/certificates/</a:t>
            </a:r>
            <a:endParaRPr lang="en-US" sz="900" dirty="0"/>
          </a:p>
        </p:txBody>
      </p:sp>
      <p:sp>
        <p:nvSpPr>
          <p:cNvPr id="18" name="Shape 16"/>
          <p:cNvSpPr/>
          <p:nvPr/>
        </p:nvSpPr>
        <p:spPr>
          <a:xfrm>
            <a:off x="1645920" y="3672078"/>
            <a:ext cx="10012680" cy="976884"/>
          </a:xfrm>
          <a:prstGeom prst="roundRect">
            <a:avLst>
              <a:gd name="adj" fmla="val 4680"/>
            </a:avLst>
          </a:prstGeom>
          <a:solidFill>
            <a:srgbClr val="FFFFFF"/>
          </a:solidFill>
          <a:ln w="12700">
            <a:solidFill>
              <a:srgbClr val="9C7222"/>
            </a:solidFill>
            <a:prstDash val="solid"/>
          </a:ln>
        </p:spPr>
      </p:sp>
      <p:sp>
        <p:nvSpPr>
          <p:cNvPr id="19" name="Text 17"/>
          <p:cNvSpPr txBox="1"/>
          <p:nvPr/>
        </p:nvSpPr>
        <p:spPr>
          <a:xfrm>
            <a:off x="1792224" y="3745230"/>
            <a:ext cx="9720072" cy="201168"/>
          </a:xfrm>
          <a:prstGeom prst="rect">
            <a:avLst/>
          </a:prstGeom>
          <a:noFill/>
          <a:ln/>
        </p:spPr>
        <p:txBody>
          <a:bodyPr wrap="square" lIns="0" tIns="0" rIns="0" bIns="0" rtlCol="0" anchor="ctr"/>
          <a:lstStyle/>
          <a:p>
            <a:pPr indent="0" marL="0">
              <a:buNone/>
            </a:pPr>
            <a:r>
              <a:rPr lang="en-US" sz="750" spc="120" kern="0" dirty="0">
                <a:solidFill>
                  <a:srgbClr val="9C7222"/>
                </a:solidFill>
                <a:latin typeface="Courier New" pitchFamily="34" charset="0"/>
                <a:ea typeface="Courier New" pitchFamily="34" charset="-122"/>
                <a:cs typeface="Courier New" pitchFamily="34" charset="-120"/>
              </a:rPr>
              <a:t>WHY WE KEEP INSISTING ON THIS</a:t>
            </a:r>
            <a:endParaRPr lang="en-US" sz="750" dirty="0"/>
          </a:p>
        </p:txBody>
      </p:sp>
      <p:sp>
        <p:nvSpPr>
          <p:cNvPr id="20" name="Text 18"/>
          <p:cNvSpPr txBox="1"/>
          <p:nvPr/>
        </p:nvSpPr>
        <p:spPr>
          <a:xfrm>
            <a:off x="1792224" y="3946398"/>
            <a:ext cx="9720072" cy="629412"/>
          </a:xfrm>
          <a:prstGeom prst="rect">
            <a:avLst/>
          </a:prstGeom>
          <a:noFill/>
          <a:ln/>
        </p:spPr>
        <p:txBody>
          <a:bodyPr wrap="square" lIns="0" tIns="0" rIns="0" bIns="0" rtlCol="0" anchor="t"/>
          <a:lstStyle/>
          <a:p>
            <a:pPr indent="0" marL="0">
              <a:buNone/>
            </a:pPr>
            <a:r>
              <a:rPr lang="en-US" sz="1100" dirty="0">
                <a:solidFill>
                  <a:srgbClr val="12203A"/>
                </a:solidFill>
                <a:latin typeface="Calibri" pitchFamily="34" charset="0"/>
                <a:ea typeface="Calibri" pitchFamily="34" charset="-122"/>
                <a:cs typeface="Calibri" pitchFamily="34" charset="-120"/>
              </a:rPr>
              <a:t>Always starting from the firm's own domain is what makes an impersonation fail: whoever builds a fake page can copy how the portal looks, but cannot put it under propensionesabogados.com. If an email carries a direct link, check that the domain is exactly geausa.propensionesabogados.com before typing anything.</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10896"/>
            <a:ext cx="640080" cy="566928"/>
          </a:xfrm>
          <a:prstGeom prst="rect">
            <a:avLst/>
          </a:prstGeom>
          <a:noFill/>
          <a:ln/>
        </p:spPr>
        <p:txBody>
          <a:bodyPr wrap="square" lIns="0" tIns="0" rIns="0" bIns="0" rtlCol="0" anchor="t"/>
          <a:lstStyle/>
          <a:p>
            <a:pPr algn="l" indent="0" marL="0">
              <a:buNone/>
            </a:pPr>
            <a:r>
              <a:rPr lang="en-US" sz="4000" dirty="0">
                <a:solidFill>
                  <a:srgbClr val="9C7222"/>
                </a:solidFill>
                <a:latin typeface="Cambria" pitchFamily="34" charset="0"/>
                <a:ea typeface="Cambria" pitchFamily="34" charset="-122"/>
                <a:cs typeface="Cambria" pitchFamily="34" charset="-120"/>
              </a:rPr>
              <a:t>2</a:t>
            </a:r>
            <a:endParaRPr lang="en-US" sz="4000" dirty="0"/>
          </a:p>
        </p:txBody>
      </p:sp>
      <p:sp>
        <p:nvSpPr>
          <p:cNvPr id="3" name="Text 1"/>
          <p:cNvSpPr txBox="1"/>
          <p:nvPr/>
        </p:nvSpPr>
        <p:spPr>
          <a:xfrm>
            <a:off x="502920" y="859536"/>
            <a:ext cx="822960" cy="219456"/>
          </a:xfrm>
          <a:prstGeom prst="rect">
            <a:avLst/>
          </a:prstGeom>
          <a:noFill/>
          <a:ln/>
        </p:spPr>
        <p:txBody>
          <a:bodyPr wrap="square" lIns="0" tIns="0" rIns="0" bIns="0" rtlCol="0" anchor="ctr"/>
          <a:lstStyle/>
          <a:p>
            <a:pPr indent="0" marL="0">
              <a:buNone/>
            </a:pPr>
            <a:endParaRPr lang="en-US" sz="800" dirty="0"/>
          </a:p>
        </p:txBody>
      </p:sp>
      <p:sp>
        <p:nvSpPr>
          <p:cNvPr id="4" name="Text 2"/>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Pick a portal: documents or people</a:t>
            </a:r>
            <a:endParaRPr lang="en-US" sz="2600" dirty="0"/>
          </a:p>
        </p:txBody>
      </p:sp>
      <p:sp>
        <p:nvSpPr>
          <p:cNvPr id="5" name="Text 3"/>
          <p:cNvSpPr txBox="1"/>
          <p:nvPr/>
        </p:nvSpPr>
        <p:spPr>
          <a:xfrm>
            <a:off x="1645920" y="841248"/>
            <a:ext cx="10012680" cy="274320"/>
          </a:xfrm>
          <a:prstGeom prst="rect">
            <a:avLst/>
          </a:prstGeom>
          <a:noFill/>
          <a:ln/>
        </p:spPr>
        <p:txBody>
          <a:bodyPr wrap="square" lIns="0" tIns="0" rIns="0" bIns="0" rtlCol="0" anchor="t"/>
          <a:lstStyle/>
          <a:p>
            <a:pPr indent="0" marL="0">
              <a:buNone/>
            </a:pPr>
            <a:r>
              <a:rPr lang="en-US" sz="1200" dirty="0">
                <a:solidFill>
                  <a:srgbClr val="6B6559"/>
                </a:solidFill>
                <a:latin typeface="Calibri" pitchFamily="34" charset="0"/>
                <a:ea typeface="Calibri" pitchFamily="34" charset="-122"/>
                <a:cs typeface="Calibri" pitchFamily="34" charset="-120"/>
              </a:rPr>
              <a:t>It depends on what is in front of you: a piece of paper, or someone claiming to represent the firm.</a:t>
            </a:r>
            <a:endParaRPr lang="en-US" sz="1200" dirty="0"/>
          </a:p>
        </p:txBody>
      </p:sp>
      <p:pic>
        <p:nvPicPr>
          <p:cNvPr id="6" name="Image 0" descr="/tmp/claude-0/-home-user-gea-module-0/05c86c8b-2f1b-52ff-8f50-3243e9e36b63/scratchpad/deck_img/01_landing.png">    </p:cNvPr>
          <p:cNvPicPr>
            <a:picLocks noChangeAspect="1"/>
          </p:cNvPicPr>
          <p:nvPr/>
        </p:nvPicPr>
        <p:blipFill>
          <a:blip r:embed="rId1"/>
          <a:stretch>
            <a:fillRect/>
          </a:stretch>
        </p:blipFill>
        <p:spPr>
          <a:xfrm>
            <a:off x="502920" y="1280160"/>
            <a:ext cx="6858000" cy="3429000"/>
          </a:xfrm>
          <a:prstGeom prst="rect">
            <a:avLst/>
          </a:prstGeom>
        </p:spPr>
      </p:pic>
      <p:sp>
        <p:nvSpPr>
          <p:cNvPr id="7" name="Shape 4"/>
          <p:cNvSpPr/>
          <p:nvPr/>
        </p:nvSpPr>
        <p:spPr>
          <a:xfrm>
            <a:off x="502920" y="1280160"/>
            <a:ext cx="6858000" cy="3429000"/>
          </a:xfrm>
          <a:prstGeom prst="rect">
            <a:avLst/>
          </a:prstGeom>
          <a:ln w="9525">
            <a:solidFill>
              <a:srgbClr val="DED8CB"/>
            </a:solidFill>
            <a:prstDash val="solid"/>
          </a:ln>
        </p:spPr>
      </p:sp>
      <p:sp>
        <p:nvSpPr>
          <p:cNvPr id="8" name="Shape 5"/>
          <p:cNvSpPr/>
          <p:nvPr/>
        </p:nvSpPr>
        <p:spPr>
          <a:xfrm>
            <a:off x="1801139" y="3534042"/>
            <a:ext cx="2058086" cy="967664"/>
          </a:xfrm>
          <a:prstGeom prst="roundRect">
            <a:avLst>
              <a:gd name="adj" fmla="val 2835"/>
            </a:avLst>
          </a:prstGeom>
          <a:ln w="19050">
            <a:solidFill>
              <a:srgbClr val="9C7222"/>
            </a:solidFill>
            <a:prstDash val="solid"/>
          </a:ln>
        </p:spPr>
      </p:sp>
      <p:sp>
        <p:nvSpPr>
          <p:cNvPr id="9" name="Shape 6"/>
          <p:cNvSpPr/>
          <p:nvPr/>
        </p:nvSpPr>
        <p:spPr>
          <a:xfrm>
            <a:off x="1682267" y="3415170"/>
            <a:ext cx="237744" cy="237744"/>
          </a:xfrm>
          <a:prstGeom prst="ellipse">
            <a:avLst/>
          </a:prstGeom>
          <a:solidFill>
            <a:srgbClr val="9C7222"/>
          </a:solidFill>
          <a:ln w="12700">
            <a:solidFill>
              <a:srgbClr val="FFFFFF"/>
            </a:solidFill>
            <a:prstDash val="solid"/>
          </a:ln>
        </p:spPr>
      </p:sp>
      <p:sp>
        <p:nvSpPr>
          <p:cNvPr id="10" name="Text 7"/>
          <p:cNvSpPr txBox="1"/>
          <p:nvPr/>
        </p:nvSpPr>
        <p:spPr>
          <a:xfrm>
            <a:off x="1682267" y="341517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1</a:t>
            </a:r>
            <a:endParaRPr lang="en-US" sz="900" dirty="0"/>
          </a:p>
        </p:txBody>
      </p:sp>
      <p:sp>
        <p:nvSpPr>
          <p:cNvPr id="11" name="Shape 8"/>
          <p:cNvSpPr/>
          <p:nvPr/>
        </p:nvSpPr>
        <p:spPr>
          <a:xfrm>
            <a:off x="4004615" y="3534042"/>
            <a:ext cx="2058086" cy="967664"/>
          </a:xfrm>
          <a:prstGeom prst="roundRect">
            <a:avLst>
              <a:gd name="adj" fmla="val 2835"/>
            </a:avLst>
          </a:prstGeom>
          <a:ln w="19050">
            <a:solidFill>
              <a:srgbClr val="9C7222"/>
            </a:solidFill>
            <a:prstDash val="solid"/>
          </a:ln>
        </p:spPr>
      </p:sp>
      <p:sp>
        <p:nvSpPr>
          <p:cNvPr id="12" name="Shape 9"/>
          <p:cNvSpPr/>
          <p:nvPr/>
        </p:nvSpPr>
        <p:spPr>
          <a:xfrm>
            <a:off x="3885743" y="3415170"/>
            <a:ext cx="237744" cy="237744"/>
          </a:xfrm>
          <a:prstGeom prst="ellipse">
            <a:avLst/>
          </a:prstGeom>
          <a:solidFill>
            <a:srgbClr val="9C7222"/>
          </a:solidFill>
          <a:ln w="12700">
            <a:solidFill>
              <a:srgbClr val="FFFFFF"/>
            </a:solidFill>
            <a:prstDash val="solid"/>
          </a:ln>
        </p:spPr>
      </p:sp>
      <p:sp>
        <p:nvSpPr>
          <p:cNvPr id="13" name="Text 10"/>
          <p:cNvSpPr txBox="1"/>
          <p:nvPr/>
        </p:nvSpPr>
        <p:spPr>
          <a:xfrm>
            <a:off x="3885743" y="341517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2</a:t>
            </a:r>
            <a:endParaRPr lang="en-US" sz="900" dirty="0"/>
          </a:p>
        </p:txBody>
      </p:sp>
      <p:sp>
        <p:nvSpPr>
          <p:cNvPr id="14" name="Shape 11"/>
          <p:cNvSpPr/>
          <p:nvPr/>
        </p:nvSpPr>
        <p:spPr>
          <a:xfrm>
            <a:off x="7680960" y="1307592"/>
            <a:ext cx="219456" cy="219456"/>
          </a:xfrm>
          <a:prstGeom prst="ellipse">
            <a:avLst/>
          </a:prstGeom>
          <a:ln w="12700">
            <a:solidFill>
              <a:srgbClr val="9C7222"/>
            </a:solidFill>
            <a:prstDash val="solid"/>
          </a:ln>
        </p:spPr>
      </p:sp>
      <p:sp>
        <p:nvSpPr>
          <p:cNvPr id="15" name="Text 12"/>
          <p:cNvSpPr txBox="1"/>
          <p:nvPr/>
        </p:nvSpPr>
        <p:spPr>
          <a:xfrm>
            <a:off x="7680960" y="1307592"/>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1</a:t>
            </a:r>
            <a:endParaRPr lang="en-US" sz="850" dirty="0"/>
          </a:p>
        </p:txBody>
      </p:sp>
      <p:sp>
        <p:nvSpPr>
          <p:cNvPr id="16" name="Text 13"/>
          <p:cNvSpPr txBox="1"/>
          <p:nvPr/>
        </p:nvSpPr>
        <p:spPr>
          <a:xfrm>
            <a:off x="7991856" y="1280160"/>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AEGIS Documents Certificates </a:t>
            </a:r>
            <a:pPr indent="0" marL="0">
              <a:buNone/>
            </a:pPr>
            <a:r>
              <a:rPr lang="en-US" sz="1050" dirty="0">
                <a:solidFill>
                  <a:srgbClr val="6B6559"/>
                </a:solidFill>
                <a:latin typeface="Calibri" pitchFamily="34" charset="0"/>
                <a:ea typeface="Calibri" pitchFamily="34" charset="-122"/>
                <a:cs typeface="Calibri" pitchFamily="34" charset="-120"/>
              </a:rPr>
              <a:t>For an asset certificate, a title, or any document with a printed code and QR.</a:t>
            </a:r>
            <a:endParaRPr lang="en-US" sz="1050" dirty="0"/>
          </a:p>
        </p:txBody>
      </p:sp>
      <p:sp>
        <p:nvSpPr>
          <p:cNvPr id="17" name="Shape 14"/>
          <p:cNvSpPr/>
          <p:nvPr/>
        </p:nvSpPr>
        <p:spPr>
          <a:xfrm>
            <a:off x="7680960" y="2068830"/>
            <a:ext cx="219456" cy="219456"/>
          </a:xfrm>
          <a:prstGeom prst="ellipse">
            <a:avLst/>
          </a:prstGeom>
          <a:ln w="12700">
            <a:solidFill>
              <a:srgbClr val="9C7222"/>
            </a:solidFill>
            <a:prstDash val="solid"/>
          </a:ln>
        </p:spPr>
      </p:sp>
      <p:sp>
        <p:nvSpPr>
          <p:cNvPr id="18" name="Text 15"/>
          <p:cNvSpPr txBox="1"/>
          <p:nvPr/>
        </p:nvSpPr>
        <p:spPr>
          <a:xfrm>
            <a:off x="7680960" y="2068830"/>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2</a:t>
            </a:r>
            <a:endParaRPr lang="en-US" sz="850" dirty="0"/>
          </a:p>
        </p:txBody>
      </p:sp>
      <p:sp>
        <p:nvSpPr>
          <p:cNvPr id="19" name="Text 16"/>
          <p:cNvSpPr txBox="1"/>
          <p:nvPr/>
        </p:nvSpPr>
        <p:spPr>
          <a:xfrm>
            <a:off x="7991856" y="2041398"/>
            <a:ext cx="3666744" cy="376428"/>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IPCON Employee Certificate </a:t>
            </a:r>
            <a:pPr indent="0" marL="0">
              <a:buNone/>
            </a:pPr>
            <a:r>
              <a:rPr lang="en-US" sz="1050" dirty="0">
                <a:solidFill>
                  <a:srgbClr val="6B6559"/>
                </a:solidFill>
                <a:latin typeface="Calibri" pitchFamily="34" charset="0"/>
                <a:ea typeface="Calibri" pitchFamily="34" charset="-122"/>
                <a:cs typeface="Calibri" pitchFamily="34" charset="-120"/>
              </a:rPr>
              <a:t>To check the credential of someone who says they act on behalf of the firm.</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10896"/>
            <a:ext cx="640080" cy="566928"/>
          </a:xfrm>
          <a:prstGeom prst="rect">
            <a:avLst/>
          </a:prstGeom>
          <a:noFill/>
          <a:ln/>
        </p:spPr>
        <p:txBody>
          <a:bodyPr wrap="square" lIns="0" tIns="0" rIns="0" bIns="0" rtlCol="0" anchor="t"/>
          <a:lstStyle/>
          <a:p>
            <a:pPr algn="l" indent="0" marL="0">
              <a:buNone/>
            </a:pPr>
            <a:r>
              <a:rPr lang="en-US" sz="4000" dirty="0">
                <a:solidFill>
                  <a:srgbClr val="9C7222"/>
                </a:solidFill>
                <a:latin typeface="Cambria" pitchFamily="34" charset="0"/>
                <a:ea typeface="Cambria" pitchFamily="34" charset="-122"/>
                <a:cs typeface="Cambria" pitchFamily="34" charset="-120"/>
              </a:rPr>
              <a:t>3</a:t>
            </a:r>
            <a:endParaRPr lang="en-US" sz="4000" dirty="0"/>
          </a:p>
        </p:txBody>
      </p:sp>
      <p:sp>
        <p:nvSpPr>
          <p:cNvPr id="3" name="Text 1"/>
          <p:cNvSpPr txBox="1"/>
          <p:nvPr/>
        </p:nvSpPr>
        <p:spPr>
          <a:xfrm>
            <a:off x="502920" y="859536"/>
            <a:ext cx="822960" cy="219456"/>
          </a:xfrm>
          <a:prstGeom prst="rect">
            <a:avLst/>
          </a:prstGeom>
          <a:noFill/>
          <a:ln/>
        </p:spPr>
        <p:txBody>
          <a:bodyPr wrap="square" lIns="0" tIns="0" rIns="0" bIns="0" rtlCol="0" anchor="ctr"/>
          <a:lstStyle/>
          <a:p>
            <a:pPr indent="0" marL="0">
              <a:buNone/>
            </a:pPr>
            <a:endParaRPr lang="en-US" sz="800" dirty="0"/>
          </a:p>
        </p:txBody>
      </p:sp>
      <p:sp>
        <p:nvSpPr>
          <p:cNvPr id="4" name="Text 2"/>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A code to your email before you can look anything up</a:t>
            </a:r>
            <a:endParaRPr lang="en-US" sz="2600" dirty="0"/>
          </a:p>
        </p:txBody>
      </p:sp>
      <p:sp>
        <p:nvSpPr>
          <p:cNvPr id="5" name="Text 3"/>
          <p:cNvSpPr txBox="1"/>
          <p:nvPr/>
        </p:nvSpPr>
        <p:spPr>
          <a:xfrm>
            <a:off x="1645920" y="841248"/>
            <a:ext cx="10012680" cy="274320"/>
          </a:xfrm>
          <a:prstGeom prst="rect">
            <a:avLst/>
          </a:prstGeom>
          <a:noFill/>
          <a:ln/>
        </p:spPr>
        <p:txBody>
          <a:bodyPr wrap="square" lIns="0" tIns="0" rIns="0" bIns="0" rtlCol="0" anchor="t"/>
          <a:lstStyle/>
          <a:p>
            <a:pPr indent="0" marL="0">
              <a:buNone/>
            </a:pPr>
            <a:r>
              <a:rPr lang="en-US" sz="1200" dirty="0">
                <a:solidFill>
                  <a:srgbClr val="6B6559"/>
                </a:solidFill>
                <a:latin typeface="Calibri" pitchFamily="34" charset="0"/>
                <a:ea typeface="Calibri" pitchFamily="34" charset="-122"/>
                <a:cs typeface="Calibri" pitchFamily="34" charset="-120"/>
              </a:rPr>
              <a:t>Only on the documents portal. The people portal does not ask for one.</a:t>
            </a:r>
            <a:endParaRPr lang="en-US" sz="1200" dirty="0"/>
          </a:p>
        </p:txBody>
      </p:sp>
      <p:pic>
        <p:nvPicPr>
          <p:cNvPr id="6" name="Image 0" descr="/tmp/claude-0/-home-user-gea-module-0/05c86c8b-2f1b-52ff-8f50-3243e9e36b63/scratchpad/deck_img/02_pide_correo.png">    </p:cNvPr>
          <p:cNvPicPr>
            <a:picLocks noChangeAspect="1"/>
          </p:cNvPicPr>
          <p:nvPr/>
        </p:nvPicPr>
        <p:blipFill>
          <a:blip r:embed="rId1"/>
          <a:stretch>
            <a:fillRect/>
          </a:stretch>
        </p:blipFill>
        <p:spPr>
          <a:xfrm>
            <a:off x="502920" y="1280160"/>
            <a:ext cx="6858000" cy="3365069"/>
          </a:xfrm>
          <a:prstGeom prst="rect">
            <a:avLst/>
          </a:prstGeom>
        </p:spPr>
      </p:pic>
      <p:sp>
        <p:nvSpPr>
          <p:cNvPr id="7" name="Shape 4"/>
          <p:cNvSpPr/>
          <p:nvPr/>
        </p:nvSpPr>
        <p:spPr>
          <a:xfrm>
            <a:off x="502920" y="1280160"/>
            <a:ext cx="6858000" cy="3365069"/>
          </a:xfrm>
          <a:prstGeom prst="rect">
            <a:avLst/>
          </a:prstGeom>
          <a:ln w="9525">
            <a:solidFill>
              <a:srgbClr val="DED8CB"/>
            </a:solidFill>
            <a:prstDash val="solid"/>
          </a:ln>
        </p:spPr>
      </p:sp>
      <p:sp>
        <p:nvSpPr>
          <p:cNvPr id="8" name="Shape 5"/>
          <p:cNvSpPr/>
          <p:nvPr/>
        </p:nvSpPr>
        <p:spPr>
          <a:xfrm>
            <a:off x="2411501" y="3610807"/>
            <a:ext cx="3042209" cy="255745"/>
          </a:xfrm>
          <a:prstGeom prst="roundRect">
            <a:avLst>
              <a:gd name="adj" fmla="val 10726"/>
            </a:avLst>
          </a:prstGeom>
          <a:ln w="19050">
            <a:solidFill>
              <a:srgbClr val="9C7222"/>
            </a:solidFill>
            <a:prstDash val="solid"/>
          </a:ln>
        </p:spPr>
      </p:sp>
      <p:sp>
        <p:nvSpPr>
          <p:cNvPr id="9" name="Shape 6"/>
          <p:cNvSpPr/>
          <p:nvPr/>
        </p:nvSpPr>
        <p:spPr>
          <a:xfrm>
            <a:off x="2292629" y="3491935"/>
            <a:ext cx="237744" cy="237744"/>
          </a:xfrm>
          <a:prstGeom prst="ellipse">
            <a:avLst/>
          </a:prstGeom>
          <a:solidFill>
            <a:srgbClr val="9C7222"/>
          </a:solidFill>
          <a:ln w="12700">
            <a:solidFill>
              <a:srgbClr val="FFFFFF"/>
            </a:solidFill>
            <a:prstDash val="solid"/>
          </a:ln>
        </p:spPr>
      </p:sp>
      <p:sp>
        <p:nvSpPr>
          <p:cNvPr id="10" name="Text 7"/>
          <p:cNvSpPr txBox="1"/>
          <p:nvPr/>
        </p:nvSpPr>
        <p:spPr>
          <a:xfrm>
            <a:off x="2292629" y="3491935"/>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1</a:t>
            </a:r>
            <a:endParaRPr lang="en-US" sz="900" dirty="0"/>
          </a:p>
        </p:txBody>
      </p:sp>
      <p:sp>
        <p:nvSpPr>
          <p:cNvPr id="11" name="Shape 8"/>
          <p:cNvSpPr/>
          <p:nvPr/>
        </p:nvSpPr>
        <p:spPr>
          <a:xfrm>
            <a:off x="2411501" y="3959765"/>
            <a:ext cx="3042209" cy="255745"/>
          </a:xfrm>
          <a:prstGeom prst="roundRect">
            <a:avLst>
              <a:gd name="adj" fmla="val 10726"/>
            </a:avLst>
          </a:prstGeom>
          <a:ln w="19050">
            <a:solidFill>
              <a:srgbClr val="9C7222"/>
            </a:solidFill>
            <a:prstDash val="solid"/>
          </a:ln>
        </p:spPr>
      </p:sp>
      <p:sp>
        <p:nvSpPr>
          <p:cNvPr id="12" name="Shape 9"/>
          <p:cNvSpPr/>
          <p:nvPr/>
        </p:nvSpPr>
        <p:spPr>
          <a:xfrm>
            <a:off x="2292629" y="3840893"/>
            <a:ext cx="237744" cy="237744"/>
          </a:xfrm>
          <a:prstGeom prst="ellipse">
            <a:avLst/>
          </a:prstGeom>
          <a:solidFill>
            <a:srgbClr val="9C7222"/>
          </a:solidFill>
          <a:ln w="12700">
            <a:solidFill>
              <a:srgbClr val="FFFFFF"/>
            </a:solidFill>
            <a:prstDash val="solid"/>
          </a:ln>
        </p:spPr>
      </p:sp>
      <p:sp>
        <p:nvSpPr>
          <p:cNvPr id="13" name="Text 10"/>
          <p:cNvSpPr txBox="1"/>
          <p:nvPr/>
        </p:nvSpPr>
        <p:spPr>
          <a:xfrm>
            <a:off x="2292629" y="3840893"/>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2</a:t>
            </a:r>
            <a:endParaRPr lang="en-US" sz="900" dirty="0"/>
          </a:p>
        </p:txBody>
      </p:sp>
      <p:sp>
        <p:nvSpPr>
          <p:cNvPr id="14" name="Shape 11"/>
          <p:cNvSpPr/>
          <p:nvPr/>
        </p:nvSpPr>
        <p:spPr>
          <a:xfrm>
            <a:off x="7680960" y="1307592"/>
            <a:ext cx="219456" cy="219456"/>
          </a:xfrm>
          <a:prstGeom prst="ellipse">
            <a:avLst/>
          </a:prstGeom>
          <a:ln w="12700">
            <a:solidFill>
              <a:srgbClr val="9C7222"/>
            </a:solidFill>
            <a:prstDash val="solid"/>
          </a:ln>
        </p:spPr>
      </p:sp>
      <p:sp>
        <p:nvSpPr>
          <p:cNvPr id="15" name="Text 12"/>
          <p:cNvSpPr txBox="1"/>
          <p:nvPr/>
        </p:nvSpPr>
        <p:spPr>
          <a:xfrm>
            <a:off x="7680960" y="1307592"/>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1</a:t>
            </a:r>
            <a:endParaRPr lang="en-US" sz="850" dirty="0"/>
          </a:p>
        </p:txBody>
      </p:sp>
      <p:sp>
        <p:nvSpPr>
          <p:cNvPr id="16" name="Text 13"/>
          <p:cNvSpPr txBox="1"/>
          <p:nvPr/>
        </p:nvSpPr>
        <p:spPr>
          <a:xfrm>
            <a:off x="7991856" y="1280160"/>
            <a:ext cx="3666744" cy="376428"/>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The address the code goes to. </a:t>
            </a:r>
            <a:pPr indent="0" marL="0">
              <a:buNone/>
            </a:pPr>
            <a:r>
              <a:rPr lang="en-US" sz="1050" dirty="0">
                <a:solidFill>
                  <a:srgbClr val="6B6559"/>
                </a:solidFill>
                <a:latin typeface="Calibri" pitchFamily="34" charset="0"/>
                <a:ea typeface="Calibri" pitchFamily="34" charset="-122"/>
                <a:cs typeface="Calibri" pitchFamily="34" charset="-120"/>
              </a:rPr>
              <a:t>It has to be one you can open right now: the code lasts ten minutes.</a:t>
            </a:r>
            <a:endParaRPr lang="en-US" sz="1050" dirty="0"/>
          </a:p>
        </p:txBody>
      </p:sp>
      <p:sp>
        <p:nvSpPr>
          <p:cNvPr id="17" name="Shape 14"/>
          <p:cNvSpPr/>
          <p:nvPr/>
        </p:nvSpPr>
        <p:spPr>
          <a:xfrm>
            <a:off x="7680960" y="1903476"/>
            <a:ext cx="219456" cy="219456"/>
          </a:xfrm>
          <a:prstGeom prst="ellipse">
            <a:avLst/>
          </a:prstGeom>
          <a:ln w="12700">
            <a:solidFill>
              <a:srgbClr val="9C7222"/>
            </a:solidFill>
            <a:prstDash val="solid"/>
          </a:ln>
        </p:spPr>
      </p:sp>
      <p:sp>
        <p:nvSpPr>
          <p:cNvPr id="18" name="Text 15"/>
          <p:cNvSpPr txBox="1"/>
          <p:nvPr/>
        </p:nvSpPr>
        <p:spPr>
          <a:xfrm>
            <a:off x="7680960" y="1903476"/>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2</a:t>
            </a:r>
            <a:endParaRPr lang="en-US" sz="850" dirty="0"/>
          </a:p>
        </p:txBody>
      </p:sp>
      <p:sp>
        <p:nvSpPr>
          <p:cNvPr id="19" name="Text 16"/>
          <p:cNvSpPr txBox="1"/>
          <p:nvPr/>
        </p:nvSpPr>
        <p:spPr>
          <a:xfrm>
            <a:off x="7991856" y="1876044"/>
            <a:ext cx="3666744" cy="376428"/>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Send verification code. </a:t>
            </a:r>
            <a:pPr indent="0" marL="0">
              <a:buNone/>
            </a:pPr>
            <a:r>
              <a:rPr lang="en-US" sz="1050" dirty="0">
                <a:solidFill>
                  <a:srgbClr val="6B6559"/>
                </a:solidFill>
                <a:latin typeface="Calibri" pitchFamily="34" charset="0"/>
                <a:ea typeface="Calibri" pitchFamily="34" charset="-122"/>
                <a:cs typeface="Calibri" pitchFamily="34" charset="-120"/>
              </a:rPr>
              <a:t>Three sends per ten minutes to the same address. After that you wait.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10896"/>
            <a:ext cx="640080" cy="566928"/>
          </a:xfrm>
          <a:prstGeom prst="rect">
            <a:avLst/>
          </a:prstGeom>
          <a:noFill/>
          <a:ln/>
        </p:spPr>
        <p:txBody>
          <a:bodyPr wrap="square" lIns="0" tIns="0" rIns="0" bIns="0" rtlCol="0" anchor="t"/>
          <a:lstStyle/>
          <a:p>
            <a:pPr algn="l" indent="0" marL="0">
              <a:buNone/>
            </a:pPr>
            <a:r>
              <a:rPr lang="en-US" sz="4000" dirty="0">
                <a:solidFill>
                  <a:srgbClr val="9C7222"/>
                </a:solidFill>
                <a:latin typeface="Cambria" pitchFamily="34" charset="0"/>
                <a:ea typeface="Cambria" pitchFamily="34" charset="-122"/>
                <a:cs typeface="Cambria" pitchFamily="34" charset="-120"/>
              </a:rPr>
              <a:t>3</a:t>
            </a:r>
            <a:endParaRPr lang="en-US" sz="4000" dirty="0"/>
          </a:p>
        </p:txBody>
      </p:sp>
      <p:sp>
        <p:nvSpPr>
          <p:cNvPr id="3" name="Text 1"/>
          <p:cNvSpPr txBox="1"/>
          <p:nvPr/>
        </p:nvSpPr>
        <p:spPr>
          <a:xfrm>
            <a:off x="502920" y="859536"/>
            <a:ext cx="822960" cy="219456"/>
          </a:xfrm>
          <a:prstGeom prst="rect">
            <a:avLst/>
          </a:prstGeom>
          <a:noFill/>
          <a:ln/>
        </p:spPr>
        <p:txBody>
          <a:bodyPr wrap="square" lIns="0" tIns="0" rIns="0" bIns="0" rtlCol="0" anchor="ctr"/>
          <a:lstStyle/>
          <a:p>
            <a:pPr indent="0" marL="0">
              <a:buNone/>
            </a:pPr>
            <a:endParaRPr lang="en-US" sz="800" dirty="0"/>
          </a:p>
        </p:txBody>
      </p:sp>
      <p:sp>
        <p:nvSpPr>
          <p:cNvPr id="4" name="Text 2"/>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A code to your email before you can look anything up</a:t>
            </a:r>
            <a:endParaRPr lang="en-US" sz="2600" dirty="0"/>
          </a:p>
        </p:txBody>
      </p:sp>
      <p:sp>
        <p:nvSpPr>
          <p:cNvPr id="5" name="Text 3"/>
          <p:cNvSpPr txBox="1"/>
          <p:nvPr/>
        </p:nvSpPr>
        <p:spPr>
          <a:xfrm>
            <a:off x="1645920" y="841248"/>
            <a:ext cx="10012680" cy="274320"/>
          </a:xfrm>
          <a:prstGeom prst="rect">
            <a:avLst/>
          </a:prstGeom>
          <a:noFill/>
          <a:ln/>
        </p:spPr>
        <p:txBody>
          <a:bodyPr wrap="square" lIns="0" tIns="0" rIns="0" bIns="0" rtlCol="0" anchor="t"/>
          <a:lstStyle/>
          <a:p>
            <a:pPr indent="0" marL="0">
              <a:buNone/>
            </a:pPr>
            <a:r>
              <a:rPr lang="en-US" sz="1200" dirty="0">
                <a:solidFill>
                  <a:srgbClr val="6B6559"/>
                </a:solidFill>
                <a:latin typeface="Calibri" pitchFamily="34" charset="0"/>
                <a:ea typeface="Calibri" pitchFamily="34" charset="-122"/>
                <a:cs typeface="Calibri" pitchFamily="34" charset="-120"/>
              </a:rPr>
              <a:t>Only on the documents portal. The people portal does not ask for one.</a:t>
            </a:r>
            <a:endParaRPr lang="en-US" sz="1200" dirty="0"/>
          </a:p>
        </p:txBody>
      </p:sp>
      <p:pic>
        <p:nvPicPr>
          <p:cNvPr id="6" name="Image 0" descr="/tmp/claude-0/-home-user-gea-module-0/05c86c8b-2f1b-52ff-8f50-3243e9e36b63/scratchpad/deck_img/03_espera_otp.png">    </p:cNvPr>
          <p:cNvPicPr>
            <a:picLocks noChangeAspect="1"/>
          </p:cNvPicPr>
          <p:nvPr/>
        </p:nvPicPr>
        <p:blipFill>
          <a:blip r:embed="rId1"/>
          <a:stretch>
            <a:fillRect/>
          </a:stretch>
        </p:blipFill>
        <p:spPr>
          <a:xfrm>
            <a:off x="502920" y="1280160"/>
            <a:ext cx="6858000" cy="4283344"/>
          </a:xfrm>
          <a:prstGeom prst="rect">
            <a:avLst/>
          </a:prstGeom>
        </p:spPr>
      </p:pic>
      <p:sp>
        <p:nvSpPr>
          <p:cNvPr id="7" name="Shape 4"/>
          <p:cNvSpPr/>
          <p:nvPr/>
        </p:nvSpPr>
        <p:spPr>
          <a:xfrm>
            <a:off x="502920" y="1280160"/>
            <a:ext cx="6858000" cy="4283344"/>
          </a:xfrm>
          <a:prstGeom prst="rect">
            <a:avLst/>
          </a:prstGeom>
          <a:ln w="9525">
            <a:solidFill>
              <a:srgbClr val="DED8CB"/>
            </a:solidFill>
            <a:prstDash val="solid"/>
          </a:ln>
        </p:spPr>
      </p:sp>
      <p:sp>
        <p:nvSpPr>
          <p:cNvPr id="8" name="Shape 5"/>
          <p:cNvSpPr/>
          <p:nvPr/>
        </p:nvSpPr>
        <p:spPr>
          <a:xfrm>
            <a:off x="2411501" y="3610728"/>
            <a:ext cx="3042209" cy="255716"/>
          </a:xfrm>
          <a:prstGeom prst="roundRect">
            <a:avLst>
              <a:gd name="adj" fmla="val 10728"/>
            </a:avLst>
          </a:prstGeom>
          <a:ln w="19050">
            <a:solidFill>
              <a:srgbClr val="9C7222"/>
            </a:solidFill>
            <a:prstDash val="solid"/>
          </a:ln>
        </p:spPr>
      </p:sp>
      <p:sp>
        <p:nvSpPr>
          <p:cNvPr id="9" name="Shape 6"/>
          <p:cNvSpPr/>
          <p:nvPr/>
        </p:nvSpPr>
        <p:spPr>
          <a:xfrm>
            <a:off x="2292629" y="3491856"/>
            <a:ext cx="237744" cy="237744"/>
          </a:xfrm>
          <a:prstGeom prst="ellipse">
            <a:avLst/>
          </a:prstGeom>
          <a:solidFill>
            <a:srgbClr val="9C7222"/>
          </a:solidFill>
          <a:ln w="12700">
            <a:solidFill>
              <a:srgbClr val="FFFFFF"/>
            </a:solidFill>
            <a:prstDash val="solid"/>
          </a:ln>
        </p:spPr>
      </p:sp>
      <p:sp>
        <p:nvSpPr>
          <p:cNvPr id="10" name="Text 7"/>
          <p:cNvSpPr txBox="1"/>
          <p:nvPr/>
        </p:nvSpPr>
        <p:spPr>
          <a:xfrm>
            <a:off x="2292629" y="349185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1</a:t>
            </a:r>
            <a:endParaRPr lang="en-US" sz="900" dirty="0"/>
          </a:p>
        </p:txBody>
      </p:sp>
      <p:sp>
        <p:nvSpPr>
          <p:cNvPr id="11" name="Shape 8"/>
          <p:cNvSpPr/>
          <p:nvPr/>
        </p:nvSpPr>
        <p:spPr>
          <a:xfrm>
            <a:off x="2411501" y="4308056"/>
            <a:ext cx="973150" cy="174332"/>
          </a:xfrm>
          <a:prstGeom prst="roundRect">
            <a:avLst>
              <a:gd name="adj" fmla="val 15735"/>
            </a:avLst>
          </a:prstGeom>
          <a:ln w="19050">
            <a:solidFill>
              <a:srgbClr val="9C7222"/>
            </a:solidFill>
            <a:prstDash val="solid"/>
          </a:ln>
        </p:spPr>
      </p:sp>
      <p:sp>
        <p:nvSpPr>
          <p:cNvPr id="12" name="Shape 9"/>
          <p:cNvSpPr/>
          <p:nvPr/>
        </p:nvSpPr>
        <p:spPr>
          <a:xfrm>
            <a:off x="2292629" y="4189184"/>
            <a:ext cx="237744" cy="237744"/>
          </a:xfrm>
          <a:prstGeom prst="ellipse">
            <a:avLst/>
          </a:prstGeom>
          <a:solidFill>
            <a:srgbClr val="9C7222"/>
          </a:solidFill>
          <a:ln w="12700">
            <a:solidFill>
              <a:srgbClr val="FFFFFF"/>
            </a:solidFill>
            <a:prstDash val="solid"/>
          </a:ln>
        </p:spPr>
      </p:sp>
      <p:sp>
        <p:nvSpPr>
          <p:cNvPr id="13" name="Text 10"/>
          <p:cNvSpPr txBox="1"/>
          <p:nvPr/>
        </p:nvSpPr>
        <p:spPr>
          <a:xfrm>
            <a:off x="2292629" y="418918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2</a:t>
            </a:r>
            <a:endParaRPr lang="en-US" sz="900" dirty="0"/>
          </a:p>
        </p:txBody>
      </p:sp>
      <p:sp>
        <p:nvSpPr>
          <p:cNvPr id="14" name="Shape 11"/>
          <p:cNvSpPr/>
          <p:nvPr/>
        </p:nvSpPr>
        <p:spPr>
          <a:xfrm>
            <a:off x="820445" y="5011381"/>
            <a:ext cx="6222949" cy="128016"/>
          </a:xfrm>
          <a:prstGeom prst="roundRect">
            <a:avLst>
              <a:gd name="adj" fmla="val 21429"/>
            </a:avLst>
          </a:prstGeom>
          <a:ln w="19050">
            <a:solidFill>
              <a:srgbClr val="9C7222"/>
            </a:solidFill>
            <a:prstDash val="solid"/>
          </a:ln>
        </p:spPr>
      </p:sp>
      <p:sp>
        <p:nvSpPr>
          <p:cNvPr id="15" name="Shape 12"/>
          <p:cNvSpPr/>
          <p:nvPr/>
        </p:nvSpPr>
        <p:spPr>
          <a:xfrm>
            <a:off x="701573" y="4892509"/>
            <a:ext cx="237744" cy="237744"/>
          </a:xfrm>
          <a:prstGeom prst="ellipse">
            <a:avLst/>
          </a:prstGeom>
          <a:solidFill>
            <a:srgbClr val="9C7222"/>
          </a:solidFill>
          <a:ln w="12700">
            <a:solidFill>
              <a:srgbClr val="FFFFFF"/>
            </a:solidFill>
            <a:prstDash val="solid"/>
          </a:ln>
        </p:spPr>
      </p:sp>
      <p:sp>
        <p:nvSpPr>
          <p:cNvPr id="16" name="Text 13"/>
          <p:cNvSpPr txBox="1"/>
          <p:nvPr/>
        </p:nvSpPr>
        <p:spPr>
          <a:xfrm>
            <a:off x="701573" y="4892509"/>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3</a:t>
            </a:r>
            <a:endParaRPr lang="en-US" sz="900" dirty="0"/>
          </a:p>
        </p:txBody>
      </p:sp>
      <p:sp>
        <p:nvSpPr>
          <p:cNvPr id="17" name="Shape 14"/>
          <p:cNvSpPr/>
          <p:nvPr/>
        </p:nvSpPr>
        <p:spPr>
          <a:xfrm>
            <a:off x="7680960" y="1307592"/>
            <a:ext cx="219456" cy="219456"/>
          </a:xfrm>
          <a:prstGeom prst="ellipse">
            <a:avLst/>
          </a:prstGeom>
          <a:ln w="12700">
            <a:solidFill>
              <a:srgbClr val="9C7222"/>
            </a:solidFill>
            <a:prstDash val="solid"/>
          </a:ln>
        </p:spPr>
      </p:sp>
      <p:sp>
        <p:nvSpPr>
          <p:cNvPr id="18" name="Text 15"/>
          <p:cNvSpPr txBox="1"/>
          <p:nvPr/>
        </p:nvSpPr>
        <p:spPr>
          <a:xfrm>
            <a:off x="7680960" y="1307592"/>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1</a:t>
            </a:r>
            <a:endParaRPr lang="en-US" sz="850" dirty="0"/>
          </a:p>
        </p:txBody>
      </p:sp>
      <p:sp>
        <p:nvSpPr>
          <p:cNvPr id="19" name="Text 16"/>
          <p:cNvSpPr txBox="1"/>
          <p:nvPr/>
        </p:nvSpPr>
        <p:spPr>
          <a:xfrm>
            <a:off x="7991856" y="1280160"/>
            <a:ext cx="3666744" cy="376428"/>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The six digits that arrived by email. </a:t>
            </a:r>
            <a:pPr indent="0" marL="0">
              <a:buNone/>
            </a:pPr>
            <a:r>
              <a:rPr lang="en-US" sz="1050" dirty="0">
                <a:solidFill>
                  <a:srgbClr val="6B6559"/>
                </a:solidFill>
                <a:latin typeface="Calibri" pitchFamily="34" charset="0"/>
                <a:ea typeface="Calibri" pitchFamily="34" charset="-122"/>
                <a:cs typeface="Calibri" pitchFamily="34" charset="-120"/>
              </a:rPr>
              <a:t>Five failed attempts close the session for ten minutes.</a:t>
            </a:r>
            <a:endParaRPr lang="en-US" sz="1050" dirty="0"/>
          </a:p>
        </p:txBody>
      </p:sp>
      <p:sp>
        <p:nvSpPr>
          <p:cNvPr id="20" name="Shape 17"/>
          <p:cNvSpPr/>
          <p:nvPr/>
        </p:nvSpPr>
        <p:spPr>
          <a:xfrm>
            <a:off x="7680960" y="1903476"/>
            <a:ext cx="219456" cy="219456"/>
          </a:xfrm>
          <a:prstGeom prst="ellipse">
            <a:avLst/>
          </a:prstGeom>
          <a:ln w="12700">
            <a:solidFill>
              <a:srgbClr val="9C7222"/>
            </a:solidFill>
            <a:prstDash val="solid"/>
          </a:ln>
        </p:spPr>
      </p:sp>
      <p:sp>
        <p:nvSpPr>
          <p:cNvPr id="21" name="Text 18"/>
          <p:cNvSpPr txBox="1"/>
          <p:nvPr/>
        </p:nvSpPr>
        <p:spPr>
          <a:xfrm>
            <a:off x="7680960" y="1903476"/>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2</a:t>
            </a:r>
            <a:endParaRPr lang="en-US" sz="850" dirty="0"/>
          </a:p>
        </p:txBody>
      </p:sp>
      <p:sp>
        <p:nvSpPr>
          <p:cNvPr id="22" name="Text 19"/>
          <p:cNvSpPr txBox="1"/>
          <p:nvPr/>
        </p:nvSpPr>
        <p:spPr>
          <a:xfrm>
            <a:off x="7991856" y="1876044"/>
            <a:ext cx="3666744" cy="376428"/>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Resend verification code. </a:t>
            </a:r>
            <a:pPr indent="0" marL="0">
              <a:buNone/>
            </a:pPr>
            <a:r>
              <a:rPr lang="en-US" sz="1050" dirty="0">
                <a:solidFill>
                  <a:srgbClr val="6B6559"/>
                </a:solidFill>
                <a:latin typeface="Calibri" pitchFamily="34" charset="0"/>
                <a:ea typeface="Calibri" pitchFamily="34" charset="-122"/>
                <a:cs typeface="Calibri" pitchFamily="34" charset="-120"/>
              </a:rPr>
              <a:t>Available after a minute, in case the email is slow.</a:t>
            </a:r>
            <a:endParaRPr lang="en-US" sz="1050" dirty="0"/>
          </a:p>
        </p:txBody>
      </p:sp>
      <p:sp>
        <p:nvSpPr>
          <p:cNvPr id="23" name="Shape 20"/>
          <p:cNvSpPr/>
          <p:nvPr/>
        </p:nvSpPr>
        <p:spPr>
          <a:xfrm>
            <a:off x="7680960" y="2499360"/>
            <a:ext cx="219456" cy="219456"/>
          </a:xfrm>
          <a:prstGeom prst="ellipse">
            <a:avLst/>
          </a:prstGeom>
          <a:ln w="12700">
            <a:solidFill>
              <a:srgbClr val="9C7222"/>
            </a:solidFill>
            <a:prstDash val="solid"/>
          </a:ln>
        </p:spPr>
      </p:sp>
      <p:sp>
        <p:nvSpPr>
          <p:cNvPr id="24" name="Text 21"/>
          <p:cNvSpPr txBox="1"/>
          <p:nvPr/>
        </p:nvSpPr>
        <p:spPr>
          <a:xfrm>
            <a:off x="7680960" y="2499360"/>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3</a:t>
            </a:r>
            <a:endParaRPr lang="en-US" sz="850" dirty="0"/>
          </a:p>
        </p:txBody>
      </p:sp>
      <p:sp>
        <p:nvSpPr>
          <p:cNvPr id="25" name="Text 22"/>
          <p:cNvSpPr txBox="1"/>
          <p:nvPr/>
        </p:nvSpPr>
        <p:spPr>
          <a:xfrm>
            <a:off x="7991856" y="2471928"/>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The code expires. </a:t>
            </a:r>
            <a:pPr indent="0" marL="0">
              <a:buNone/>
            </a:pPr>
            <a:r>
              <a:rPr lang="en-US" sz="1050" dirty="0">
                <a:solidFill>
                  <a:srgbClr val="6B6559"/>
                </a:solidFill>
                <a:latin typeface="Calibri" pitchFamily="34" charset="0"/>
                <a:ea typeface="Calibri" pitchFamily="34" charset="-122"/>
                <a:cs typeface="Calibri" pitchFamily="34" charset="-120"/>
              </a:rPr>
              <a:t>If it lapses, request a new one. Do not reuse an old code, and do not forward one over WhatsApp.</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10896"/>
            <a:ext cx="640080" cy="566928"/>
          </a:xfrm>
          <a:prstGeom prst="rect">
            <a:avLst/>
          </a:prstGeom>
          <a:noFill/>
          <a:ln/>
        </p:spPr>
        <p:txBody>
          <a:bodyPr wrap="square" lIns="0" tIns="0" rIns="0" bIns="0" rtlCol="0" anchor="t"/>
          <a:lstStyle/>
          <a:p>
            <a:pPr algn="l" indent="0" marL="0">
              <a:buNone/>
            </a:pPr>
            <a:r>
              <a:rPr lang="en-US" sz="4000" dirty="0">
                <a:solidFill>
                  <a:srgbClr val="9C7222"/>
                </a:solidFill>
                <a:latin typeface="Cambria" pitchFamily="34" charset="0"/>
                <a:ea typeface="Cambria" pitchFamily="34" charset="-122"/>
                <a:cs typeface="Cambria" pitchFamily="34" charset="-120"/>
              </a:rPr>
              <a:t>4</a:t>
            </a:r>
            <a:endParaRPr lang="en-US" sz="4000" dirty="0"/>
          </a:p>
        </p:txBody>
      </p:sp>
      <p:sp>
        <p:nvSpPr>
          <p:cNvPr id="3" name="Text 1"/>
          <p:cNvSpPr txBox="1"/>
          <p:nvPr/>
        </p:nvSpPr>
        <p:spPr>
          <a:xfrm>
            <a:off x="502920" y="859536"/>
            <a:ext cx="822960" cy="219456"/>
          </a:xfrm>
          <a:prstGeom prst="rect">
            <a:avLst/>
          </a:prstGeom>
          <a:noFill/>
          <a:ln/>
        </p:spPr>
        <p:txBody>
          <a:bodyPr wrap="square" lIns="0" tIns="0" rIns="0" bIns="0" rtlCol="0" anchor="ctr"/>
          <a:lstStyle/>
          <a:p>
            <a:pPr indent="0" marL="0">
              <a:buNone/>
            </a:pPr>
            <a:endParaRPr lang="en-US" sz="800" dirty="0"/>
          </a:p>
        </p:txBody>
      </p:sp>
      <p:sp>
        <p:nvSpPr>
          <p:cNvPr id="4" name="Text 2"/>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Two ways to check, and they are not equivalent</a:t>
            </a:r>
            <a:endParaRPr lang="en-US" sz="2600" dirty="0"/>
          </a:p>
        </p:txBody>
      </p:sp>
      <p:sp>
        <p:nvSpPr>
          <p:cNvPr id="5" name="Text 3"/>
          <p:cNvSpPr txBox="1"/>
          <p:nvPr/>
        </p:nvSpPr>
        <p:spPr>
          <a:xfrm>
            <a:off x="1645920" y="841248"/>
            <a:ext cx="10012680" cy="274320"/>
          </a:xfrm>
          <a:prstGeom prst="rect">
            <a:avLst/>
          </a:prstGeom>
          <a:noFill/>
          <a:ln/>
        </p:spPr>
        <p:txBody>
          <a:bodyPr wrap="square" lIns="0" tIns="0" rIns="0" bIns="0" rtlCol="0" anchor="t"/>
          <a:lstStyle/>
          <a:p>
            <a:pPr indent="0" marL="0">
              <a:buNone/>
            </a:pPr>
            <a:r>
              <a:rPr lang="en-US" sz="1200" dirty="0">
                <a:solidFill>
                  <a:srgbClr val="6B6559"/>
                </a:solidFill>
                <a:latin typeface="Calibri" pitchFamily="34" charset="0"/>
                <a:ea typeface="Calibri" pitchFamily="34" charset="-122"/>
                <a:cs typeface="Calibri" pitchFamily="34" charset="-120"/>
              </a:rPr>
              <a:t>By code, or by uploading the file. The second answers a question the first one cannot.</a:t>
            </a:r>
            <a:endParaRPr lang="en-US" sz="1200" dirty="0"/>
          </a:p>
        </p:txBody>
      </p:sp>
      <p:pic>
        <p:nvPicPr>
          <p:cNvPr id="6" name="Image 0" descr="/tmp/claude-0/-home-user-gea-module-0/05c86c8b-2f1b-52ff-8f50-3243e9e36b63/scratchpad/deck_img/04_pide_identificador.png">    </p:cNvPr>
          <p:cNvPicPr>
            <a:picLocks noChangeAspect="1"/>
          </p:cNvPicPr>
          <p:nvPr/>
        </p:nvPicPr>
        <p:blipFill>
          <a:blip r:embed="rId1"/>
          <a:stretch>
            <a:fillRect/>
          </a:stretch>
        </p:blipFill>
        <p:spPr>
          <a:xfrm>
            <a:off x="502920" y="1280160"/>
            <a:ext cx="6773672" cy="5166360"/>
          </a:xfrm>
          <a:prstGeom prst="rect">
            <a:avLst/>
          </a:prstGeom>
        </p:spPr>
      </p:pic>
      <p:sp>
        <p:nvSpPr>
          <p:cNvPr id="7" name="Shape 4"/>
          <p:cNvSpPr/>
          <p:nvPr/>
        </p:nvSpPr>
        <p:spPr>
          <a:xfrm>
            <a:off x="502920" y="1280160"/>
            <a:ext cx="6773672" cy="5166360"/>
          </a:xfrm>
          <a:prstGeom prst="rect">
            <a:avLst/>
          </a:prstGeom>
          <a:ln w="9525">
            <a:solidFill>
              <a:srgbClr val="DED8CB"/>
            </a:solidFill>
            <a:prstDash val="solid"/>
          </a:ln>
        </p:spPr>
      </p:sp>
      <p:sp>
        <p:nvSpPr>
          <p:cNvPr id="8" name="Shape 5"/>
          <p:cNvSpPr/>
          <p:nvPr/>
        </p:nvSpPr>
        <p:spPr>
          <a:xfrm>
            <a:off x="2388033" y="3559041"/>
            <a:ext cx="3004801" cy="252635"/>
          </a:xfrm>
          <a:prstGeom prst="roundRect">
            <a:avLst>
              <a:gd name="adj" fmla="val 10858"/>
            </a:avLst>
          </a:prstGeom>
          <a:ln w="19050">
            <a:solidFill>
              <a:srgbClr val="9C7222"/>
            </a:solidFill>
            <a:prstDash val="solid"/>
          </a:ln>
        </p:spPr>
      </p:sp>
      <p:sp>
        <p:nvSpPr>
          <p:cNvPr id="9" name="Shape 6"/>
          <p:cNvSpPr/>
          <p:nvPr/>
        </p:nvSpPr>
        <p:spPr>
          <a:xfrm>
            <a:off x="2269161" y="3440169"/>
            <a:ext cx="237744" cy="237744"/>
          </a:xfrm>
          <a:prstGeom prst="ellipse">
            <a:avLst/>
          </a:prstGeom>
          <a:solidFill>
            <a:srgbClr val="9C7222"/>
          </a:solidFill>
          <a:ln w="12700">
            <a:solidFill>
              <a:srgbClr val="FFFFFF"/>
            </a:solidFill>
            <a:prstDash val="solid"/>
          </a:ln>
        </p:spPr>
      </p:sp>
      <p:sp>
        <p:nvSpPr>
          <p:cNvPr id="10" name="Text 7"/>
          <p:cNvSpPr txBox="1"/>
          <p:nvPr/>
        </p:nvSpPr>
        <p:spPr>
          <a:xfrm>
            <a:off x="2269161" y="3440169"/>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1</a:t>
            </a:r>
            <a:endParaRPr lang="en-US" sz="900" dirty="0"/>
          </a:p>
        </p:txBody>
      </p:sp>
      <p:sp>
        <p:nvSpPr>
          <p:cNvPr id="11" name="Shape 8"/>
          <p:cNvSpPr/>
          <p:nvPr/>
        </p:nvSpPr>
        <p:spPr>
          <a:xfrm>
            <a:off x="1863751" y="5212793"/>
            <a:ext cx="4052011" cy="252635"/>
          </a:xfrm>
          <a:prstGeom prst="roundRect">
            <a:avLst>
              <a:gd name="adj" fmla="val 10858"/>
            </a:avLst>
          </a:prstGeom>
          <a:ln w="19050">
            <a:solidFill>
              <a:srgbClr val="9C7222"/>
            </a:solidFill>
            <a:prstDash val="solid"/>
          </a:ln>
        </p:spPr>
      </p:sp>
      <p:sp>
        <p:nvSpPr>
          <p:cNvPr id="12" name="Shape 9"/>
          <p:cNvSpPr/>
          <p:nvPr/>
        </p:nvSpPr>
        <p:spPr>
          <a:xfrm>
            <a:off x="1744879" y="5093921"/>
            <a:ext cx="237744" cy="237744"/>
          </a:xfrm>
          <a:prstGeom prst="ellipse">
            <a:avLst/>
          </a:prstGeom>
          <a:solidFill>
            <a:srgbClr val="9C7222"/>
          </a:solidFill>
          <a:ln w="12700">
            <a:solidFill>
              <a:srgbClr val="FFFFFF"/>
            </a:solidFill>
            <a:prstDash val="solid"/>
          </a:ln>
        </p:spPr>
      </p:sp>
      <p:sp>
        <p:nvSpPr>
          <p:cNvPr id="13" name="Text 10"/>
          <p:cNvSpPr txBox="1"/>
          <p:nvPr/>
        </p:nvSpPr>
        <p:spPr>
          <a:xfrm>
            <a:off x="1744879" y="5093921"/>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2</a:t>
            </a:r>
            <a:endParaRPr lang="en-US" sz="900" dirty="0"/>
          </a:p>
        </p:txBody>
      </p:sp>
      <p:sp>
        <p:nvSpPr>
          <p:cNvPr id="14" name="Shape 11"/>
          <p:cNvSpPr/>
          <p:nvPr/>
        </p:nvSpPr>
        <p:spPr>
          <a:xfrm>
            <a:off x="1863751" y="6045094"/>
            <a:ext cx="4052011" cy="128016"/>
          </a:xfrm>
          <a:prstGeom prst="roundRect">
            <a:avLst>
              <a:gd name="adj" fmla="val 21429"/>
            </a:avLst>
          </a:prstGeom>
          <a:ln w="19050">
            <a:solidFill>
              <a:srgbClr val="9C7222"/>
            </a:solidFill>
            <a:prstDash val="solid"/>
          </a:ln>
        </p:spPr>
      </p:sp>
      <p:sp>
        <p:nvSpPr>
          <p:cNvPr id="15" name="Shape 12"/>
          <p:cNvSpPr/>
          <p:nvPr/>
        </p:nvSpPr>
        <p:spPr>
          <a:xfrm>
            <a:off x="1744879" y="5926222"/>
            <a:ext cx="237744" cy="237744"/>
          </a:xfrm>
          <a:prstGeom prst="ellipse">
            <a:avLst/>
          </a:prstGeom>
          <a:solidFill>
            <a:srgbClr val="9C7222"/>
          </a:solidFill>
          <a:ln w="12700">
            <a:solidFill>
              <a:srgbClr val="FFFFFF"/>
            </a:solidFill>
            <a:prstDash val="solid"/>
          </a:ln>
        </p:spPr>
      </p:sp>
      <p:sp>
        <p:nvSpPr>
          <p:cNvPr id="16" name="Text 13"/>
          <p:cNvSpPr txBox="1"/>
          <p:nvPr/>
        </p:nvSpPr>
        <p:spPr>
          <a:xfrm>
            <a:off x="1744879" y="592622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3</a:t>
            </a:r>
            <a:endParaRPr lang="en-US" sz="900" dirty="0"/>
          </a:p>
        </p:txBody>
      </p:sp>
      <p:sp>
        <p:nvSpPr>
          <p:cNvPr id="17" name="Shape 14"/>
          <p:cNvSpPr/>
          <p:nvPr/>
        </p:nvSpPr>
        <p:spPr>
          <a:xfrm>
            <a:off x="7680960" y="1307592"/>
            <a:ext cx="219456" cy="219456"/>
          </a:xfrm>
          <a:prstGeom prst="ellipse">
            <a:avLst/>
          </a:prstGeom>
          <a:ln w="12700">
            <a:solidFill>
              <a:srgbClr val="9C7222"/>
            </a:solidFill>
            <a:prstDash val="solid"/>
          </a:ln>
        </p:spPr>
      </p:sp>
      <p:sp>
        <p:nvSpPr>
          <p:cNvPr id="18" name="Text 15"/>
          <p:cNvSpPr txBox="1"/>
          <p:nvPr/>
        </p:nvSpPr>
        <p:spPr>
          <a:xfrm>
            <a:off x="7680960" y="1307592"/>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1</a:t>
            </a:r>
            <a:endParaRPr lang="en-US" sz="850" dirty="0"/>
          </a:p>
        </p:txBody>
      </p:sp>
      <p:sp>
        <p:nvSpPr>
          <p:cNvPr id="19" name="Text 16"/>
          <p:cNvSpPr txBox="1"/>
          <p:nvPr/>
        </p:nvSpPr>
        <p:spPr>
          <a:xfrm>
            <a:off x="7991856" y="1280160"/>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Method A — by code. </a:t>
            </a:r>
            <a:pPr indent="0" marL="0">
              <a:buNone/>
            </a:pPr>
            <a:r>
              <a:rPr lang="en-US" sz="1050" dirty="0">
                <a:solidFill>
                  <a:srgbClr val="6B6559"/>
                </a:solidFill>
                <a:latin typeface="Calibri" pitchFamily="34" charset="0"/>
                <a:ea typeface="Calibri" pitchFamily="34" charset="-122"/>
                <a:cs typeface="Calibri" pitchFamily="34" charset="-120"/>
              </a:rPr>
              <a:t>You type the public code printed on the document. It answers: «this code exists, and this is what it covers».</a:t>
            </a:r>
            <a:endParaRPr lang="en-US" sz="1050" dirty="0"/>
          </a:p>
        </p:txBody>
      </p:sp>
      <p:sp>
        <p:nvSpPr>
          <p:cNvPr id="20" name="Shape 17"/>
          <p:cNvSpPr/>
          <p:nvPr/>
        </p:nvSpPr>
        <p:spPr>
          <a:xfrm>
            <a:off x="7680960" y="2068830"/>
            <a:ext cx="219456" cy="219456"/>
          </a:xfrm>
          <a:prstGeom prst="ellipse">
            <a:avLst/>
          </a:prstGeom>
          <a:ln w="12700">
            <a:solidFill>
              <a:srgbClr val="9C7222"/>
            </a:solidFill>
            <a:prstDash val="solid"/>
          </a:ln>
        </p:spPr>
      </p:sp>
      <p:sp>
        <p:nvSpPr>
          <p:cNvPr id="21" name="Text 18"/>
          <p:cNvSpPr txBox="1"/>
          <p:nvPr/>
        </p:nvSpPr>
        <p:spPr>
          <a:xfrm>
            <a:off x="7680960" y="2068830"/>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2</a:t>
            </a:r>
            <a:endParaRPr lang="en-US" sz="850" dirty="0"/>
          </a:p>
        </p:txBody>
      </p:sp>
      <p:sp>
        <p:nvSpPr>
          <p:cNvPr id="22" name="Text 19"/>
          <p:cNvSpPr txBox="1"/>
          <p:nvPr/>
        </p:nvSpPr>
        <p:spPr>
          <a:xfrm>
            <a:off x="7991856" y="2041398"/>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Method B — by file. </a:t>
            </a:r>
            <a:pPr indent="0" marL="0">
              <a:buNone/>
            </a:pPr>
            <a:r>
              <a:rPr lang="en-US" sz="1050" dirty="0">
                <a:solidFill>
                  <a:srgbClr val="6B6559"/>
                </a:solidFill>
                <a:latin typeface="Calibri" pitchFamily="34" charset="0"/>
                <a:ea typeface="Calibri" pitchFamily="34" charset="-122"/>
                <a:cs typeface="Calibri" pitchFamily="34" charset="-120"/>
              </a:rPr>
              <a:t>You upload the PDF you were given. It answers something different and stronger: «is the file in your hands ours, byte for byte?».</a:t>
            </a:r>
            <a:endParaRPr lang="en-US" sz="1050" dirty="0"/>
          </a:p>
        </p:txBody>
      </p:sp>
      <p:sp>
        <p:nvSpPr>
          <p:cNvPr id="23" name="Shape 20"/>
          <p:cNvSpPr/>
          <p:nvPr/>
        </p:nvSpPr>
        <p:spPr>
          <a:xfrm>
            <a:off x="7680960" y="2830068"/>
            <a:ext cx="219456" cy="219456"/>
          </a:xfrm>
          <a:prstGeom prst="ellipse">
            <a:avLst/>
          </a:prstGeom>
          <a:ln w="12700">
            <a:solidFill>
              <a:srgbClr val="9C7222"/>
            </a:solidFill>
            <a:prstDash val="solid"/>
          </a:ln>
        </p:spPr>
      </p:sp>
      <p:sp>
        <p:nvSpPr>
          <p:cNvPr id="24" name="Text 21"/>
          <p:cNvSpPr txBox="1"/>
          <p:nvPr/>
        </p:nvSpPr>
        <p:spPr>
          <a:xfrm>
            <a:off x="7680960" y="2830068"/>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3</a:t>
            </a:r>
            <a:endParaRPr lang="en-US" sz="850" dirty="0"/>
          </a:p>
        </p:txBody>
      </p:sp>
      <p:sp>
        <p:nvSpPr>
          <p:cNvPr id="25" name="Text 22"/>
          <p:cNvSpPr txBox="1"/>
          <p:nvPr/>
        </p:nvSpPr>
        <p:spPr>
          <a:xfrm>
            <a:off x="7991856" y="2802636"/>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The file is not stored. </a:t>
            </a:r>
            <a:pPr indent="0" marL="0">
              <a:buNone/>
            </a:pPr>
            <a:r>
              <a:rPr lang="en-US" sz="1050" dirty="0">
                <a:solidFill>
                  <a:srgbClr val="6B6559"/>
                </a:solidFill>
                <a:latin typeface="Calibri" pitchFamily="34" charset="0"/>
                <a:ea typeface="Calibri" pitchFamily="34" charset="-122"/>
                <a:cs typeface="Calibri" pitchFamily="34" charset="-120"/>
              </a:rPr>
              <a:t>Its fingerprint is computed in memory and discarded. Uploading a document here does not deposit it anywhere.</a:t>
            </a:r>
            <a:endParaRPr lang="en-US" sz="1050" dirty="0"/>
          </a:p>
        </p:txBody>
      </p:sp>
      <p:sp>
        <p:nvSpPr>
          <p:cNvPr id="26" name="Shape 23"/>
          <p:cNvSpPr/>
          <p:nvPr/>
        </p:nvSpPr>
        <p:spPr>
          <a:xfrm>
            <a:off x="7680960" y="3701034"/>
            <a:ext cx="3977640" cy="1244600"/>
          </a:xfrm>
          <a:prstGeom prst="roundRect">
            <a:avLst>
              <a:gd name="adj" fmla="val 3673"/>
            </a:avLst>
          </a:prstGeom>
          <a:solidFill>
            <a:srgbClr val="E4F0E9"/>
          </a:solidFill>
          <a:ln w="12700">
            <a:solidFill>
              <a:srgbClr val="1B6046"/>
            </a:solidFill>
            <a:prstDash val="solid"/>
          </a:ln>
        </p:spPr>
      </p:sp>
      <p:sp>
        <p:nvSpPr>
          <p:cNvPr id="27" name="Text 24"/>
          <p:cNvSpPr txBox="1"/>
          <p:nvPr/>
        </p:nvSpPr>
        <p:spPr>
          <a:xfrm>
            <a:off x="7827264" y="3774186"/>
            <a:ext cx="3685032" cy="201168"/>
          </a:xfrm>
          <a:prstGeom prst="rect">
            <a:avLst/>
          </a:prstGeom>
          <a:noFill/>
          <a:ln/>
        </p:spPr>
        <p:txBody>
          <a:bodyPr wrap="square" lIns="0" tIns="0" rIns="0" bIns="0" rtlCol="0" anchor="ctr"/>
          <a:lstStyle/>
          <a:p>
            <a:pPr indent="0" marL="0">
              <a:buNone/>
            </a:pPr>
            <a:r>
              <a:rPr lang="en-US" sz="750" spc="120" kern="0" dirty="0">
                <a:solidFill>
                  <a:srgbClr val="1B6046"/>
                </a:solidFill>
                <a:latin typeface="Courier New" pitchFamily="34" charset="0"/>
                <a:ea typeface="Courier New" pitchFamily="34" charset="-122"/>
                <a:cs typeface="Courier New" pitchFamily="34" charset="-120"/>
              </a:rPr>
              <a:t>WHICH ONE TO USE</a:t>
            </a:r>
            <a:endParaRPr lang="en-US" sz="750" dirty="0"/>
          </a:p>
        </p:txBody>
      </p:sp>
      <p:sp>
        <p:nvSpPr>
          <p:cNvPr id="28" name="Text 25"/>
          <p:cNvSpPr txBox="1"/>
          <p:nvPr/>
        </p:nvSpPr>
        <p:spPr>
          <a:xfrm>
            <a:off x="7827264" y="3975354"/>
            <a:ext cx="3685032" cy="897128"/>
          </a:xfrm>
          <a:prstGeom prst="rect">
            <a:avLst/>
          </a:prstGeom>
          <a:noFill/>
          <a:ln/>
        </p:spPr>
        <p:txBody>
          <a:bodyPr wrap="square" lIns="0" tIns="0" rIns="0" bIns="0" rtlCol="0" anchor="t"/>
          <a:lstStyle/>
          <a:p>
            <a:pPr indent="0" marL="0">
              <a:buNone/>
            </a:pPr>
            <a:r>
              <a:rPr lang="en-US" sz="1000" dirty="0">
                <a:solidFill>
                  <a:srgbClr val="12203A"/>
                </a:solidFill>
                <a:latin typeface="Calibri" pitchFamily="34" charset="0"/>
                <a:ea typeface="Calibri" pitchFamily="34" charset="-122"/>
                <a:cs typeface="Calibri" pitchFamily="34" charset="-120"/>
              </a:rPr>
              <a:t>If someone sends you a PDF and you want to know whether it is genuine, use method B. It is the only one that catches a document that looks right and reads wrong: a printed code can be copied off a photograph, but a file's fingerprint cannot be forged.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10896"/>
            <a:ext cx="640080" cy="566928"/>
          </a:xfrm>
          <a:prstGeom prst="rect">
            <a:avLst/>
          </a:prstGeom>
          <a:noFill/>
          <a:ln/>
        </p:spPr>
        <p:txBody>
          <a:bodyPr wrap="square" lIns="0" tIns="0" rIns="0" bIns="0" rtlCol="0" anchor="t"/>
          <a:lstStyle/>
          <a:p>
            <a:pPr algn="l" indent="0" marL="0">
              <a:buNone/>
            </a:pPr>
            <a:r>
              <a:rPr lang="en-US" sz="4000" dirty="0">
                <a:solidFill>
                  <a:srgbClr val="9C7222"/>
                </a:solidFill>
                <a:latin typeface="Cambria" pitchFamily="34" charset="0"/>
                <a:ea typeface="Cambria" pitchFamily="34" charset="-122"/>
                <a:cs typeface="Cambria" pitchFamily="34" charset="-120"/>
              </a:rPr>
              <a:t>4</a:t>
            </a:r>
            <a:endParaRPr lang="en-US" sz="4000" dirty="0"/>
          </a:p>
        </p:txBody>
      </p:sp>
      <p:sp>
        <p:nvSpPr>
          <p:cNvPr id="3" name="Text 1"/>
          <p:cNvSpPr txBox="1"/>
          <p:nvPr/>
        </p:nvSpPr>
        <p:spPr>
          <a:xfrm>
            <a:off x="502920" y="859536"/>
            <a:ext cx="822960" cy="219456"/>
          </a:xfrm>
          <a:prstGeom prst="rect">
            <a:avLst/>
          </a:prstGeom>
          <a:noFill/>
          <a:ln/>
        </p:spPr>
        <p:txBody>
          <a:bodyPr wrap="square" lIns="0" tIns="0" rIns="0" bIns="0" rtlCol="0" anchor="ctr"/>
          <a:lstStyle/>
          <a:p>
            <a:pPr indent="0" marL="0">
              <a:buNone/>
            </a:pPr>
            <a:endParaRPr lang="en-US" sz="800" dirty="0"/>
          </a:p>
        </p:txBody>
      </p:sp>
      <p:sp>
        <p:nvSpPr>
          <p:cNvPr id="4" name="Text 2"/>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When the file is not ours</a:t>
            </a:r>
            <a:endParaRPr lang="en-US" sz="2600" dirty="0"/>
          </a:p>
        </p:txBody>
      </p:sp>
      <p:sp>
        <p:nvSpPr>
          <p:cNvPr id="5" name="Text 3"/>
          <p:cNvSpPr txBox="1"/>
          <p:nvPr/>
        </p:nvSpPr>
        <p:spPr>
          <a:xfrm>
            <a:off x="1645920" y="841248"/>
            <a:ext cx="10012680" cy="274320"/>
          </a:xfrm>
          <a:prstGeom prst="rect">
            <a:avLst/>
          </a:prstGeom>
          <a:noFill/>
          <a:ln/>
        </p:spPr>
        <p:txBody>
          <a:bodyPr wrap="square" lIns="0" tIns="0" rIns="0" bIns="0" rtlCol="0" anchor="t"/>
          <a:lstStyle/>
          <a:p>
            <a:pPr indent="0" marL="0">
              <a:buNone/>
            </a:pPr>
            <a:r>
              <a:rPr lang="en-US" sz="1200" dirty="0">
                <a:solidFill>
                  <a:srgbClr val="6B6559"/>
                </a:solidFill>
                <a:latin typeface="Calibri" pitchFamily="34" charset="0"/>
                <a:ea typeface="Calibri" pitchFamily="34" charset="-122"/>
                <a:cs typeface="Calibri" pitchFamily="34" charset="-120"/>
              </a:rPr>
              <a:t>What the file check says about a PDF the platform did not issue.</a:t>
            </a:r>
            <a:endParaRPr lang="en-US" sz="1200" dirty="0"/>
          </a:p>
        </p:txBody>
      </p:sp>
      <p:pic>
        <p:nvPicPr>
          <p:cNvPr id="6" name="Image 0" descr="/tmp/claude-0/-home-user-gea-module-0/05c86c8b-2f1b-52ff-8f50-3243e9e36b63/scratchpad/deck_img/12_cotejo_rechazado.png">    </p:cNvPr>
          <p:cNvPicPr>
            <a:picLocks noChangeAspect="1"/>
          </p:cNvPicPr>
          <p:nvPr/>
        </p:nvPicPr>
        <p:blipFill>
          <a:blip r:embed="rId1"/>
          <a:stretch>
            <a:fillRect/>
          </a:stretch>
        </p:blipFill>
        <p:spPr>
          <a:xfrm>
            <a:off x="502920" y="1280160"/>
            <a:ext cx="6342075" cy="4837176"/>
          </a:xfrm>
          <a:prstGeom prst="rect">
            <a:avLst/>
          </a:prstGeom>
        </p:spPr>
      </p:pic>
      <p:sp>
        <p:nvSpPr>
          <p:cNvPr id="7" name="Shape 4"/>
          <p:cNvSpPr/>
          <p:nvPr/>
        </p:nvSpPr>
        <p:spPr>
          <a:xfrm>
            <a:off x="502920" y="1280160"/>
            <a:ext cx="6342075" cy="4837176"/>
          </a:xfrm>
          <a:prstGeom prst="rect">
            <a:avLst/>
          </a:prstGeom>
          <a:ln w="9525">
            <a:solidFill>
              <a:srgbClr val="DED8CB"/>
            </a:solidFill>
            <a:prstDash val="solid"/>
          </a:ln>
        </p:spPr>
      </p:sp>
      <p:sp>
        <p:nvSpPr>
          <p:cNvPr id="8" name="Shape 5"/>
          <p:cNvSpPr/>
          <p:nvPr/>
        </p:nvSpPr>
        <p:spPr>
          <a:xfrm>
            <a:off x="1777043" y="5287277"/>
            <a:ext cx="3793829" cy="128016"/>
          </a:xfrm>
          <a:prstGeom prst="roundRect">
            <a:avLst>
              <a:gd name="adj" fmla="val 21429"/>
            </a:avLst>
          </a:prstGeom>
          <a:ln w="19050">
            <a:solidFill>
              <a:srgbClr val="9C7222"/>
            </a:solidFill>
            <a:prstDash val="solid"/>
          </a:ln>
        </p:spPr>
      </p:sp>
      <p:sp>
        <p:nvSpPr>
          <p:cNvPr id="9" name="Shape 6"/>
          <p:cNvSpPr/>
          <p:nvPr/>
        </p:nvSpPr>
        <p:spPr>
          <a:xfrm>
            <a:off x="1658171" y="5168405"/>
            <a:ext cx="237744" cy="237744"/>
          </a:xfrm>
          <a:prstGeom prst="ellipse">
            <a:avLst/>
          </a:prstGeom>
          <a:solidFill>
            <a:srgbClr val="9C7222"/>
          </a:solidFill>
          <a:ln w="12700">
            <a:solidFill>
              <a:srgbClr val="FFFFFF"/>
            </a:solidFill>
            <a:prstDash val="solid"/>
          </a:ln>
        </p:spPr>
      </p:sp>
      <p:sp>
        <p:nvSpPr>
          <p:cNvPr id="10" name="Text 7"/>
          <p:cNvSpPr txBox="1"/>
          <p:nvPr/>
        </p:nvSpPr>
        <p:spPr>
          <a:xfrm>
            <a:off x="1658171" y="5168405"/>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1</a:t>
            </a:r>
            <a:endParaRPr lang="en-US" sz="900" dirty="0"/>
          </a:p>
        </p:txBody>
      </p:sp>
      <p:sp>
        <p:nvSpPr>
          <p:cNvPr id="11" name="Shape 8"/>
          <p:cNvSpPr/>
          <p:nvPr/>
        </p:nvSpPr>
        <p:spPr>
          <a:xfrm>
            <a:off x="7680960" y="1307592"/>
            <a:ext cx="219456" cy="219456"/>
          </a:xfrm>
          <a:prstGeom prst="ellipse">
            <a:avLst/>
          </a:prstGeom>
          <a:ln w="12700">
            <a:solidFill>
              <a:srgbClr val="9C7222"/>
            </a:solidFill>
            <a:prstDash val="solid"/>
          </a:ln>
        </p:spPr>
      </p:sp>
      <p:sp>
        <p:nvSpPr>
          <p:cNvPr id="12" name="Text 9"/>
          <p:cNvSpPr txBox="1"/>
          <p:nvPr/>
        </p:nvSpPr>
        <p:spPr>
          <a:xfrm>
            <a:off x="7680960" y="1307592"/>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1</a:t>
            </a:r>
            <a:endParaRPr lang="en-US" sz="850" dirty="0"/>
          </a:p>
        </p:txBody>
      </p:sp>
      <p:sp>
        <p:nvSpPr>
          <p:cNvPr id="13" name="Text 10"/>
          <p:cNvSpPr txBox="1"/>
          <p:nvPr/>
        </p:nvSpPr>
        <p:spPr>
          <a:xfrm>
            <a:off x="7991856" y="1280160"/>
            <a:ext cx="3666744" cy="872490"/>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What it says when the file is not ours. </a:t>
            </a:r>
            <a:pPr indent="0" marL="0">
              <a:buNone/>
            </a:pPr>
            <a:r>
              <a:rPr lang="en-US" sz="1050" dirty="0">
                <a:solidFill>
                  <a:srgbClr val="6B6559"/>
                </a:solidFill>
                <a:latin typeface="Calibri" pitchFamily="34" charset="0"/>
                <a:ea typeface="Calibri" pitchFamily="34" charset="-122"/>
                <a:cs typeface="Calibri" pitchFamily="34" charset="-120"/>
              </a:rPr>
              <a:t>There is a third outcome, different from this one and from a match: the PDF carries the watermark but its content has been altered. It says so explicitly rather than passing it.</a:t>
            </a:r>
            <a:endParaRPr lang="en-US" sz="1050" dirty="0"/>
          </a:p>
        </p:txBody>
      </p:sp>
      <p:sp>
        <p:nvSpPr>
          <p:cNvPr id="14" name="Text 11"/>
          <p:cNvSpPr txBox="1"/>
          <p:nvPr/>
        </p:nvSpPr>
        <p:spPr>
          <a:xfrm>
            <a:off x="502920" y="6190488"/>
            <a:ext cx="6342075" cy="219456"/>
          </a:xfrm>
          <a:prstGeom prst="rect">
            <a:avLst/>
          </a:prstGeom>
          <a:noFill/>
          <a:ln/>
        </p:spPr>
        <p:txBody>
          <a:bodyPr wrap="square" lIns="0" tIns="0" rIns="0" bIns="0" rtlCol="0" anchor="t"/>
          <a:lstStyle/>
          <a:p>
            <a:pPr indent="0" marL="0">
              <a:buNone/>
            </a:pPr>
            <a:r>
              <a:rPr lang="en-US" sz="800" dirty="0">
                <a:solidFill>
                  <a:srgbClr val="6B6559"/>
                </a:solidFill>
                <a:latin typeface="Courier New" pitchFamily="34" charset="0"/>
                <a:ea typeface="Courier New" pitchFamily="34" charset="-122"/>
                <a:cs typeface="Courier New" pitchFamily="34" charset="-120"/>
              </a:rPr>
              <a:t>/verify/aegis/asset/certification/ — uploading an unrelated PDF</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10896"/>
            <a:ext cx="640080" cy="566928"/>
          </a:xfrm>
          <a:prstGeom prst="rect">
            <a:avLst/>
          </a:prstGeom>
          <a:noFill/>
          <a:ln/>
        </p:spPr>
        <p:txBody>
          <a:bodyPr wrap="square" lIns="0" tIns="0" rIns="0" bIns="0" rtlCol="0" anchor="t"/>
          <a:lstStyle/>
          <a:p>
            <a:pPr algn="l" indent="0" marL="0">
              <a:buNone/>
            </a:pPr>
            <a:r>
              <a:rPr lang="en-US" sz="4000" dirty="0">
                <a:solidFill>
                  <a:srgbClr val="9C7222"/>
                </a:solidFill>
                <a:latin typeface="Cambria" pitchFamily="34" charset="0"/>
                <a:ea typeface="Cambria" pitchFamily="34" charset="-122"/>
                <a:cs typeface="Cambria" pitchFamily="34" charset="-120"/>
              </a:rPr>
              <a:t>5</a:t>
            </a:r>
            <a:endParaRPr lang="en-US" sz="4000" dirty="0"/>
          </a:p>
        </p:txBody>
      </p:sp>
      <p:sp>
        <p:nvSpPr>
          <p:cNvPr id="3" name="Text 1"/>
          <p:cNvSpPr txBox="1"/>
          <p:nvPr/>
        </p:nvSpPr>
        <p:spPr>
          <a:xfrm>
            <a:off x="502920" y="859536"/>
            <a:ext cx="822960" cy="219456"/>
          </a:xfrm>
          <a:prstGeom prst="rect">
            <a:avLst/>
          </a:prstGeom>
          <a:noFill/>
          <a:ln/>
        </p:spPr>
        <p:txBody>
          <a:bodyPr wrap="square" lIns="0" tIns="0" rIns="0" bIns="0" rtlCol="0" anchor="ctr"/>
          <a:lstStyle/>
          <a:p>
            <a:pPr indent="0" marL="0">
              <a:buNone/>
            </a:pPr>
            <a:endParaRPr lang="en-US" sz="800" dirty="0"/>
          </a:p>
        </p:txBody>
      </p:sp>
      <p:sp>
        <p:nvSpPr>
          <p:cNvPr id="4" name="Text 2"/>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The result screen, read part by part</a:t>
            </a:r>
            <a:endParaRPr lang="en-US" sz="2600" dirty="0"/>
          </a:p>
        </p:txBody>
      </p:sp>
      <p:sp>
        <p:nvSpPr>
          <p:cNvPr id="5" name="Text 3"/>
          <p:cNvSpPr txBox="1"/>
          <p:nvPr/>
        </p:nvSpPr>
        <p:spPr>
          <a:xfrm>
            <a:off x="1645920" y="841248"/>
            <a:ext cx="10012680" cy="274320"/>
          </a:xfrm>
          <a:prstGeom prst="rect">
            <a:avLst/>
          </a:prstGeom>
          <a:noFill/>
          <a:ln/>
        </p:spPr>
        <p:txBody>
          <a:bodyPr wrap="square" lIns="0" tIns="0" rIns="0" bIns="0" rtlCol="0" anchor="t"/>
          <a:lstStyle/>
          <a:p>
            <a:pPr indent="0" marL="0">
              <a:buNone/>
            </a:pPr>
            <a:r>
              <a:rPr lang="en-US" sz="1200" dirty="0">
                <a:solidFill>
                  <a:srgbClr val="6B6559"/>
                </a:solidFill>
                <a:latin typeface="Calibri" pitchFamily="34" charset="0"/>
                <a:ea typeface="Calibri" pitchFamily="34" charset="-122"/>
                <a:cs typeface="Calibri" pitchFamily="34" charset="-120"/>
              </a:rPr>
              <a:t>This is the screen an auditor will look at. It pays to know what each part is.</a:t>
            </a:r>
            <a:endParaRPr lang="en-US" sz="1200" dirty="0"/>
          </a:p>
        </p:txBody>
      </p:sp>
      <p:pic>
        <p:nvPicPr>
          <p:cNvPr id="6" name="Image 0" descr="/tmp/claude-0/-home-user-gea-module-0/05c86c8b-2f1b-52ff-8f50-3243e9e36b63/scratchpad/deck_img/res_a.png">    </p:cNvPr>
          <p:cNvPicPr>
            <a:picLocks noChangeAspect="1"/>
          </p:cNvPicPr>
          <p:nvPr/>
        </p:nvPicPr>
        <p:blipFill>
          <a:blip r:embed="rId1"/>
          <a:stretch>
            <a:fillRect/>
          </a:stretch>
        </p:blipFill>
        <p:spPr>
          <a:xfrm>
            <a:off x="502920" y="1280160"/>
            <a:ext cx="6858000" cy="5092986"/>
          </a:xfrm>
          <a:prstGeom prst="rect">
            <a:avLst/>
          </a:prstGeom>
        </p:spPr>
      </p:pic>
      <p:sp>
        <p:nvSpPr>
          <p:cNvPr id="7" name="Shape 4"/>
          <p:cNvSpPr/>
          <p:nvPr/>
        </p:nvSpPr>
        <p:spPr>
          <a:xfrm>
            <a:off x="502920" y="1280160"/>
            <a:ext cx="6858000" cy="5092986"/>
          </a:xfrm>
          <a:prstGeom prst="rect">
            <a:avLst/>
          </a:prstGeom>
          <a:ln w="9525">
            <a:solidFill>
              <a:srgbClr val="DED8CB"/>
            </a:solidFill>
            <a:prstDash val="solid"/>
          </a:ln>
        </p:spPr>
      </p:sp>
      <p:sp>
        <p:nvSpPr>
          <p:cNvPr id="8" name="Shape 5"/>
          <p:cNvSpPr/>
          <p:nvPr/>
        </p:nvSpPr>
        <p:spPr>
          <a:xfrm>
            <a:off x="2796921" y="4158716"/>
            <a:ext cx="4374032" cy="143622"/>
          </a:xfrm>
          <a:prstGeom prst="roundRect">
            <a:avLst>
              <a:gd name="adj" fmla="val 19100"/>
            </a:avLst>
          </a:prstGeom>
          <a:ln w="19050">
            <a:solidFill>
              <a:srgbClr val="9C7222"/>
            </a:solidFill>
            <a:prstDash val="solid"/>
          </a:ln>
        </p:spPr>
      </p:sp>
      <p:sp>
        <p:nvSpPr>
          <p:cNvPr id="9" name="Shape 6"/>
          <p:cNvSpPr/>
          <p:nvPr/>
        </p:nvSpPr>
        <p:spPr>
          <a:xfrm>
            <a:off x="2678049" y="4039844"/>
            <a:ext cx="237744" cy="237744"/>
          </a:xfrm>
          <a:prstGeom prst="ellipse">
            <a:avLst/>
          </a:prstGeom>
          <a:solidFill>
            <a:srgbClr val="9C7222"/>
          </a:solidFill>
          <a:ln w="12700">
            <a:solidFill>
              <a:srgbClr val="FFFFFF"/>
            </a:solidFill>
            <a:prstDash val="solid"/>
          </a:ln>
        </p:spPr>
      </p:sp>
      <p:sp>
        <p:nvSpPr>
          <p:cNvPr id="10" name="Text 7"/>
          <p:cNvSpPr txBox="1"/>
          <p:nvPr/>
        </p:nvSpPr>
        <p:spPr>
          <a:xfrm>
            <a:off x="2678049" y="403984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1</a:t>
            </a:r>
            <a:endParaRPr lang="en-US" sz="900" dirty="0"/>
          </a:p>
        </p:txBody>
      </p:sp>
      <p:sp>
        <p:nvSpPr>
          <p:cNvPr id="11" name="Shape 8"/>
          <p:cNvSpPr/>
          <p:nvPr/>
        </p:nvSpPr>
        <p:spPr>
          <a:xfrm>
            <a:off x="2796921" y="4729640"/>
            <a:ext cx="4374032" cy="143622"/>
          </a:xfrm>
          <a:prstGeom prst="roundRect">
            <a:avLst>
              <a:gd name="adj" fmla="val 19100"/>
            </a:avLst>
          </a:prstGeom>
          <a:ln w="19050">
            <a:solidFill>
              <a:srgbClr val="9C7222"/>
            </a:solidFill>
            <a:prstDash val="solid"/>
          </a:ln>
        </p:spPr>
      </p:sp>
      <p:sp>
        <p:nvSpPr>
          <p:cNvPr id="12" name="Shape 9"/>
          <p:cNvSpPr/>
          <p:nvPr/>
        </p:nvSpPr>
        <p:spPr>
          <a:xfrm>
            <a:off x="2678049" y="4610768"/>
            <a:ext cx="237744" cy="237744"/>
          </a:xfrm>
          <a:prstGeom prst="ellipse">
            <a:avLst/>
          </a:prstGeom>
          <a:solidFill>
            <a:srgbClr val="9C7222"/>
          </a:solidFill>
          <a:ln w="12700">
            <a:solidFill>
              <a:srgbClr val="FFFFFF"/>
            </a:solidFill>
            <a:prstDash val="solid"/>
          </a:ln>
        </p:spPr>
      </p:sp>
      <p:sp>
        <p:nvSpPr>
          <p:cNvPr id="13" name="Text 10"/>
          <p:cNvSpPr txBox="1"/>
          <p:nvPr/>
        </p:nvSpPr>
        <p:spPr>
          <a:xfrm>
            <a:off x="2678049" y="461076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2</a:t>
            </a:r>
            <a:endParaRPr lang="en-US" sz="900" dirty="0"/>
          </a:p>
        </p:txBody>
      </p:sp>
      <p:sp>
        <p:nvSpPr>
          <p:cNvPr id="14" name="Shape 11"/>
          <p:cNvSpPr/>
          <p:nvPr/>
        </p:nvSpPr>
        <p:spPr>
          <a:xfrm>
            <a:off x="3837280" y="4919099"/>
            <a:ext cx="2361209" cy="128016"/>
          </a:xfrm>
          <a:prstGeom prst="roundRect">
            <a:avLst>
              <a:gd name="adj" fmla="val 21429"/>
            </a:avLst>
          </a:prstGeom>
          <a:ln w="19050">
            <a:solidFill>
              <a:srgbClr val="9C7222"/>
            </a:solidFill>
            <a:prstDash val="solid"/>
          </a:ln>
        </p:spPr>
      </p:sp>
      <p:sp>
        <p:nvSpPr>
          <p:cNvPr id="15" name="Shape 12"/>
          <p:cNvSpPr/>
          <p:nvPr/>
        </p:nvSpPr>
        <p:spPr>
          <a:xfrm>
            <a:off x="3718408" y="4800227"/>
            <a:ext cx="237744" cy="237744"/>
          </a:xfrm>
          <a:prstGeom prst="ellipse">
            <a:avLst/>
          </a:prstGeom>
          <a:solidFill>
            <a:srgbClr val="9C7222"/>
          </a:solidFill>
          <a:ln w="12700">
            <a:solidFill>
              <a:srgbClr val="FFFFFF"/>
            </a:solidFill>
            <a:prstDash val="solid"/>
          </a:ln>
        </p:spPr>
      </p:sp>
      <p:sp>
        <p:nvSpPr>
          <p:cNvPr id="16" name="Text 13"/>
          <p:cNvSpPr txBox="1"/>
          <p:nvPr/>
        </p:nvSpPr>
        <p:spPr>
          <a:xfrm>
            <a:off x="3718408" y="4800227"/>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3</a:t>
            </a:r>
            <a:endParaRPr lang="en-US" sz="900" dirty="0"/>
          </a:p>
        </p:txBody>
      </p:sp>
      <p:sp>
        <p:nvSpPr>
          <p:cNvPr id="17" name="Shape 14"/>
          <p:cNvSpPr/>
          <p:nvPr/>
        </p:nvSpPr>
        <p:spPr>
          <a:xfrm>
            <a:off x="6773875" y="5555213"/>
            <a:ext cx="262661" cy="128016"/>
          </a:xfrm>
          <a:prstGeom prst="roundRect">
            <a:avLst>
              <a:gd name="adj" fmla="val 21429"/>
            </a:avLst>
          </a:prstGeom>
          <a:ln w="19050">
            <a:solidFill>
              <a:srgbClr val="9C7222"/>
            </a:solidFill>
            <a:prstDash val="solid"/>
          </a:ln>
        </p:spPr>
      </p:sp>
      <p:sp>
        <p:nvSpPr>
          <p:cNvPr id="18" name="Shape 15"/>
          <p:cNvSpPr/>
          <p:nvPr/>
        </p:nvSpPr>
        <p:spPr>
          <a:xfrm>
            <a:off x="6655003" y="5436341"/>
            <a:ext cx="237744" cy="237744"/>
          </a:xfrm>
          <a:prstGeom prst="ellipse">
            <a:avLst/>
          </a:prstGeom>
          <a:solidFill>
            <a:srgbClr val="9C7222"/>
          </a:solidFill>
          <a:ln w="12700">
            <a:solidFill>
              <a:srgbClr val="FFFFFF"/>
            </a:solidFill>
            <a:prstDash val="solid"/>
          </a:ln>
        </p:spPr>
      </p:sp>
      <p:sp>
        <p:nvSpPr>
          <p:cNvPr id="19" name="Text 16"/>
          <p:cNvSpPr txBox="1"/>
          <p:nvPr/>
        </p:nvSpPr>
        <p:spPr>
          <a:xfrm>
            <a:off x="6655003" y="5436341"/>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4</a:t>
            </a:r>
            <a:endParaRPr lang="en-US" sz="900" dirty="0"/>
          </a:p>
        </p:txBody>
      </p:sp>
      <p:sp>
        <p:nvSpPr>
          <p:cNvPr id="20" name="Shape 17"/>
          <p:cNvSpPr/>
          <p:nvPr/>
        </p:nvSpPr>
        <p:spPr>
          <a:xfrm>
            <a:off x="7680960" y="1307592"/>
            <a:ext cx="219456" cy="219456"/>
          </a:xfrm>
          <a:prstGeom prst="ellipse">
            <a:avLst/>
          </a:prstGeom>
          <a:ln w="12700">
            <a:solidFill>
              <a:srgbClr val="9C7222"/>
            </a:solidFill>
            <a:prstDash val="solid"/>
          </a:ln>
        </p:spPr>
      </p:sp>
      <p:sp>
        <p:nvSpPr>
          <p:cNvPr id="21" name="Text 18"/>
          <p:cNvSpPr txBox="1"/>
          <p:nvPr/>
        </p:nvSpPr>
        <p:spPr>
          <a:xfrm>
            <a:off x="7680960" y="1307592"/>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1</a:t>
            </a:r>
            <a:endParaRPr lang="en-US" sz="850" dirty="0"/>
          </a:p>
        </p:txBody>
      </p:sp>
      <p:sp>
        <p:nvSpPr>
          <p:cNvPr id="22" name="Text 19"/>
          <p:cNvSpPr txBox="1"/>
          <p:nvPr/>
        </p:nvSpPr>
        <p:spPr>
          <a:xfrm>
            <a:off x="7991856" y="1280160"/>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Public verification code. </a:t>
            </a:r>
            <a:pPr indent="0" marL="0">
              <a:buNone/>
            </a:pPr>
            <a:r>
              <a:rPr lang="en-US" sz="1050" dirty="0">
                <a:solidFill>
                  <a:srgbClr val="6B6559"/>
                </a:solidFill>
                <a:latin typeface="Calibri" pitchFamily="34" charset="0"/>
                <a:ea typeface="Calibri" pitchFamily="34" charset="-122"/>
                <a:cs typeface="Calibri" pitchFamily="34" charset="-120"/>
              </a:rPr>
              <a:t>Twelve characters. This is what you quote over the phone or in an email so the other side can reach the document.</a:t>
            </a:r>
            <a:endParaRPr lang="en-US" sz="1050" dirty="0"/>
          </a:p>
        </p:txBody>
      </p:sp>
      <p:sp>
        <p:nvSpPr>
          <p:cNvPr id="23" name="Shape 20"/>
          <p:cNvSpPr/>
          <p:nvPr/>
        </p:nvSpPr>
        <p:spPr>
          <a:xfrm>
            <a:off x="7680960" y="2068830"/>
            <a:ext cx="219456" cy="219456"/>
          </a:xfrm>
          <a:prstGeom prst="ellipse">
            <a:avLst/>
          </a:prstGeom>
          <a:ln w="12700">
            <a:solidFill>
              <a:srgbClr val="9C7222"/>
            </a:solidFill>
            <a:prstDash val="solid"/>
          </a:ln>
        </p:spPr>
      </p:sp>
      <p:sp>
        <p:nvSpPr>
          <p:cNvPr id="24" name="Text 21"/>
          <p:cNvSpPr txBox="1"/>
          <p:nvPr/>
        </p:nvSpPr>
        <p:spPr>
          <a:xfrm>
            <a:off x="7680960" y="2068830"/>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2</a:t>
            </a:r>
            <a:endParaRPr lang="en-US" sz="850" dirty="0"/>
          </a:p>
        </p:txBody>
      </p:sp>
      <p:sp>
        <p:nvSpPr>
          <p:cNvPr id="25" name="Text 22"/>
          <p:cNvSpPr txBox="1"/>
          <p:nvPr/>
        </p:nvSpPr>
        <p:spPr>
          <a:xfrm>
            <a:off x="7991856" y="2041398"/>
            <a:ext cx="3666744" cy="707136"/>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Full certification code. </a:t>
            </a:r>
            <a:pPr indent="0" marL="0">
              <a:buNone/>
            </a:pPr>
            <a:r>
              <a:rPr lang="en-US" sz="1050" dirty="0">
                <a:solidFill>
                  <a:srgbClr val="6B6559"/>
                </a:solidFill>
                <a:latin typeface="Calibri" pitchFamily="34" charset="0"/>
                <a:ea typeface="Calibri" pitchFamily="34" charset="-122"/>
                <a:cs typeface="Calibri" pitchFamily="34" charset="-120"/>
              </a:rPr>
              <a:t>Issuer tax ID · initials and sequence · fingerprint fragment · date · public code. It is the same text printed in the barcode on the PDF.</a:t>
            </a:r>
            <a:endParaRPr lang="en-US" sz="1050" dirty="0"/>
          </a:p>
        </p:txBody>
      </p:sp>
      <p:sp>
        <p:nvSpPr>
          <p:cNvPr id="26" name="Shape 23"/>
          <p:cNvSpPr/>
          <p:nvPr/>
        </p:nvSpPr>
        <p:spPr>
          <a:xfrm>
            <a:off x="7680960" y="2995422"/>
            <a:ext cx="219456" cy="219456"/>
          </a:xfrm>
          <a:prstGeom prst="ellipse">
            <a:avLst/>
          </a:prstGeom>
          <a:ln w="12700">
            <a:solidFill>
              <a:srgbClr val="9C7222"/>
            </a:solidFill>
            <a:prstDash val="solid"/>
          </a:ln>
        </p:spPr>
      </p:sp>
      <p:sp>
        <p:nvSpPr>
          <p:cNvPr id="27" name="Text 24"/>
          <p:cNvSpPr txBox="1"/>
          <p:nvPr/>
        </p:nvSpPr>
        <p:spPr>
          <a:xfrm>
            <a:off x="7680960" y="2995422"/>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3</a:t>
            </a:r>
            <a:endParaRPr lang="en-US" sz="850" dirty="0"/>
          </a:p>
        </p:txBody>
      </p:sp>
      <p:sp>
        <p:nvSpPr>
          <p:cNvPr id="28" name="Text 25"/>
          <p:cNvSpPr txBox="1"/>
          <p:nvPr/>
        </p:nvSpPr>
        <p:spPr>
          <a:xfrm>
            <a:off x="7991856" y="2967990"/>
            <a:ext cx="3666744" cy="376428"/>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Download of the distributable copy. </a:t>
            </a:r>
            <a:pPr indent="0" marL="0">
              <a:buNone/>
            </a:pPr>
            <a:r>
              <a:rPr lang="en-US" sz="1050" dirty="0">
                <a:solidFill>
                  <a:srgbClr val="6B6559"/>
                </a:solidFill>
                <a:latin typeface="Calibri" pitchFamily="34" charset="0"/>
                <a:ea typeface="Calibri" pitchFamily="34" charset="-122"/>
                <a:cs typeface="Calibri" pitchFamily="34" charset="-120"/>
              </a:rPr>
              <a:t>This is the one you share. It carries the invisible watermark.</a:t>
            </a:r>
            <a:endParaRPr lang="en-US" sz="1050" dirty="0"/>
          </a:p>
        </p:txBody>
      </p:sp>
      <p:sp>
        <p:nvSpPr>
          <p:cNvPr id="29" name="Shape 26"/>
          <p:cNvSpPr/>
          <p:nvPr/>
        </p:nvSpPr>
        <p:spPr>
          <a:xfrm>
            <a:off x="7680960" y="3591306"/>
            <a:ext cx="219456" cy="219456"/>
          </a:xfrm>
          <a:prstGeom prst="ellipse">
            <a:avLst/>
          </a:prstGeom>
          <a:ln w="12700">
            <a:solidFill>
              <a:srgbClr val="9C7222"/>
            </a:solidFill>
            <a:prstDash val="solid"/>
          </a:ln>
        </p:spPr>
      </p:sp>
      <p:sp>
        <p:nvSpPr>
          <p:cNvPr id="30" name="Text 27"/>
          <p:cNvSpPr txBox="1"/>
          <p:nvPr/>
        </p:nvSpPr>
        <p:spPr>
          <a:xfrm>
            <a:off x="7680960" y="3591306"/>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4</a:t>
            </a:r>
            <a:endParaRPr lang="en-US" sz="850" dirty="0"/>
          </a:p>
        </p:txBody>
      </p:sp>
      <p:sp>
        <p:nvSpPr>
          <p:cNvPr id="31" name="Text 28"/>
          <p:cNvSpPr txBox="1"/>
          <p:nvPr/>
        </p:nvSpPr>
        <p:spPr>
          <a:xfrm>
            <a:off x="7991856" y="3563874"/>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Status, today. </a:t>
            </a:r>
            <a:pPr indent="0" marL="0">
              <a:buNone/>
            </a:pPr>
            <a:r>
              <a:rPr lang="en-US" sz="1050" dirty="0">
                <a:solidFill>
                  <a:srgbClr val="6B6559"/>
                </a:solidFill>
                <a:latin typeface="Calibri" pitchFamily="34" charset="0"/>
                <a:ea typeface="Calibri" pitchFamily="34" charset="-122"/>
                <a:cs typeface="Calibri" pitchFamily="34" charset="-120"/>
              </a:rPr>
              <a:t>Expiry and revocation are not frozen into the paper: they are checked here, which is always the live version.</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10896"/>
            <a:ext cx="640080" cy="566928"/>
          </a:xfrm>
          <a:prstGeom prst="rect">
            <a:avLst/>
          </a:prstGeom>
          <a:noFill/>
          <a:ln/>
        </p:spPr>
        <p:txBody>
          <a:bodyPr wrap="square" lIns="0" tIns="0" rIns="0" bIns="0" rtlCol="0" anchor="t"/>
          <a:lstStyle/>
          <a:p>
            <a:pPr algn="l" indent="0" marL="0">
              <a:buNone/>
            </a:pPr>
            <a:r>
              <a:rPr lang="en-US" sz="4000" dirty="0">
                <a:solidFill>
                  <a:srgbClr val="9C7222"/>
                </a:solidFill>
                <a:latin typeface="Cambria" pitchFamily="34" charset="0"/>
                <a:ea typeface="Cambria" pitchFamily="34" charset="-122"/>
                <a:cs typeface="Cambria" pitchFamily="34" charset="-120"/>
              </a:rPr>
              <a:t>5</a:t>
            </a:r>
            <a:endParaRPr lang="en-US" sz="4000" dirty="0"/>
          </a:p>
        </p:txBody>
      </p:sp>
      <p:sp>
        <p:nvSpPr>
          <p:cNvPr id="3" name="Text 1"/>
          <p:cNvSpPr txBox="1"/>
          <p:nvPr/>
        </p:nvSpPr>
        <p:spPr>
          <a:xfrm>
            <a:off x="502920" y="859536"/>
            <a:ext cx="822960" cy="219456"/>
          </a:xfrm>
          <a:prstGeom prst="rect">
            <a:avLst/>
          </a:prstGeom>
          <a:noFill/>
          <a:ln/>
        </p:spPr>
        <p:txBody>
          <a:bodyPr wrap="square" lIns="0" tIns="0" rIns="0" bIns="0" rtlCol="0" anchor="ctr"/>
          <a:lstStyle/>
          <a:p>
            <a:pPr indent="0" marL="0">
              <a:buNone/>
            </a:pPr>
            <a:endParaRPr lang="en-US" sz="800" dirty="0"/>
          </a:p>
        </p:txBody>
      </p:sp>
      <p:sp>
        <p:nvSpPr>
          <p:cNvPr id="4" name="Text 2"/>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The result screen, read part by part</a:t>
            </a:r>
            <a:endParaRPr lang="en-US" sz="2600" dirty="0"/>
          </a:p>
        </p:txBody>
      </p:sp>
      <p:sp>
        <p:nvSpPr>
          <p:cNvPr id="5" name="Text 3"/>
          <p:cNvSpPr txBox="1"/>
          <p:nvPr/>
        </p:nvSpPr>
        <p:spPr>
          <a:xfrm>
            <a:off x="1645920" y="841248"/>
            <a:ext cx="10012680" cy="274320"/>
          </a:xfrm>
          <a:prstGeom prst="rect">
            <a:avLst/>
          </a:prstGeom>
          <a:noFill/>
          <a:ln/>
        </p:spPr>
        <p:txBody>
          <a:bodyPr wrap="square" lIns="0" tIns="0" rIns="0" bIns="0" rtlCol="0" anchor="t"/>
          <a:lstStyle/>
          <a:p>
            <a:pPr indent="0" marL="0">
              <a:buNone/>
            </a:pPr>
            <a:r>
              <a:rPr lang="en-US" sz="1200" dirty="0">
                <a:solidFill>
                  <a:srgbClr val="6B6559"/>
                </a:solidFill>
                <a:latin typeface="Calibri" pitchFamily="34" charset="0"/>
                <a:ea typeface="Calibri" pitchFamily="34" charset="-122"/>
                <a:cs typeface="Calibri" pitchFamily="34" charset="-120"/>
              </a:rPr>
              <a:t>This is the screen an auditor will look at. It pays to know what each part is.</a:t>
            </a:r>
            <a:endParaRPr lang="en-US" sz="1200" dirty="0"/>
          </a:p>
        </p:txBody>
      </p:sp>
      <p:pic>
        <p:nvPicPr>
          <p:cNvPr id="6" name="Image 0" descr="/tmp/claude-0/-home-user-gea-module-0/05c86c8b-2f1b-52ff-8f50-3243e9e36b63/scratchpad/deck_img/res_b.png">    </p:cNvPr>
          <p:cNvPicPr>
            <a:picLocks noChangeAspect="1"/>
          </p:cNvPicPr>
          <p:nvPr/>
        </p:nvPicPr>
        <p:blipFill>
          <a:blip r:embed="rId1"/>
          <a:stretch>
            <a:fillRect/>
          </a:stretch>
        </p:blipFill>
        <p:spPr>
          <a:xfrm>
            <a:off x="502920" y="1280160"/>
            <a:ext cx="6858000" cy="2620778"/>
          </a:xfrm>
          <a:prstGeom prst="rect">
            <a:avLst/>
          </a:prstGeom>
        </p:spPr>
      </p:pic>
      <p:sp>
        <p:nvSpPr>
          <p:cNvPr id="7" name="Shape 4"/>
          <p:cNvSpPr/>
          <p:nvPr/>
        </p:nvSpPr>
        <p:spPr>
          <a:xfrm>
            <a:off x="502920" y="1280160"/>
            <a:ext cx="6858000" cy="2620778"/>
          </a:xfrm>
          <a:prstGeom prst="rect">
            <a:avLst/>
          </a:prstGeom>
          <a:ln w="9525">
            <a:solidFill>
              <a:srgbClr val="DED8CB"/>
            </a:solidFill>
            <a:prstDash val="solid"/>
          </a:ln>
        </p:spPr>
      </p:sp>
      <p:sp>
        <p:nvSpPr>
          <p:cNvPr id="8" name="Shape 5"/>
          <p:cNvSpPr/>
          <p:nvPr/>
        </p:nvSpPr>
        <p:spPr>
          <a:xfrm>
            <a:off x="2931338" y="2027868"/>
            <a:ext cx="4105199" cy="712328"/>
          </a:xfrm>
          <a:prstGeom prst="roundRect">
            <a:avLst>
              <a:gd name="adj" fmla="val 3851"/>
            </a:avLst>
          </a:prstGeom>
          <a:ln w="19050">
            <a:solidFill>
              <a:srgbClr val="9C7222"/>
            </a:solidFill>
            <a:prstDash val="solid"/>
          </a:ln>
        </p:spPr>
      </p:sp>
      <p:sp>
        <p:nvSpPr>
          <p:cNvPr id="9" name="Shape 6"/>
          <p:cNvSpPr/>
          <p:nvPr/>
        </p:nvSpPr>
        <p:spPr>
          <a:xfrm>
            <a:off x="2812466" y="1908996"/>
            <a:ext cx="237744" cy="237744"/>
          </a:xfrm>
          <a:prstGeom prst="ellipse">
            <a:avLst/>
          </a:prstGeom>
          <a:solidFill>
            <a:srgbClr val="9C7222"/>
          </a:solidFill>
          <a:ln w="12700">
            <a:solidFill>
              <a:srgbClr val="FFFFFF"/>
            </a:solidFill>
            <a:prstDash val="solid"/>
          </a:ln>
        </p:spPr>
      </p:sp>
      <p:sp>
        <p:nvSpPr>
          <p:cNvPr id="10" name="Text 7"/>
          <p:cNvSpPr txBox="1"/>
          <p:nvPr/>
        </p:nvSpPr>
        <p:spPr>
          <a:xfrm>
            <a:off x="2812466" y="190899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1</a:t>
            </a:r>
            <a:endParaRPr lang="en-US" sz="900" dirty="0"/>
          </a:p>
        </p:txBody>
      </p:sp>
      <p:sp>
        <p:nvSpPr>
          <p:cNvPr id="11" name="Shape 8"/>
          <p:cNvSpPr/>
          <p:nvPr/>
        </p:nvSpPr>
        <p:spPr>
          <a:xfrm>
            <a:off x="2931338" y="2787894"/>
            <a:ext cx="4105199" cy="249760"/>
          </a:xfrm>
          <a:prstGeom prst="roundRect">
            <a:avLst>
              <a:gd name="adj" fmla="val 10983"/>
            </a:avLst>
          </a:prstGeom>
          <a:ln w="19050">
            <a:solidFill>
              <a:srgbClr val="9C7222"/>
            </a:solidFill>
            <a:prstDash val="solid"/>
          </a:ln>
        </p:spPr>
      </p:sp>
      <p:sp>
        <p:nvSpPr>
          <p:cNvPr id="12" name="Shape 9"/>
          <p:cNvSpPr/>
          <p:nvPr/>
        </p:nvSpPr>
        <p:spPr>
          <a:xfrm>
            <a:off x="2812466" y="2669022"/>
            <a:ext cx="237744" cy="237744"/>
          </a:xfrm>
          <a:prstGeom prst="ellipse">
            <a:avLst/>
          </a:prstGeom>
          <a:solidFill>
            <a:srgbClr val="9C7222"/>
          </a:solidFill>
          <a:ln w="12700">
            <a:solidFill>
              <a:srgbClr val="FFFFFF"/>
            </a:solidFill>
            <a:prstDash val="solid"/>
          </a:ln>
        </p:spPr>
      </p:sp>
      <p:sp>
        <p:nvSpPr>
          <p:cNvPr id="13" name="Text 10"/>
          <p:cNvSpPr txBox="1"/>
          <p:nvPr/>
        </p:nvSpPr>
        <p:spPr>
          <a:xfrm>
            <a:off x="2812466" y="266902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2</a:t>
            </a:r>
            <a:endParaRPr lang="en-US" sz="900" dirty="0"/>
          </a:p>
        </p:txBody>
      </p:sp>
      <p:sp>
        <p:nvSpPr>
          <p:cNvPr id="14" name="Shape 11"/>
          <p:cNvSpPr/>
          <p:nvPr/>
        </p:nvSpPr>
        <p:spPr>
          <a:xfrm>
            <a:off x="2931338" y="3131740"/>
            <a:ext cx="1436065" cy="177165"/>
          </a:xfrm>
          <a:prstGeom prst="roundRect">
            <a:avLst>
              <a:gd name="adj" fmla="val 15484"/>
            </a:avLst>
          </a:prstGeom>
          <a:ln w="19050">
            <a:solidFill>
              <a:srgbClr val="9C7222"/>
            </a:solidFill>
            <a:prstDash val="solid"/>
          </a:ln>
        </p:spPr>
      </p:sp>
      <p:sp>
        <p:nvSpPr>
          <p:cNvPr id="15" name="Shape 12"/>
          <p:cNvSpPr/>
          <p:nvPr/>
        </p:nvSpPr>
        <p:spPr>
          <a:xfrm>
            <a:off x="2812466" y="3012868"/>
            <a:ext cx="237744" cy="237744"/>
          </a:xfrm>
          <a:prstGeom prst="ellipse">
            <a:avLst/>
          </a:prstGeom>
          <a:solidFill>
            <a:srgbClr val="9C7222"/>
          </a:solidFill>
          <a:ln w="12700">
            <a:solidFill>
              <a:srgbClr val="FFFFFF"/>
            </a:solidFill>
            <a:prstDash val="solid"/>
          </a:ln>
        </p:spPr>
      </p:sp>
      <p:sp>
        <p:nvSpPr>
          <p:cNvPr id="16" name="Text 13"/>
          <p:cNvSpPr txBox="1"/>
          <p:nvPr/>
        </p:nvSpPr>
        <p:spPr>
          <a:xfrm>
            <a:off x="2812466" y="301286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3</a:t>
            </a:r>
            <a:endParaRPr lang="en-US" sz="900" dirty="0"/>
          </a:p>
        </p:txBody>
      </p:sp>
      <p:sp>
        <p:nvSpPr>
          <p:cNvPr id="17" name="Shape 14"/>
          <p:cNvSpPr/>
          <p:nvPr/>
        </p:nvSpPr>
        <p:spPr>
          <a:xfrm>
            <a:off x="7680960" y="1307592"/>
            <a:ext cx="219456" cy="219456"/>
          </a:xfrm>
          <a:prstGeom prst="ellipse">
            <a:avLst/>
          </a:prstGeom>
          <a:ln w="12700">
            <a:solidFill>
              <a:srgbClr val="9C7222"/>
            </a:solidFill>
            <a:prstDash val="solid"/>
          </a:ln>
        </p:spPr>
      </p:sp>
      <p:sp>
        <p:nvSpPr>
          <p:cNvPr id="18" name="Text 15"/>
          <p:cNvSpPr txBox="1"/>
          <p:nvPr/>
        </p:nvSpPr>
        <p:spPr>
          <a:xfrm>
            <a:off x="7680960" y="1307592"/>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1</a:t>
            </a:r>
            <a:endParaRPr lang="en-US" sz="850" dirty="0"/>
          </a:p>
        </p:txBody>
      </p:sp>
      <p:sp>
        <p:nvSpPr>
          <p:cNvPr id="19" name="Text 16"/>
          <p:cNvSpPr txBox="1"/>
          <p:nvPr/>
        </p:nvSpPr>
        <p:spPr>
          <a:xfrm>
            <a:off x="7991856" y="1280160"/>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The three SHA-256 fingerprints. </a:t>
            </a:r>
            <a:pPr indent="0" marL="0">
              <a:buNone/>
            </a:pPr>
            <a:r>
              <a:rPr lang="en-US" sz="1050" dirty="0">
                <a:solidFill>
                  <a:srgbClr val="6B6559"/>
                </a:solidFill>
                <a:latin typeface="Calibri" pitchFamily="34" charset="0"/>
                <a:ea typeface="Calibri" pitchFamily="34" charset="-122"/>
                <a:cs typeface="Calibri" pitchFamily="34" charset="-120"/>
              </a:rPr>
              <a:t>One per file. With them a PDF can be checked without relying on this platform at all.</a:t>
            </a:r>
            <a:endParaRPr lang="en-US" sz="1050" dirty="0"/>
          </a:p>
        </p:txBody>
      </p:sp>
      <p:sp>
        <p:nvSpPr>
          <p:cNvPr id="20" name="Shape 17"/>
          <p:cNvSpPr/>
          <p:nvPr/>
        </p:nvSpPr>
        <p:spPr>
          <a:xfrm>
            <a:off x="7680960" y="2068830"/>
            <a:ext cx="219456" cy="219456"/>
          </a:xfrm>
          <a:prstGeom prst="ellipse">
            <a:avLst/>
          </a:prstGeom>
          <a:ln w="12700">
            <a:solidFill>
              <a:srgbClr val="9C7222"/>
            </a:solidFill>
            <a:prstDash val="solid"/>
          </a:ln>
        </p:spPr>
      </p:sp>
      <p:sp>
        <p:nvSpPr>
          <p:cNvPr id="21" name="Text 18"/>
          <p:cNvSpPr txBox="1"/>
          <p:nvPr/>
        </p:nvSpPr>
        <p:spPr>
          <a:xfrm>
            <a:off x="7680960" y="2068830"/>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2</a:t>
            </a:r>
            <a:endParaRPr lang="en-US" sz="850" dirty="0"/>
          </a:p>
        </p:txBody>
      </p:sp>
      <p:sp>
        <p:nvSpPr>
          <p:cNvPr id="22" name="Text 19"/>
          <p:cNvSpPr txBox="1"/>
          <p:nvPr/>
        </p:nvSpPr>
        <p:spPr>
          <a:xfrm>
            <a:off x="7991856" y="2041398"/>
            <a:ext cx="3666744" cy="376428"/>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How to compute it yourself. </a:t>
            </a:r>
            <a:pPr indent="0" marL="0">
              <a:buNone/>
            </a:pPr>
            <a:r>
              <a:rPr lang="en-US" sz="1050" dirty="0">
                <a:solidFill>
                  <a:srgbClr val="6B6559"/>
                </a:solidFill>
                <a:latin typeface="Calibri" pitchFamily="34" charset="0"/>
                <a:ea typeface="Calibri" pitchFamily="34" charset="-122"/>
                <a:cs typeface="Calibri" pitchFamily="34" charset="-120"/>
              </a:rPr>
              <a:t>The exact command, for Linux, macOS and Windows.</a:t>
            </a:r>
            <a:endParaRPr lang="en-US" sz="1050" dirty="0"/>
          </a:p>
        </p:txBody>
      </p:sp>
      <p:sp>
        <p:nvSpPr>
          <p:cNvPr id="23" name="Shape 20"/>
          <p:cNvSpPr/>
          <p:nvPr/>
        </p:nvSpPr>
        <p:spPr>
          <a:xfrm>
            <a:off x="7680960" y="2664714"/>
            <a:ext cx="219456" cy="219456"/>
          </a:xfrm>
          <a:prstGeom prst="ellipse">
            <a:avLst/>
          </a:prstGeom>
          <a:ln w="12700">
            <a:solidFill>
              <a:srgbClr val="9C7222"/>
            </a:solidFill>
            <a:prstDash val="solid"/>
          </a:ln>
        </p:spPr>
      </p:sp>
      <p:sp>
        <p:nvSpPr>
          <p:cNvPr id="24" name="Text 21"/>
          <p:cNvSpPr txBox="1"/>
          <p:nvPr/>
        </p:nvSpPr>
        <p:spPr>
          <a:xfrm>
            <a:off x="7680960" y="2664714"/>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3</a:t>
            </a:r>
            <a:endParaRPr lang="en-US" sz="850" dirty="0"/>
          </a:p>
        </p:txBody>
      </p:sp>
      <p:sp>
        <p:nvSpPr>
          <p:cNvPr id="25" name="Text 22"/>
          <p:cNvSpPr txBox="1"/>
          <p:nvPr/>
        </p:nvSpPr>
        <p:spPr>
          <a:xfrm>
            <a:off x="7991856" y="2637282"/>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Certification record (JSON). </a:t>
            </a:r>
            <a:pPr indent="0" marL="0">
              <a:buNone/>
            </a:pPr>
            <a:r>
              <a:rPr lang="en-US" sz="1050" dirty="0">
                <a:solidFill>
                  <a:srgbClr val="6B6559"/>
                </a:solidFill>
                <a:latin typeface="Calibri" pitchFamily="34" charset="0"/>
                <a:ea typeface="Calibri" pitchFamily="34" charset="-122"/>
                <a:cs typeface="Calibri" pitchFamily="34" charset="-120"/>
              </a:rPr>
              <a:t>The document you hand an auditor: cryptographically sealed, with the fingerprints and the scope written out.</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84048"/>
            <a:ext cx="1051560" cy="548640"/>
          </a:xfrm>
          <a:prstGeom prst="rect">
            <a:avLst/>
          </a:prstGeom>
          <a:noFill/>
          <a:ln/>
        </p:spPr>
        <p:txBody>
          <a:bodyPr wrap="square" lIns="0" tIns="0" rIns="0" bIns="0" rtlCol="0" anchor="t"/>
          <a:lstStyle/>
          <a:p>
            <a:pPr indent="0" marL="0">
              <a:buNone/>
            </a:pPr>
            <a:r>
              <a:rPr lang="en-US" sz="800" spc="140" kern="0" dirty="0">
                <a:solidFill>
                  <a:srgbClr val="6B6559"/>
                </a:solidFill>
                <a:latin typeface="Courier New" pitchFamily="34" charset="0"/>
                <a:ea typeface="Courier New" pitchFamily="34" charset="-122"/>
                <a:cs typeface="Courier New" pitchFamily="34" charset="-120"/>
              </a:rPr>
              <a:t>WITHOUT RELYING ON ANYONE</a:t>
            </a:r>
            <a:endParaRPr lang="en-US" sz="800" dirty="0"/>
          </a:p>
        </p:txBody>
      </p:sp>
      <p:sp>
        <p:nvSpPr>
          <p:cNvPr id="3" name="Text 1"/>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Check it yourself, with two commands</a:t>
            </a:r>
            <a:endParaRPr lang="en-US" sz="2600" dirty="0"/>
          </a:p>
        </p:txBody>
      </p:sp>
      <p:sp>
        <p:nvSpPr>
          <p:cNvPr id="4" name="Text 2"/>
          <p:cNvSpPr txBox="1"/>
          <p:nvPr/>
        </p:nvSpPr>
        <p:spPr>
          <a:xfrm>
            <a:off x="1645920" y="841248"/>
            <a:ext cx="10012680" cy="274320"/>
          </a:xfrm>
          <a:prstGeom prst="rect">
            <a:avLst/>
          </a:prstGeom>
          <a:noFill/>
          <a:ln/>
        </p:spPr>
        <p:txBody>
          <a:bodyPr wrap="square" lIns="0" tIns="0" rIns="0" bIns="0" rtlCol="0" anchor="t"/>
          <a:lstStyle/>
          <a:p>
            <a:pPr indent="0" marL="0">
              <a:buNone/>
            </a:pPr>
            <a:r>
              <a:rPr lang="en-US" sz="1200" dirty="0">
                <a:solidFill>
                  <a:srgbClr val="6B6559"/>
                </a:solidFill>
                <a:latin typeface="Calibri" pitchFamily="34" charset="0"/>
                <a:ea typeface="Calibri" pitchFamily="34" charset="-122"/>
                <a:cs typeface="Calibri" pitchFamily="34" charset="-120"/>
              </a:rPr>
              <a:t>It works ten years from now, and it works even if the platform is down.</a:t>
            </a:r>
            <a:endParaRPr lang="en-US" sz="1200" dirty="0"/>
          </a:p>
        </p:txBody>
      </p:sp>
      <p:sp>
        <p:nvSpPr>
          <p:cNvPr id="5" name="Text 3"/>
          <p:cNvSpPr txBox="1"/>
          <p:nvPr/>
        </p:nvSpPr>
        <p:spPr>
          <a:xfrm>
            <a:off x="1645920" y="1280160"/>
            <a:ext cx="5577840" cy="847344"/>
          </a:xfrm>
          <a:prstGeom prst="rect">
            <a:avLst/>
          </a:prstGeom>
          <a:noFill/>
          <a:ln/>
        </p:spPr>
        <p:txBody>
          <a:bodyPr wrap="square" lIns="0" tIns="0" rIns="0" bIns="0" rtlCol="0" anchor="t"/>
          <a:lstStyle/>
          <a:p>
            <a:pPr indent="0" marL="0">
              <a:buNone/>
            </a:pPr>
            <a:r>
              <a:rPr lang="en-US" sz="1200" dirty="0">
                <a:solidFill>
                  <a:srgbClr val="12203A"/>
                </a:solidFill>
                <a:latin typeface="Calibri" pitchFamily="34" charset="0"/>
                <a:ea typeface="Calibri" pitchFamily="34" charset="-122"/>
                <a:cs typeface="Calibri" pitchFamily="34" charset="-120"/>
              </a:rPr>
              <a:t>Everything above goes through the firm's website. An auditor will want something that does not, and that is what the certification record is for: a file holding the fingerprints of all three files with a cryptographic signature over it.</a:t>
            </a:r>
            <a:endParaRPr lang="en-US" sz="1200" dirty="0"/>
          </a:p>
        </p:txBody>
      </p:sp>
      <p:sp>
        <p:nvSpPr>
          <p:cNvPr id="6" name="Shape 4"/>
          <p:cNvSpPr/>
          <p:nvPr/>
        </p:nvSpPr>
        <p:spPr>
          <a:xfrm>
            <a:off x="1645920" y="2401824"/>
            <a:ext cx="5577840" cy="1087120"/>
          </a:xfrm>
          <a:prstGeom prst="roundRect">
            <a:avLst>
              <a:gd name="adj" fmla="val 4206"/>
            </a:avLst>
          </a:prstGeom>
          <a:solidFill>
            <a:srgbClr val="FFFFFF"/>
          </a:solidFill>
          <a:ln w="12700">
            <a:solidFill>
              <a:srgbClr val="9C7222"/>
            </a:solidFill>
            <a:prstDash val="solid"/>
          </a:ln>
        </p:spPr>
      </p:sp>
      <p:sp>
        <p:nvSpPr>
          <p:cNvPr id="7" name="Text 5"/>
          <p:cNvSpPr txBox="1"/>
          <p:nvPr/>
        </p:nvSpPr>
        <p:spPr>
          <a:xfrm>
            <a:off x="1792224" y="2474976"/>
            <a:ext cx="5285232" cy="201168"/>
          </a:xfrm>
          <a:prstGeom prst="rect">
            <a:avLst/>
          </a:prstGeom>
          <a:noFill/>
          <a:ln/>
        </p:spPr>
        <p:txBody>
          <a:bodyPr wrap="square" lIns="0" tIns="0" rIns="0" bIns="0" rtlCol="0" anchor="ctr"/>
          <a:lstStyle/>
          <a:p>
            <a:pPr indent="0" marL="0">
              <a:buNone/>
            </a:pPr>
            <a:r>
              <a:rPr lang="en-US" sz="750" spc="120" kern="0" dirty="0">
                <a:solidFill>
                  <a:srgbClr val="9C7222"/>
                </a:solidFill>
                <a:latin typeface="Courier New" pitchFamily="34" charset="0"/>
                <a:ea typeface="Courier New" pitchFamily="34" charset="-122"/>
                <a:cs typeface="Courier New" pitchFamily="34" charset="-120"/>
              </a:rPr>
              <a:t>A DETAIL THAT CONFUSES PEOPLE IF NOBODY FLAGS IT</a:t>
            </a:r>
            <a:endParaRPr lang="en-US" sz="750" dirty="0"/>
          </a:p>
        </p:txBody>
      </p:sp>
      <p:sp>
        <p:nvSpPr>
          <p:cNvPr id="8" name="Text 6"/>
          <p:cNvSpPr txBox="1"/>
          <p:nvPr/>
        </p:nvSpPr>
        <p:spPr>
          <a:xfrm>
            <a:off x="1792224" y="2676144"/>
            <a:ext cx="5285232" cy="739648"/>
          </a:xfrm>
          <a:prstGeom prst="rect">
            <a:avLst/>
          </a:prstGeom>
          <a:noFill/>
          <a:ln/>
        </p:spPr>
        <p:txBody>
          <a:bodyPr wrap="square" lIns="0" tIns="0" rIns="0" bIns="0" rtlCol="0" anchor="t"/>
          <a:lstStyle/>
          <a:p>
            <a:pPr indent="0" marL="0">
              <a:buNone/>
            </a:pPr>
            <a:r>
              <a:rPr lang="en-US" sz="1000" dirty="0">
                <a:solidFill>
                  <a:srgbClr val="12203A"/>
                </a:solidFill>
                <a:latin typeface="Calibri" pitchFamily="34" charset="0"/>
                <a:ea typeface="Calibri" pitchFamily="34" charset="-122"/>
                <a:cs typeface="Calibri" pitchFamily="34" charset="-120"/>
              </a:rPr>
              <a:t>The content_sha256 of the certified file and of the distributable copy are the same, while their sha256 differ. That is deliberate: the content fingerprint ignores the watermark. It lets you prove that the copy in circulation says exactly what the certified original says, and still tell the two apart.</a:t>
            </a:r>
            <a:endParaRPr lang="en-US" sz="1000" dirty="0"/>
          </a:p>
        </p:txBody>
      </p:sp>
      <p:sp>
        <p:nvSpPr>
          <p:cNvPr id="9" name="Shape 7"/>
          <p:cNvSpPr/>
          <p:nvPr/>
        </p:nvSpPr>
        <p:spPr>
          <a:xfrm>
            <a:off x="7589520" y="1280160"/>
            <a:ext cx="4069080" cy="5120640"/>
          </a:xfrm>
          <a:prstGeom prst="roundRect">
            <a:avLst>
              <a:gd name="adj" fmla="val 1124"/>
            </a:avLst>
          </a:prstGeom>
          <a:solidFill>
            <a:srgbClr val="12203A"/>
          </a:solidFill>
          <a:ln w="6350">
            <a:solidFill>
              <a:srgbClr val="12203A"/>
            </a:solidFill>
            <a:prstDash val="solid"/>
          </a:ln>
        </p:spPr>
      </p:sp>
      <p:sp>
        <p:nvSpPr>
          <p:cNvPr id="10" name="Text 8"/>
          <p:cNvSpPr txBox="1"/>
          <p:nvPr/>
        </p:nvSpPr>
        <p:spPr>
          <a:xfrm>
            <a:off x="7790688" y="1481328"/>
            <a:ext cx="3666744" cy="4718304"/>
          </a:xfrm>
          <a:prstGeom prst="rect">
            <a:avLst/>
          </a:prstGeom>
          <a:noFill/>
          <a:ln/>
        </p:spPr>
        <p:txBody>
          <a:bodyPr wrap="square" lIns="0" tIns="0" rIns="0" bIns="0" rtlCol="0" anchor="t"/>
          <a:lstStyle/>
          <a:p>
            <a:pPr indent="0" marL="0">
              <a:lnSpc>
                <a:spcPct val="120000"/>
              </a:lnSpc>
              <a:buNone/>
            </a:pPr>
            <a:r>
              <a:rPr lang="en-US" sz="1000" dirty="0">
                <a:solidFill>
                  <a:srgbClr val="9C9689"/>
                </a:solidFill>
                <a:latin typeface="Courier New" pitchFamily="34" charset="0"/>
                <a:ea typeface="Courier New" pitchFamily="34" charset="-122"/>
                <a:cs typeface="Courier New" pitchFamily="34" charset="-120"/>
              </a:rPr>
              <a:t># 1. The fingerprint of the PDF you hold</a:t>
            </a:r>
            <a:endParaRPr lang="en-US" sz="1000" dirty="0"/>
          </a:p>
          <a:p>
            <a:pPr indent="0" marL="0">
              <a:lnSpc>
                <a:spcPct val="120000"/>
              </a:lnSpc>
              <a:buNone/>
            </a:pPr>
            <a:r>
              <a:rPr lang="en-US" sz="1000" dirty="0">
                <a:solidFill>
                  <a:srgbClr val="D9AE58"/>
                </a:solidFill>
                <a:latin typeface="Courier New" pitchFamily="34" charset="0"/>
                <a:ea typeface="Courier New" pitchFamily="34" charset="-122"/>
                <a:cs typeface="Courier New" pitchFamily="34" charset="-120"/>
              </a:rPr>
              <a:t>sha256sum certificado.pdf</a:t>
            </a:r>
            <a:pPr indent="0" marL="0">
              <a:lnSpc>
                <a:spcPct val="120000"/>
              </a:lnSpc>
              <a:buNone/>
            </a:pPr>
            <a:r>
              <a:rPr lang="en-US" sz="1000" dirty="0">
                <a:solidFill>
                  <a:srgbClr val="9C9689"/>
                </a:solidFill>
                <a:latin typeface="Courier New" pitchFamily="34" charset="0"/>
                <a:ea typeface="Courier New" pitchFamily="34" charset="-122"/>
                <a:cs typeface="Courier New" pitchFamily="34" charset="-120"/>
              </a:rPr>
              <a:t># Linux or macOS</a:t>
            </a:r>
            <a:endParaRPr lang="en-US" sz="1000" dirty="0"/>
          </a:p>
          <a:p>
            <a:pPr indent="0" marL="0">
              <a:lnSpc>
                <a:spcPct val="120000"/>
              </a:lnSpc>
              <a:buNone/>
            </a:pPr>
            <a:r>
              <a:rPr lang="en-US" sz="1000" dirty="0">
                <a:solidFill>
                  <a:srgbClr val="D9AE58"/>
                </a:solidFill>
                <a:latin typeface="Courier New" pitchFamily="34" charset="0"/>
                <a:ea typeface="Courier New" pitchFamily="34" charset="-122"/>
                <a:cs typeface="Courier New" pitchFamily="34" charset="-120"/>
              </a:rPr>
              <a:t>certutil -hashfile certificado.pdf SHA256</a:t>
            </a:r>
            <a:pPr indent="0" marL="0">
              <a:lnSpc>
                <a:spcPct val="120000"/>
              </a:lnSpc>
              <a:buNone/>
            </a:pPr>
            <a:r>
              <a:rPr lang="en-US" sz="1000" dirty="0">
                <a:solidFill>
                  <a:srgbClr val="9C9689"/>
                </a:solidFill>
                <a:latin typeface="Courier New" pitchFamily="34" charset="0"/>
                <a:ea typeface="Courier New" pitchFamily="34" charset="-122"/>
                <a:cs typeface="Courier New" pitchFamily="34" charset="-120"/>
              </a:rPr>
              <a:t># Windows</a:t>
            </a:r>
            <a:endParaRPr lang="en-US" sz="1000" dirty="0"/>
          </a:p>
          <a:p>
            <a:pPr indent="0" marL="0">
              <a:lnSpc>
                <a:spcPct val="120000"/>
              </a:lnSpc>
              <a:buNone/>
            </a:pPr>
            <a:r>
              <a:rPr lang="en-US" sz="1000" dirty="0">
                <a:solidFill>
                  <a:srgbClr val="E9E4D9"/>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9C9689"/>
                </a:solidFill>
                <a:latin typeface="Courier New" pitchFamily="34" charset="0"/>
                <a:ea typeface="Courier New" pitchFamily="34" charset="-122"/>
                <a:cs typeface="Courier New" pitchFamily="34" charset="-120"/>
              </a:rPr>
              <a:t># 2. Compare it against the record. If it matches one of the three,</a:t>
            </a:r>
            <a:endParaRPr lang="en-US" sz="1000" dirty="0"/>
          </a:p>
          <a:p>
            <a:pPr indent="0" marL="0">
              <a:lnSpc>
                <a:spcPct val="120000"/>
              </a:lnSpc>
              <a:buNone/>
            </a:pPr>
            <a:r>
              <a:rPr lang="en-US" sz="1000" dirty="0">
                <a:solidFill>
                  <a:srgbClr val="9C9689"/>
                </a:solidFill>
                <a:latin typeface="Courier New" pitchFamily="34" charset="0"/>
                <a:ea typeface="Courier New" pitchFamily="34" charset="-122"/>
                <a:cs typeface="Courier New" pitchFamily="34" charset="-120"/>
              </a:rPr>
              <a:t># the file is exactly the one that was registered.</a:t>
            </a:r>
            <a:endParaRPr lang="en-US" sz="1000" dirty="0"/>
          </a:p>
          <a:p>
            <a:pPr indent="0" marL="0">
              <a:lnSpc>
                <a:spcPct val="120000"/>
              </a:lnSpc>
              <a:buNone/>
            </a:pPr>
            <a:r>
              <a:rPr lang="en-US" sz="1000" dirty="0">
                <a:solidFill>
                  <a:srgbClr val="E9E4D9"/>
                </a:solidFill>
                <a:latin typeface="Courier New" pitchFamily="34" charset="0"/>
                <a:ea typeface="Courier New" pitchFamily="34" charset="-122"/>
                <a:cs typeface="Courier New" pitchFamily="34" charset="-120"/>
              </a:rPr>
              <a:t>files.original.sha256</a:t>
            </a:r>
            <a:endParaRPr lang="en-US" sz="1000" dirty="0"/>
          </a:p>
          <a:p>
            <a:pPr indent="0" marL="0">
              <a:lnSpc>
                <a:spcPct val="120000"/>
              </a:lnSpc>
              <a:buNone/>
            </a:pPr>
            <a:r>
              <a:rPr lang="en-US" sz="1000" dirty="0">
                <a:solidFill>
                  <a:srgbClr val="E9E4D9"/>
                </a:solidFill>
                <a:latin typeface="Courier New" pitchFamily="34" charset="0"/>
                <a:ea typeface="Courier New" pitchFamily="34" charset="-122"/>
                <a:cs typeface="Courier New" pitchFamily="34" charset="-120"/>
              </a:rPr>
              <a:t>files.certified.sha256</a:t>
            </a:r>
            <a:endParaRPr lang="en-US" sz="1000" dirty="0"/>
          </a:p>
          <a:p>
            <a:pPr indent="0" marL="0">
              <a:lnSpc>
                <a:spcPct val="120000"/>
              </a:lnSpc>
              <a:buNone/>
            </a:pPr>
            <a:r>
              <a:rPr lang="en-US" sz="1000" dirty="0">
                <a:solidFill>
                  <a:srgbClr val="E9E4D9"/>
                </a:solidFill>
                <a:latin typeface="Courier New" pitchFamily="34" charset="0"/>
                <a:ea typeface="Courier New" pitchFamily="34" charset="-122"/>
                <a:cs typeface="Courier New" pitchFamily="34" charset="-120"/>
              </a:rPr>
              <a:t>files.public_copy.sha256</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84048"/>
            <a:ext cx="1051560" cy="548640"/>
          </a:xfrm>
          <a:prstGeom prst="rect">
            <a:avLst/>
          </a:prstGeom>
          <a:noFill/>
          <a:ln/>
        </p:spPr>
        <p:txBody>
          <a:bodyPr wrap="square" lIns="0" tIns="0" rIns="0" bIns="0" rtlCol="0" anchor="t"/>
          <a:lstStyle/>
          <a:p>
            <a:pPr indent="0" marL="0">
              <a:buNone/>
            </a:pPr>
            <a:r>
              <a:rPr lang="en-US" sz="800" spc="140" kern="0" dirty="0">
                <a:solidFill>
                  <a:srgbClr val="6B6559"/>
                </a:solidFill>
                <a:latin typeface="Courier New" pitchFamily="34" charset="0"/>
                <a:ea typeface="Courier New" pitchFamily="34" charset="-122"/>
                <a:cs typeface="Courier New" pitchFamily="34" charset="-120"/>
              </a:rPr>
              <a:t>IF THERE IS A SUMMARY</a:t>
            </a:r>
            <a:endParaRPr lang="en-US" sz="800" dirty="0"/>
          </a:p>
        </p:txBody>
      </p:sp>
      <p:sp>
        <p:nvSpPr>
          <p:cNvPr id="3" name="Text 1"/>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The AEGIS summary and a provable date</a:t>
            </a:r>
            <a:endParaRPr lang="en-US" sz="2600" dirty="0"/>
          </a:p>
        </p:txBody>
      </p:sp>
      <p:sp>
        <p:nvSpPr>
          <p:cNvPr id="4" name="Text 2"/>
          <p:cNvSpPr txBox="1"/>
          <p:nvPr/>
        </p:nvSpPr>
        <p:spPr>
          <a:xfrm>
            <a:off x="1645920" y="841248"/>
            <a:ext cx="10012680" cy="274320"/>
          </a:xfrm>
          <a:prstGeom prst="rect">
            <a:avLst/>
          </a:prstGeom>
          <a:noFill/>
          <a:ln/>
        </p:spPr>
        <p:txBody>
          <a:bodyPr wrap="square" lIns="0" tIns="0" rIns="0" bIns="0" rtlCol="0" anchor="t"/>
          <a:lstStyle/>
          <a:p>
            <a:pPr indent="0" marL="0">
              <a:buNone/>
            </a:pPr>
            <a:r>
              <a:rPr lang="en-US" sz="1200" dirty="0">
                <a:solidFill>
                  <a:srgbClr val="6B6559"/>
                </a:solidFill>
                <a:latin typeface="Calibri" pitchFamily="34" charset="0"/>
                <a:ea typeface="Calibri" pitchFamily="34" charset="-122"/>
                <a:cs typeface="Calibri" pitchFamily="34" charset="-120"/>
              </a:rPr>
              <a:t>For when several documents are grouped, and for when you need to prove when.</a:t>
            </a:r>
            <a:endParaRPr lang="en-US" sz="1200" dirty="0"/>
          </a:p>
        </p:txBody>
      </p:sp>
      <p:pic>
        <p:nvPicPr>
          <p:cNvPr id="5" name="Image 0" descr="/tmp/claude-0/-home-user-gea-module-0/05c86c8b-2f1b-52ff-8f50-3243e9e36b63/scratchpad/deck_img/07_resumen.png">    </p:cNvPr>
          <p:cNvPicPr>
            <a:picLocks noChangeAspect="1"/>
          </p:cNvPicPr>
          <p:nvPr/>
        </p:nvPicPr>
        <p:blipFill>
          <a:blip r:embed="rId1"/>
          <a:stretch>
            <a:fillRect/>
          </a:stretch>
        </p:blipFill>
        <p:spPr>
          <a:xfrm>
            <a:off x="502920" y="1280160"/>
            <a:ext cx="6858000" cy="4149671"/>
          </a:xfrm>
          <a:prstGeom prst="rect">
            <a:avLst/>
          </a:prstGeom>
        </p:spPr>
      </p:pic>
      <p:sp>
        <p:nvSpPr>
          <p:cNvPr id="6" name="Shape 3"/>
          <p:cNvSpPr/>
          <p:nvPr/>
        </p:nvSpPr>
        <p:spPr>
          <a:xfrm>
            <a:off x="502920" y="1280160"/>
            <a:ext cx="6858000" cy="4149671"/>
          </a:xfrm>
          <a:prstGeom prst="rect">
            <a:avLst/>
          </a:prstGeom>
          <a:ln w="9525">
            <a:solidFill>
              <a:srgbClr val="DED8CB"/>
            </a:solidFill>
            <a:prstDash val="solid"/>
          </a:ln>
        </p:spPr>
      </p:sp>
      <p:sp>
        <p:nvSpPr>
          <p:cNvPr id="7" name="Shape 4"/>
          <p:cNvSpPr/>
          <p:nvPr/>
        </p:nvSpPr>
        <p:spPr>
          <a:xfrm>
            <a:off x="2897734" y="3678255"/>
            <a:ext cx="2734285" cy="128016"/>
          </a:xfrm>
          <a:prstGeom prst="roundRect">
            <a:avLst>
              <a:gd name="adj" fmla="val 21429"/>
            </a:avLst>
          </a:prstGeom>
          <a:ln w="19050">
            <a:solidFill>
              <a:srgbClr val="9C7222"/>
            </a:solidFill>
            <a:prstDash val="solid"/>
          </a:ln>
        </p:spPr>
      </p:sp>
      <p:sp>
        <p:nvSpPr>
          <p:cNvPr id="8" name="Shape 5"/>
          <p:cNvSpPr/>
          <p:nvPr/>
        </p:nvSpPr>
        <p:spPr>
          <a:xfrm>
            <a:off x="2778862" y="3559383"/>
            <a:ext cx="237744" cy="237744"/>
          </a:xfrm>
          <a:prstGeom prst="ellipse">
            <a:avLst/>
          </a:prstGeom>
          <a:solidFill>
            <a:srgbClr val="9C7222"/>
          </a:solidFill>
          <a:ln w="12700">
            <a:solidFill>
              <a:srgbClr val="FFFFFF"/>
            </a:solidFill>
            <a:prstDash val="solid"/>
          </a:ln>
        </p:spPr>
      </p:sp>
      <p:sp>
        <p:nvSpPr>
          <p:cNvPr id="9" name="Text 6"/>
          <p:cNvSpPr txBox="1"/>
          <p:nvPr/>
        </p:nvSpPr>
        <p:spPr>
          <a:xfrm>
            <a:off x="2778862" y="3559383"/>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1</a:t>
            </a:r>
            <a:endParaRPr lang="en-US" sz="900" dirty="0"/>
          </a:p>
        </p:txBody>
      </p:sp>
      <p:sp>
        <p:nvSpPr>
          <p:cNvPr id="10" name="Shape 7"/>
          <p:cNvSpPr/>
          <p:nvPr/>
        </p:nvSpPr>
        <p:spPr>
          <a:xfrm>
            <a:off x="688772" y="3916446"/>
            <a:ext cx="773582" cy="174286"/>
          </a:xfrm>
          <a:prstGeom prst="roundRect">
            <a:avLst>
              <a:gd name="adj" fmla="val 15740"/>
            </a:avLst>
          </a:prstGeom>
          <a:ln w="19050">
            <a:solidFill>
              <a:srgbClr val="9C7222"/>
            </a:solidFill>
            <a:prstDash val="solid"/>
          </a:ln>
        </p:spPr>
      </p:sp>
      <p:sp>
        <p:nvSpPr>
          <p:cNvPr id="11" name="Shape 8"/>
          <p:cNvSpPr/>
          <p:nvPr/>
        </p:nvSpPr>
        <p:spPr>
          <a:xfrm>
            <a:off x="569900" y="3797574"/>
            <a:ext cx="237744" cy="237744"/>
          </a:xfrm>
          <a:prstGeom prst="ellipse">
            <a:avLst/>
          </a:prstGeom>
          <a:solidFill>
            <a:srgbClr val="9C7222"/>
          </a:solidFill>
          <a:ln w="12700">
            <a:solidFill>
              <a:srgbClr val="FFFFFF"/>
            </a:solidFill>
            <a:prstDash val="solid"/>
          </a:ln>
        </p:spPr>
      </p:sp>
      <p:sp>
        <p:nvSpPr>
          <p:cNvPr id="12" name="Text 9"/>
          <p:cNvSpPr txBox="1"/>
          <p:nvPr/>
        </p:nvSpPr>
        <p:spPr>
          <a:xfrm>
            <a:off x="569900" y="379757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2</a:t>
            </a:r>
            <a:endParaRPr lang="en-US" sz="900" dirty="0"/>
          </a:p>
        </p:txBody>
      </p:sp>
      <p:sp>
        <p:nvSpPr>
          <p:cNvPr id="13" name="Shape 10"/>
          <p:cNvSpPr/>
          <p:nvPr/>
        </p:nvSpPr>
        <p:spPr>
          <a:xfrm>
            <a:off x="820445" y="4692435"/>
            <a:ext cx="6222949" cy="400858"/>
          </a:xfrm>
          <a:prstGeom prst="roundRect">
            <a:avLst>
              <a:gd name="adj" fmla="val 6843"/>
            </a:avLst>
          </a:prstGeom>
          <a:ln w="19050">
            <a:solidFill>
              <a:srgbClr val="9C7222"/>
            </a:solidFill>
            <a:prstDash val="solid"/>
          </a:ln>
        </p:spPr>
      </p:sp>
      <p:sp>
        <p:nvSpPr>
          <p:cNvPr id="14" name="Shape 11"/>
          <p:cNvSpPr/>
          <p:nvPr/>
        </p:nvSpPr>
        <p:spPr>
          <a:xfrm>
            <a:off x="701573" y="4573563"/>
            <a:ext cx="237744" cy="237744"/>
          </a:xfrm>
          <a:prstGeom prst="ellipse">
            <a:avLst/>
          </a:prstGeom>
          <a:solidFill>
            <a:srgbClr val="9C7222"/>
          </a:solidFill>
          <a:ln w="12700">
            <a:solidFill>
              <a:srgbClr val="FFFFFF"/>
            </a:solidFill>
            <a:prstDash val="solid"/>
          </a:ln>
        </p:spPr>
      </p:sp>
      <p:sp>
        <p:nvSpPr>
          <p:cNvPr id="15" name="Text 12"/>
          <p:cNvSpPr txBox="1"/>
          <p:nvPr/>
        </p:nvSpPr>
        <p:spPr>
          <a:xfrm>
            <a:off x="701573" y="4573563"/>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3</a:t>
            </a:r>
            <a:endParaRPr lang="en-US" sz="900" dirty="0"/>
          </a:p>
        </p:txBody>
      </p:sp>
      <p:sp>
        <p:nvSpPr>
          <p:cNvPr id="16" name="Shape 13"/>
          <p:cNvSpPr/>
          <p:nvPr/>
        </p:nvSpPr>
        <p:spPr>
          <a:xfrm>
            <a:off x="7680960" y="1307592"/>
            <a:ext cx="219456" cy="219456"/>
          </a:xfrm>
          <a:prstGeom prst="ellipse">
            <a:avLst/>
          </a:prstGeom>
          <a:ln w="12700">
            <a:solidFill>
              <a:srgbClr val="9C7222"/>
            </a:solidFill>
            <a:prstDash val="solid"/>
          </a:ln>
        </p:spPr>
      </p:sp>
      <p:sp>
        <p:nvSpPr>
          <p:cNvPr id="17" name="Text 14"/>
          <p:cNvSpPr txBox="1"/>
          <p:nvPr/>
        </p:nvSpPr>
        <p:spPr>
          <a:xfrm>
            <a:off x="7680960" y="1307592"/>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1</a:t>
            </a:r>
            <a:endParaRPr lang="en-US" sz="850" dirty="0"/>
          </a:p>
        </p:txBody>
      </p:sp>
      <p:sp>
        <p:nvSpPr>
          <p:cNvPr id="18" name="Text 15"/>
          <p:cNvSpPr txBox="1"/>
          <p:nvPr/>
        </p:nvSpPr>
        <p:spPr>
          <a:xfrm>
            <a:off x="7991856" y="1280160"/>
            <a:ext cx="3666744" cy="376428"/>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Master hash. </a:t>
            </a:r>
            <a:pPr indent="0" marL="0">
              <a:buNone/>
            </a:pPr>
            <a:r>
              <a:rPr lang="en-US" sz="1050" dirty="0">
                <a:solidFill>
                  <a:srgbClr val="6B6559"/>
                </a:solidFill>
                <a:latin typeface="Calibri" pitchFamily="34" charset="0"/>
                <a:ea typeface="Calibri" pitchFamily="34" charset="-122"/>
                <a:cs typeface="Calibri" pitchFamily="34" charset="-120"/>
              </a:rPr>
              <a:t>A single figure that commits to the fingerprints of every document in the summary.</a:t>
            </a:r>
            <a:endParaRPr lang="en-US" sz="1050" dirty="0"/>
          </a:p>
        </p:txBody>
      </p:sp>
      <p:sp>
        <p:nvSpPr>
          <p:cNvPr id="19" name="Shape 16"/>
          <p:cNvSpPr/>
          <p:nvPr/>
        </p:nvSpPr>
        <p:spPr>
          <a:xfrm>
            <a:off x="7680960" y="1903476"/>
            <a:ext cx="219456" cy="219456"/>
          </a:xfrm>
          <a:prstGeom prst="ellipse">
            <a:avLst/>
          </a:prstGeom>
          <a:ln w="12700">
            <a:solidFill>
              <a:srgbClr val="9C7222"/>
            </a:solidFill>
            <a:prstDash val="solid"/>
          </a:ln>
        </p:spPr>
      </p:sp>
      <p:sp>
        <p:nvSpPr>
          <p:cNvPr id="20" name="Text 17"/>
          <p:cNvSpPr txBox="1"/>
          <p:nvPr/>
        </p:nvSpPr>
        <p:spPr>
          <a:xfrm>
            <a:off x="7680960" y="1903476"/>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2</a:t>
            </a:r>
            <a:endParaRPr lang="en-US" sz="850" dirty="0"/>
          </a:p>
        </p:txBody>
      </p:sp>
      <p:sp>
        <p:nvSpPr>
          <p:cNvPr id="21" name="Text 18"/>
          <p:cNvSpPr txBox="1"/>
          <p:nvPr/>
        </p:nvSpPr>
        <p:spPr>
          <a:xfrm>
            <a:off x="7991856" y="1876044"/>
            <a:ext cx="3666744" cy="376428"/>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Timestamp anchor. </a:t>
            </a:r>
            <a:pPr indent="0" marL="0">
              <a:buNone/>
            </a:pPr>
            <a:r>
              <a:rPr lang="en-US" sz="1050" dirty="0">
                <a:solidFill>
                  <a:srgbClr val="6B6559"/>
                </a:solidFill>
                <a:latin typeface="Calibri" pitchFamily="34" charset="0"/>
                <a:ea typeface="Calibri" pitchFamily="34" charset="-122"/>
                <a:cs typeface="Calibri" pitchFamily="34" charset="-120"/>
              </a:rPr>
              <a:t>Leads to the timestamp page, which is public and does not ask for a code.</a:t>
            </a:r>
            <a:endParaRPr lang="en-US" sz="1050" dirty="0"/>
          </a:p>
        </p:txBody>
      </p:sp>
      <p:sp>
        <p:nvSpPr>
          <p:cNvPr id="22" name="Shape 19"/>
          <p:cNvSpPr/>
          <p:nvPr/>
        </p:nvSpPr>
        <p:spPr>
          <a:xfrm>
            <a:off x="7680960" y="2499360"/>
            <a:ext cx="219456" cy="219456"/>
          </a:xfrm>
          <a:prstGeom prst="ellipse">
            <a:avLst/>
          </a:prstGeom>
          <a:ln w="12700">
            <a:solidFill>
              <a:srgbClr val="9C7222"/>
            </a:solidFill>
            <a:prstDash val="solid"/>
          </a:ln>
        </p:spPr>
      </p:sp>
      <p:sp>
        <p:nvSpPr>
          <p:cNvPr id="23" name="Text 20"/>
          <p:cNvSpPr txBox="1"/>
          <p:nvPr/>
        </p:nvSpPr>
        <p:spPr>
          <a:xfrm>
            <a:off x="7680960" y="2499360"/>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3</a:t>
            </a:r>
            <a:endParaRPr lang="en-US" sz="850" dirty="0"/>
          </a:p>
        </p:txBody>
      </p:sp>
      <p:sp>
        <p:nvSpPr>
          <p:cNvPr id="24" name="Text 21"/>
          <p:cNvSpPr txBox="1"/>
          <p:nvPr/>
        </p:nvSpPr>
        <p:spPr>
          <a:xfrm>
            <a:off x="7991856" y="2471928"/>
            <a:ext cx="3666744" cy="376428"/>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The grouped documents, </a:t>
            </a:r>
            <a:pPr indent="0" marL="0">
              <a:buNone/>
            </a:pPr>
            <a:r>
              <a:rPr lang="en-US" sz="1050" dirty="0">
                <a:solidFill>
                  <a:srgbClr val="6B6559"/>
                </a:solidFill>
                <a:latin typeface="Calibri" pitchFamily="34" charset="0"/>
                <a:ea typeface="Calibri" pitchFamily="34" charset="-122"/>
                <a:cs typeface="Calibri" pitchFamily="34" charset="-120"/>
              </a:rPr>
              <a:t>each with its own code inside the summary (AEGIS-1, AEGIS-2…).</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84048"/>
            <a:ext cx="1051560" cy="548640"/>
          </a:xfrm>
          <a:prstGeom prst="rect">
            <a:avLst/>
          </a:prstGeom>
          <a:noFill/>
          <a:ln/>
        </p:spPr>
        <p:txBody>
          <a:bodyPr wrap="square" lIns="0" tIns="0" rIns="0" bIns="0" rtlCol="0" anchor="t"/>
          <a:lstStyle/>
          <a:p>
            <a:pPr indent="0" marL="0">
              <a:buNone/>
            </a:pPr>
            <a:r>
              <a:rPr lang="en-US" sz="800" spc="140" kern="0" dirty="0">
                <a:solidFill>
                  <a:srgbClr val="6B6559"/>
                </a:solidFill>
                <a:latin typeface="Courier New" pitchFamily="34" charset="0"/>
                <a:ea typeface="Courier New" pitchFamily="34" charset="-122"/>
                <a:cs typeface="Courier New" pitchFamily="34" charset="-120"/>
              </a:rPr>
              <a:t>IF THERE IS A SUMMARY</a:t>
            </a:r>
            <a:endParaRPr lang="en-US" sz="800" dirty="0"/>
          </a:p>
        </p:txBody>
      </p:sp>
      <p:sp>
        <p:nvSpPr>
          <p:cNvPr id="3" name="Text 1"/>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The timestamp, on its own page</a:t>
            </a:r>
            <a:endParaRPr lang="en-US" sz="2600" dirty="0"/>
          </a:p>
        </p:txBody>
      </p:sp>
      <p:sp>
        <p:nvSpPr>
          <p:cNvPr id="4" name="Text 2"/>
          <p:cNvSpPr txBox="1"/>
          <p:nvPr/>
        </p:nvSpPr>
        <p:spPr>
          <a:xfrm>
            <a:off x="1645920" y="841248"/>
            <a:ext cx="10012680" cy="274320"/>
          </a:xfrm>
          <a:prstGeom prst="rect">
            <a:avLst/>
          </a:prstGeom>
          <a:noFill/>
          <a:ln/>
        </p:spPr>
        <p:txBody>
          <a:bodyPr wrap="square" lIns="0" tIns="0" rIns="0" bIns="0" rtlCol="0" anchor="t"/>
          <a:lstStyle/>
          <a:p>
            <a:pPr indent="0" marL="0">
              <a:buNone/>
            </a:pPr>
            <a:r>
              <a:rPr lang="en-US" sz="1200" dirty="0">
                <a:solidFill>
                  <a:srgbClr val="6B6559"/>
                </a:solidFill>
                <a:latin typeface="Calibri" pitchFamily="34" charset="0"/>
                <a:ea typeface="Calibri" pitchFamily="34" charset="-122"/>
                <a:cs typeface="Calibri" pitchFamily="34" charset="-120"/>
              </a:rPr>
              <a:t>Public, no code needed: this is what the printed QR opens.</a:t>
            </a:r>
            <a:endParaRPr lang="en-US" sz="1200" dirty="0"/>
          </a:p>
        </p:txBody>
      </p:sp>
      <p:pic>
        <p:nvPicPr>
          <p:cNvPr id="5" name="Image 0" descr="/tmp/claude-0/-home-user-gea-module-0/05c86c8b-2f1b-52ff-8f50-3243e9e36b63/scratchpad/deck_img/08_anclaje.png">    </p:cNvPr>
          <p:cNvPicPr>
            <a:picLocks noChangeAspect="1"/>
          </p:cNvPicPr>
          <p:nvPr/>
        </p:nvPicPr>
        <p:blipFill>
          <a:blip r:embed="rId1"/>
          <a:stretch>
            <a:fillRect/>
          </a:stretch>
        </p:blipFill>
        <p:spPr>
          <a:xfrm>
            <a:off x="502920" y="1280160"/>
            <a:ext cx="4039538" cy="4837176"/>
          </a:xfrm>
          <a:prstGeom prst="rect">
            <a:avLst/>
          </a:prstGeom>
        </p:spPr>
      </p:pic>
      <p:sp>
        <p:nvSpPr>
          <p:cNvPr id="6" name="Shape 3"/>
          <p:cNvSpPr/>
          <p:nvPr/>
        </p:nvSpPr>
        <p:spPr>
          <a:xfrm>
            <a:off x="502920" y="1280160"/>
            <a:ext cx="4039538" cy="4837176"/>
          </a:xfrm>
          <a:prstGeom prst="rect">
            <a:avLst/>
          </a:prstGeom>
          <a:ln w="9525">
            <a:solidFill>
              <a:srgbClr val="DED8CB"/>
            </a:solidFill>
            <a:prstDash val="solid"/>
          </a:ln>
        </p:spPr>
      </p:sp>
      <p:sp>
        <p:nvSpPr>
          <p:cNvPr id="7" name="Shape 4"/>
          <p:cNvSpPr/>
          <p:nvPr/>
        </p:nvSpPr>
        <p:spPr>
          <a:xfrm>
            <a:off x="612391" y="2490905"/>
            <a:ext cx="3820595" cy="315384"/>
          </a:xfrm>
          <a:prstGeom prst="roundRect">
            <a:avLst>
              <a:gd name="adj" fmla="val 8698"/>
            </a:avLst>
          </a:prstGeom>
          <a:ln w="19050">
            <a:solidFill>
              <a:srgbClr val="9C7222"/>
            </a:solidFill>
            <a:prstDash val="solid"/>
          </a:ln>
        </p:spPr>
      </p:sp>
      <p:sp>
        <p:nvSpPr>
          <p:cNvPr id="8" name="Shape 5"/>
          <p:cNvSpPr/>
          <p:nvPr/>
        </p:nvSpPr>
        <p:spPr>
          <a:xfrm>
            <a:off x="493519" y="2372033"/>
            <a:ext cx="237744" cy="237744"/>
          </a:xfrm>
          <a:prstGeom prst="ellipse">
            <a:avLst/>
          </a:prstGeom>
          <a:solidFill>
            <a:srgbClr val="9C7222"/>
          </a:solidFill>
          <a:ln w="12700">
            <a:solidFill>
              <a:srgbClr val="FFFFFF"/>
            </a:solidFill>
            <a:prstDash val="solid"/>
          </a:ln>
        </p:spPr>
      </p:sp>
      <p:sp>
        <p:nvSpPr>
          <p:cNvPr id="9" name="Text 6"/>
          <p:cNvSpPr txBox="1"/>
          <p:nvPr/>
        </p:nvSpPr>
        <p:spPr>
          <a:xfrm>
            <a:off x="493519" y="2372033"/>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1</a:t>
            </a:r>
            <a:endParaRPr lang="en-US" sz="900" dirty="0"/>
          </a:p>
        </p:txBody>
      </p:sp>
      <p:sp>
        <p:nvSpPr>
          <p:cNvPr id="10" name="Shape 7"/>
          <p:cNvSpPr/>
          <p:nvPr/>
        </p:nvSpPr>
        <p:spPr>
          <a:xfrm>
            <a:off x="689951" y="3349020"/>
            <a:ext cx="1840818" cy="128016"/>
          </a:xfrm>
          <a:prstGeom prst="roundRect">
            <a:avLst>
              <a:gd name="adj" fmla="val 21429"/>
            </a:avLst>
          </a:prstGeom>
          <a:ln w="19050">
            <a:solidFill>
              <a:srgbClr val="9C7222"/>
            </a:solidFill>
            <a:prstDash val="solid"/>
          </a:ln>
        </p:spPr>
      </p:sp>
      <p:sp>
        <p:nvSpPr>
          <p:cNvPr id="11" name="Shape 8"/>
          <p:cNvSpPr/>
          <p:nvPr/>
        </p:nvSpPr>
        <p:spPr>
          <a:xfrm>
            <a:off x="571079" y="3230148"/>
            <a:ext cx="237744" cy="237744"/>
          </a:xfrm>
          <a:prstGeom prst="ellipse">
            <a:avLst/>
          </a:prstGeom>
          <a:solidFill>
            <a:srgbClr val="9C7222"/>
          </a:solidFill>
          <a:ln w="12700">
            <a:solidFill>
              <a:srgbClr val="FFFFFF"/>
            </a:solidFill>
            <a:prstDash val="solid"/>
          </a:ln>
        </p:spPr>
      </p:sp>
      <p:sp>
        <p:nvSpPr>
          <p:cNvPr id="12" name="Text 9"/>
          <p:cNvSpPr txBox="1"/>
          <p:nvPr/>
        </p:nvSpPr>
        <p:spPr>
          <a:xfrm>
            <a:off x="571079" y="323014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2</a:t>
            </a:r>
            <a:endParaRPr lang="en-US" sz="900" dirty="0"/>
          </a:p>
        </p:txBody>
      </p:sp>
      <p:sp>
        <p:nvSpPr>
          <p:cNvPr id="13" name="Shape 10"/>
          <p:cNvSpPr/>
          <p:nvPr/>
        </p:nvSpPr>
        <p:spPr>
          <a:xfrm>
            <a:off x="689951" y="4824843"/>
            <a:ext cx="3665477" cy="128016"/>
          </a:xfrm>
          <a:prstGeom prst="roundRect">
            <a:avLst>
              <a:gd name="adj" fmla="val 21429"/>
            </a:avLst>
          </a:prstGeom>
          <a:ln w="19050">
            <a:solidFill>
              <a:srgbClr val="9C7222"/>
            </a:solidFill>
            <a:prstDash val="solid"/>
          </a:ln>
        </p:spPr>
      </p:sp>
      <p:sp>
        <p:nvSpPr>
          <p:cNvPr id="14" name="Shape 11"/>
          <p:cNvSpPr/>
          <p:nvPr/>
        </p:nvSpPr>
        <p:spPr>
          <a:xfrm>
            <a:off x="571079" y="4705971"/>
            <a:ext cx="237744" cy="237744"/>
          </a:xfrm>
          <a:prstGeom prst="ellipse">
            <a:avLst/>
          </a:prstGeom>
          <a:solidFill>
            <a:srgbClr val="9C7222"/>
          </a:solidFill>
          <a:ln w="12700">
            <a:solidFill>
              <a:srgbClr val="FFFFFF"/>
            </a:solidFill>
            <a:prstDash val="solid"/>
          </a:ln>
        </p:spPr>
      </p:sp>
      <p:sp>
        <p:nvSpPr>
          <p:cNvPr id="15" name="Text 12"/>
          <p:cNvSpPr txBox="1"/>
          <p:nvPr/>
        </p:nvSpPr>
        <p:spPr>
          <a:xfrm>
            <a:off x="571079" y="4705971"/>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3</a:t>
            </a:r>
            <a:endParaRPr lang="en-US" sz="900" dirty="0"/>
          </a:p>
        </p:txBody>
      </p:sp>
      <p:sp>
        <p:nvSpPr>
          <p:cNvPr id="16" name="Shape 13"/>
          <p:cNvSpPr/>
          <p:nvPr/>
        </p:nvSpPr>
        <p:spPr>
          <a:xfrm>
            <a:off x="670561" y="5785989"/>
            <a:ext cx="925862" cy="128016"/>
          </a:xfrm>
          <a:prstGeom prst="roundRect">
            <a:avLst>
              <a:gd name="adj" fmla="val 21429"/>
            </a:avLst>
          </a:prstGeom>
          <a:ln w="19050">
            <a:solidFill>
              <a:srgbClr val="9C7222"/>
            </a:solidFill>
            <a:prstDash val="solid"/>
          </a:ln>
        </p:spPr>
      </p:sp>
      <p:sp>
        <p:nvSpPr>
          <p:cNvPr id="17" name="Shape 14"/>
          <p:cNvSpPr/>
          <p:nvPr/>
        </p:nvSpPr>
        <p:spPr>
          <a:xfrm>
            <a:off x="551689" y="5667117"/>
            <a:ext cx="237744" cy="237744"/>
          </a:xfrm>
          <a:prstGeom prst="ellipse">
            <a:avLst/>
          </a:prstGeom>
          <a:solidFill>
            <a:srgbClr val="9C7222"/>
          </a:solidFill>
          <a:ln w="12700">
            <a:solidFill>
              <a:srgbClr val="FFFFFF"/>
            </a:solidFill>
            <a:prstDash val="solid"/>
          </a:ln>
        </p:spPr>
      </p:sp>
      <p:sp>
        <p:nvSpPr>
          <p:cNvPr id="18" name="Text 15"/>
          <p:cNvSpPr txBox="1"/>
          <p:nvPr/>
        </p:nvSpPr>
        <p:spPr>
          <a:xfrm>
            <a:off x="551689" y="5667117"/>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4</a:t>
            </a:r>
            <a:endParaRPr lang="en-US" sz="900" dirty="0"/>
          </a:p>
        </p:txBody>
      </p:sp>
      <p:sp>
        <p:nvSpPr>
          <p:cNvPr id="19" name="Shape 16"/>
          <p:cNvSpPr/>
          <p:nvPr/>
        </p:nvSpPr>
        <p:spPr>
          <a:xfrm>
            <a:off x="7680960" y="1307592"/>
            <a:ext cx="219456" cy="219456"/>
          </a:xfrm>
          <a:prstGeom prst="ellipse">
            <a:avLst/>
          </a:prstGeom>
          <a:ln w="12700">
            <a:solidFill>
              <a:srgbClr val="9C7222"/>
            </a:solidFill>
            <a:prstDash val="solid"/>
          </a:ln>
        </p:spPr>
      </p:sp>
      <p:sp>
        <p:nvSpPr>
          <p:cNvPr id="20" name="Text 17"/>
          <p:cNvSpPr txBox="1"/>
          <p:nvPr/>
        </p:nvSpPr>
        <p:spPr>
          <a:xfrm>
            <a:off x="7680960" y="1307592"/>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1</a:t>
            </a:r>
            <a:endParaRPr lang="en-US" sz="850" dirty="0"/>
          </a:p>
        </p:txBody>
      </p:sp>
      <p:sp>
        <p:nvSpPr>
          <p:cNvPr id="21" name="Text 18"/>
          <p:cNvSpPr txBox="1"/>
          <p:nvPr/>
        </p:nvSpPr>
        <p:spPr>
          <a:xfrm>
            <a:off x="7991856" y="1280160"/>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The state of the timestamp. </a:t>
            </a:r>
            <a:pPr indent="0" marL="0">
              <a:buNone/>
            </a:pPr>
            <a:r>
              <a:rPr lang="en-US" sz="1050" dirty="0">
                <a:solidFill>
                  <a:srgbClr val="6B6559"/>
                </a:solidFill>
                <a:latin typeface="Calibri" pitchFamily="34" charset="0"/>
                <a:ea typeface="Calibri" pitchFamily="34" charset="-122"/>
                <a:cs typeface="Calibri" pitchFamily="34" charset="-120"/>
              </a:rPr>
              <a:t>In the example: sealed, not yet externally confirmed. This page updates itself as anchors mature.</a:t>
            </a:r>
            <a:endParaRPr lang="en-US" sz="1050" dirty="0"/>
          </a:p>
        </p:txBody>
      </p:sp>
      <p:sp>
        <p:nvSpPr>
          <p:cNvPr id="22" name="Shape 19"/>
          <p:cNvSpPr/>
          <p:nvPr/>
        </p:nvSpPr>
        <p:spPr>
          <a:xfrm>
            <a:off x="7680960" y="2068830"/>
            <a:ext cx="219456" cy="219456"/>
          </a:xfrm>
          <a:prstGeom prst="ellipse">
            <a:avLst/>
          </a:prstGeom>
          <a:ln w="12700">
            <a:solidFill>
              <a:srgbClr val="9C7222"/>
            </a:solidFill>
            <a:prstDash val="solid"/>
          </a:ln>
        </p:spPr>
      </p:sp>
      <p:sp>
        <p:nvSpPr>
          <p:cNvPr id="23" name="Text 20"/>
          <p:cNvSpPr txBox="1"/>
          <p:nvPr/>
        </p:nvSpPr>
        <p:spPr>
          <a:xfrm>
            <a:off x="7680960" y="2068830"/>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2</a:t>
            </a:r>
            <a:endParaRPr lang="en-US" sz="850" dirty="0"/>
          </a:p>
        </p:txBody>
      </p:sp>
      <p:sp>
        <p:nvSpPr>
          <p:cNvPr id="24" name="Text 21"/>
          <p:cNvSpPr txBox="1"/>
          <p:nvPr/>
        </p:nvSpPr>
        <p:spPr>
          <a:xfrm>
            <a:off x="7991856" y="2041398"/>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The master hash, and the exact bytes that were signed. </a:t>
            </a:r>
            <a:pPr indent="0" marL="0">
              <a:buNone/>
            </a:pPr>
            <a:r>
              <a:rPr lang="en-US" sz="1050" dirty="0">
                <a:solidFill>
                  <a:srgbClr val="6B6559"/>
                </a:solidFill>
                <a:latin typeface="Calibri" pitchFamily="34" charset="0"/>
                <a:ea typeface="Calibri" pitchFamily="34" charset="-122"/>
                <a:cs typeface="Calibri" pitchFamily="34" charset="-120"/>
              </a:rPr>
              <a:t>Both can be downloaded so you can recompute it yourself.</a:t>
            </a:r>
            <a:endParaRPr lang="en-US" sz="1050" dirty="0"/>
          </a:p>
        </p:txBody>
      </p:sp>
      <p:sp>
        <p:nvSpPr>
          <p:cNvPr id="25" name="Shape 22"/>
          <p:cNvSpPr/>
          <p:nvPr/>
        </p:nvSpPr>
        <p:spPr>
          <a:xfrm>
            <a:off x="7680960" y="2830068"/>
            <a:ext cx="219456" cy="219456"/>
          </a:xfrm>
          <a:prstGeom prst="ellipse">
            <a:avLst/>
          </a:prstGeom>
          <a:ln w="12700">
            <a:solidFill>
              <a:srgbClr val="9C7222"/>
            </a:solidFill>
            <a:prstDash val="solid"/>
          </a:ln>
        </p:spPr>
      </p:sp>
      <p:sp>
        <p:nvSpPr>
          <p:cNvPr id="26" name="Text 23"/>
          <p:cNvSpPr txBox="1"/>
          <p:nvPr/>
        </p:nvSpPr>
        <p:spPr>
          <a:xfrm>
            <a:off x="7680960" y="2830068"/>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3</a:t>
            </a:r>
            <a:endParaRPr lang="en-US" sz="850" dirty="0"/>
          </a:p>
        </p:txBody>
      </p:sp>
      <p:sp>
        <p:nvSpPr>
          <p:cNvPr id="27" name="Text 24"/>
          <p:cNvSpPr txBox="1"/>
          <p:nvPr/>
        </p:nvSpPr>
        <p:spPr>
          <a:xfrm>
            <a:off x="7991856" y="2802636"/>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The anchors. </a:t>
            </a:r>
            <a:pPr indent="0" marL="0">
              <a:buNone/>
            </a:pPr>
            <a:r>
              <a:rPr lang="en-US" sz="1050" dirty="0">
                <a:solidFill>
                  <a:srgbClr val="6B6559"/>
                </a:solidFill>
                <a:latin typeface="Calibri" pitchFamily="34" charset="0"/>
                <a:ea typeface="Calibri" pitchFamily="34" charset="-122"/>
                <a:cs typeface="Calibri" pitchFamily="34" charset="-120"/>
              </a:rPr>
              <a:t>An RFC 3161 timestamp is immediate; the blockchain one takes hours to confirm. They show up here as they arrive.</a:t>
            </a:r>
            <a:endParaRPr lang="en-US" sz="1050" dirty="0"/>
          </a:p>
        </p:txBody>
      </p:sp>
      <p:sp>
        <p:nvSpPr>
          <p:cNvPr id="28" name="Shape 25"/>
          <p:cNvSpPr/>
          <p:nvPr/>
        </p:nvSpPr>
        <p:spPr>
          <a:xfrm>
            <a:off x="7680960" y="3591306"/>
            <a:ext cx="219456" cy="219456"/>
          </a:xfrm>
          <a:prstGeom prst="ellipse">
            <a:avLst/>
          </a:prstGeom>
          <a:ln w="12700">
            <a:solidFill>
              <a:srgbClr val="9C7222"/>
            </a:solidFill>
            <a:prstDash val="solid"/>
          </a:ln>
        </p:spPr>
      </p:sp>
      <p:sp>
        <p:nvSpPr>
          <p:cNvPr id="29" name="Text 26"/>
          <p:cNvSpPr txBox="1"/>
          <p:nvPr/>
        </p:nvSpPr>
        <p:spPr>
          <a:xfrm>
            <a:off x="7680960" y="3591306"/>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4</a:t>
            </a:r>
            <a:endParaRPr lang="en-US" sz="850" dirty="0"/>
          </a:p>
        </p:txBody>
      </p:sp>
      <p:sp>
        <p:nvSpPr>
          <p:cNvPr id="30" name="Text 27"/>
          <p:cNvSpPr txBox="1"/>
          <p:nvPr/>
        </p:nvSpPr>
        <p:spPr>
          <a:xfrm>
            <a:off x="7991856" y="3563874"/>
            <a:ext cx="3666744" cy="707136"/>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What it proves, and what it does not. </a:t>
            </a:r>
            <a:pPr indent="0" marL="0">
              <a:buNone/>
            </a:pPr>
            <a:r>
              <a:rPr lang="en-US" sz="1050" dirty="0">
                <a:solidFill>
                  <a:srgbClr val="6B6559"/>
                </a:solidFill>
                <a:latin typeface="Calibri" pitchFamily="34" charset="0"/>
                <a:ea typeface="Calibri" pitchFamily="34" charset="-122"/>
                <a:cs typeface="Calibri" pitchFamily="34" charset="-120"/>
              </a:rPr>
              <a:t>It proves WHEN that content existed. That what the documents claim is true is not proven by this, nor by anything else on this page.</a:t>
            </a:r>
            <a:endParaRPr lang="en-US" sz="1050" dirty="0"/>
          </a:p>
        </p:txBody>
      </p:sp>
      <p:sp>
        <p:nvSpPr>
          <p:cNvPr id="31" name="Text 28"/>
          <p:cNvSpPr txBox="1"/>
          <p:nvPr/>
        </p:nvSpPr>
        <p:spPr>
          <a:xfrm>
            <a:off x="502920" y="6190488"/>
            <a:ext cx="4039538" cy="219456"/>
          </a:xfrm>
          <a:prstGeom prst="rect">
            <a:avLst/>
          </a:prstGeom>
          <a:noFill/>
          <a:ln/>
        </p:spPr>
        <p:txBody>
          <a:bodyPr wrap="square" lIns="0" tIns="0" rIns="0" bIns="0" rtlCol="0" anchor="t"/>
          <a:lstStyle/>
          <a:p>
            <a:pPr indent="0" marL="0">
              <a:buNone/>
            </a:pPr>
            <a:r>
              <a:rPr lang="en-US" sz="800" dirty="0">
                <a:solidFill>
                  <a:srgbClr val="6B6559"/>
                </a:solidFill>
                <a:latin typeface="Courier New" pitchFamily="34" charset="0"/>
                <a:ea typeface="Courier New" pitchFamily="34" charset="-122"/>
                <a:cs typeface="Courier New" pitchFamily="34" charset="-120"/>
              </a:rPr>
              <a:t>/verify/aegis/summary//anchor/ — public page, no code needed</a:t>
            </a:r>
            <a:endParaRPr lang="en-US" sz="800" dirty="0"/>
          </a:p>
        </p:txBody>
      </p:sp>
      <p:sp>
        <p:nvSpPr>
          <p:cNvPr id="32" name="Shape 29"/>
          <p:cNvSpPr/>
          <p:nvPr/>
        </p:nvSpPr>
        <p:spPr>
          <a:xfrm>
            <a:off x="7680960" y="4627626"/>
            <a:ext cx="3977640" cy="1244600"/>
          </a:xfrm>
          <a:prstGeom prst="roundRect">
            <a:avLst>
              <a:gd name="adj" fmla="val 3673"/>
            </a:avLst>
          </a:prstGeom>
          <a:solidFill>
            <a:srgbClr val="FFFFFF"/>
          </a:solidFill>
          <a:ln w="12700">
            <a:solidFill>
              <a:srgbClr val="9C7222"/>
            </a:solidFill>
            <a:prstDash val="solid"/>
          </a:ln>
        </p:spPr>
      </p:sp>
      <p:sp>
        <p:nvSpPr>
          <p:cNvPr id="33" name="Text 30"/>
          <p:cNvSpPr txBox="1"/>
          <p:nvPr/>
        </p:nvSpPr>
        <p:spPr>
          <a:xfrm>
            <a:off x="7827264" y="4700778"/>
            <a:ext cx="3685032" cy="201168"/>
          </a:xfrm>
          <a:prstGeom prst="rect">
            <a:avLst/>
          </a:prstGeom>
          <a:noFill/>
          <a:ln/>
        </p:spPr>
        <p:txBody>
          <a:bodyPr wrap="square" lIns="0" tIns="0" rIns="0" bIns="0" rtlCol="0" anchor="ctr"/>
          <a:lstStyle/>
          <a:p>
            <a:pPr indent="0" marL="0">
              <a:buNone/>
            </a:pPr>
            <a:r>
              <a:rPr lang="en-US" sz="750" spc="120" kern="0" dirty="0">
                <a:solidFill>
                  <a:srgbClr val="9C7222"/>
                </a:solidFill>
                <a:latin typeface="Courier New" pitchFamily="34" charset="0"/>
                <a:ea typeface="Courier New" pitchFamily="34" charset="-122"/>
                <a:cs typeface="Courier New" pitchFamily="34" charset="-120"/>
              </a:rPr>
              <a:t>WHY THE QR DOES NOT CARRY THE PROOF INSIDE IT</a:t>
            </a:r>
            <a:endParaRPr lang="en-US" sz="750" dirty="0"/>
          </a:p>
        </p:txBody>
      </p:sp>
      <p:sp>
        <p:nvSpPr>
          <p:cNvPr id="34" name="Text 31"/>
          <p:cNvSpPr txBox="1"/>
          <p:nvPr/>
        </p:nvSpPr>
        <p:spPr>
          <a:xfrm>
            <a:off x="7827264" y="4901946"/>
            <a:ext cx="3685032" cy="897128"/>
          </a:xfrm>
          <a:prstGeom prst="rect">
            <a:avLst/>
          </a:prstGeom>
          <a:noFill/>
          <a:ln/>
        </p:spPr>
        <p:txBody>
          <a:bodyPr wrap="square" lIns="0" tIns="0" rIns="0" bIns="0" rtlCol="0" anchor="t"/>
          <a:lstStyle/>
          <a:p>
            <a:pPr indent="0" marL="0">
              <a:buNone/>
            </a:pPr>
            <a:r>
              <a:rPr lang="en-US" sz="1000" dirty="0">
                <a:solidFill>
                  <a:srgbClr val="12203A"/>
                </a:solidFill>
                <a:latin typeface="Calibri" pitchFamily="34" charset="0"/>
                <a:ea typeface="Calibri" pitchFamily="34" charset="-122"/>
                <a:cs typeface="Calibri" pitchFamily="34" charset="-120"/>
              </a:rPr>
              <a:t>The printed QR points at that page, not at the block on the chain. If it carried the proof printed on it, the paper would have to be reissued every time the anchor advances. This way a single document is issued, and it does not go stale when the confirmation lands.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84048"/>
            <a:ext cx="1051560" cy="548640"/>
          </a:xfrm>
          <a:prstGeom prst="rect">
            <a:avLst/>
          </a:prstGeom>
          <a:noFill/>
          <a:ln/>
        </p:spPr>
        <p:txBody>
          <a:bodyPr wrap="square" lIns="0" tIns="0" rIns="0" bIns="0" rtlCol="0" anchor="t"/>
          <a:lstStyle/>
          <a:p>
            <a:pPr indent="0" marL="0">
              <a:buNone/>
            </a:pPr>
            <a:r>
              <a:rPr lang="en-US" sz="800" spc="140" kern="0" dirty="0">
                <a:solidFill>
                  <a:srgbClr val="6B6559"/>
                </a:solidFill>
                <a:latin typeface="Courier New" pitchFamily="34" charset="0"/>
                <a:ea typeface="Courier New" pitchFamily="34" charset="-122"/>
                <a:cs typeface="Courier New" pitchFamily="34" charset="-120"/>
              </a:rPr>
              <a:t>THE OTHER PORTAL</a:t>
            </a:r>
            <a:endParaRPr lang="en-US" sz="800" dirty="0"/>
          </a:p>
        </p:txBody>
      </p:sp>
      <p:sp>
        <p:nvSpPr>
          <p:cNvPr id="3" name="Text 1"/>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Checking the person, not the paper</a:t>
            </a:r>
            <a:endParaRPr lang="en-US" sz="2600" dirty="0"/>
          </a:p>
        </p:txBody>
      </p:sp>
      <p:sp>
        <p:nvSpPr>
          <p:cNvPr id="4" name="Text 2"/>
          <p:cNvSpPr txBox="1"/>
          <p:nvPr/>
        </p:nvSpPr>
        <p:spPr>
          <a:xfrm>
            <a:off x="1645920" y="841248"/>
            <a:ext cx="10012680" cy="274320"/>
          </a:xfrm>
          <a:prstGeom prst="rect">
            <a:avLst/>
          </a:prstGeom>
          <a:noFill/>
          <a:ln/>
        </p:spPr>
        <p:txBody>
          <a:bodyPr wrap="square" lIns="0" tIns="0" rIns="0" bIns="0" rtlCol="0" anchor="t"/>
          <a:lstStyle/>
          <a:p>
            <a:pPr indent="0" marL="0">
              <a:buNone/>
            </a:pPr>
            <a:r>
              <a:rPr lang="en-US" sz="1200" dirty="0">
                <a:solidFill>
                  <a:srgbClr val="6B6559"/>
                </a:solidFill>
                <a:latin typeface="Calibri" pitchFamily="34" charset="0"/>
                <a:ea typeface="Calibri" pitchFamily="34" charset="-122"/>
                <a:cs typeface="Calibri" pitchFamily="34" charset="-120"/>
              </a:rPr>
              <a:t>For when someone says they are acting on behalf of the firm.</a:t>
            </a:r>
            <a:endParaRPr lang="en-US" sz="1200" dirty="0"/>
          </a:p>
        </p:txBody>
      </p:sp>
      <p:pic>
        <p:nvPicPr>
          <p:cNvPr id="5" name="Image 0" descr="/tmp/claude-0/-home-user-gea-module-0/05c86c8b-2f1b-52ff-8f50-3243e9e36b63/scratchpad/deck_img/10_personas_detalle.png">    </p:cNvPr>
          <p:cNvPicPr>
            <a:picLocks noChangeAspect="1"/>
          </p:cNvPicPr>
          <p:nvPr/>
        </p:nvPicPr>
        <p:blipFill>
          <a:blip r:embed="rId1"/>
          <a:stretch>
            <a:fillRect/>
          </a:stretch>
        </p:blipFill>
        <p:spPr>
          <a:xfrm>
            <a:off x="502920" y="1280160"/>
            <a:ext cx="5507857" cy="5166360"/>
          </a:xfrm>
          <a:prstGeom prst="rect">
            <a:avLst/>
          </a:prstGeom>
        </p:spPr>
      </p:pic>
      <p:sp>
        <p:nvSpPr>
          <p:cNvPr id="6" name="Shape 3"/>
          <p:cNvSpPr/>
          <p:nvPr/>
        </p:nvSpPr>
        <p:spPr>
          <a:xfrm>
            <a:off x="502920" y="1280160"/>
            <a:ext cx="5507857" cy="5166360"/>
          </a:xfrm>
          <a:prstGeom prst="rect">
            <a:avLst/>
          </a:prstGeom>
          <a:ln w="9525">
            <a:solidFill>
              <a:srgbClr val="DED8CB"/>
            </a:solidFill>
            <a:prstDash val="solid"/>
          </a:ln>
        </p:spPr>
      </p:sp>
      <p:sp>
        <p:nvSpPr>
          <p:cNvPr id="7" name="Shape 4"/>
          <p:cNvSpPr/>
          <p:nvPr/>
        </p:nvSpPr>
        <p:spPr>
          <a:xfrm>
            <a:off x="2386056" y="3193780"/>
            <a:ext cx="3590572" cy="128016"/>
          </a:xfrm>
          <a:prstGeom prst="roundRect">
            <a:avLst>
              <a:gd name="adj" fmla="val 21429"/>
            </a:avLst>
          </a:prstGeom>
          <a:ln w="19050">
            <a:solidFill>
              <a:srgbClr val="9C7222"/>
            </a:solidFill>
            <a:prstDash val="solid"/>
          </a:ln>
        </p:spPr>
      </p:sp>
      <p:sp>
        <p:nvSpPr>
          <p:cNvPr id="8" name="Shape 5"/>
          <p:cNvSpPr/>
          <p:nvPr/>
        </p:nvSpPr>
        <p:spPr>
          <a:xfrm>
            <a:off x="2267184" y="3074908"/>
            <a:ext cx="237744" cy="237744"/>
          </a:xfrm>
          <a:prstGeom prst="ellipse">
            <a:avLst/>
          </a:prstGeom>
          <a:solidFill>
            <a:srgbClr val="9C7222"/>
          </a:solidFill>
          <a:ln w="12700">
            <a:solidFill>
              <a:srgbClr val="FFFFFF"/>
            </a:solidFill>
            <a:prstDash val="solid"/>
          </a:ln>
        </p:spPr>
      </p:sp>
      <p:sp>
        <p:nvSpPr>
          <p:cNvPr id="9" name="Text 6"/>
          <p:cNvSpPr txBox="1"/>
          <p:nvPr/>
        </p:nvSpPr>
        <p:spPr>
          <a:xfrm>
            <a:off x="2267184" y="307490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1</a:t>
            </a:r>
            <a:endParaRPr lang="en-US" sz="900" dirty="0"/>
          </a:p>
        </p:txBody>
      </p:sp>
      <p:sp>
        <p:nvSpPr>
          <p:cNvPr id="10" name="Shape 7"/>
          <p:cNvSpPr/>
          <p:nvPr/>
        </p:nvSpPr>
        <p:spPr>
          <a:xfrm>
            <a:off x="2386056" y="4525667"/>
            <a:ext cx="3590572" cy="512503"/>
          </a:xfrm>
          <a:prstGeom prst="roundRect">
            <a:avLst>
              <a:gd name="adj" fmla="val 5353"/>
            </a:avLst>
          </a:prstGeom>
          <a:ln w="19050">
            <a:solidFill>
              <a:srgbClr val="9C7222"/>
            </a:solidFill>
            <a:prstDash val="solid"/>
          </a:ln>
        </p:spPr>
      </p:sp>
      <p:sp>
        <p:nvSpPr>
          <p:cNvPr id="11" name="Shape 8"/>
          <p:cNvSpPr/>
          <p:nvPr/>
        </p:nvSpPr>
        <p:spPr>
          <a:xfrm>
            <a:off x="2267184" y="4406795"/>
            <a:ext cx="237744" cy="237744"/>
          </a:xfrm>
          <a:prstGeom prst="ellipse">
            <a:avLst/>
          </a:prstGeom>
          <a:solidFill>
            <a:srgbClr val="9C7222"/>
          </a:solidFill>
          <a:ln w="12700">
            <a:solidFill>
              <a:srgbClr val="FFFFFF"/>
            </a:solidFill>
            <a:prstDash val="solid"/>
          </a:ln>
        </p:spPr>
      </p:sp>
      <p:sp>
        <p:nvSpPr>
          <p:cNvPr id="12" name="Text 9"/>
          <p:cNvSpPr txBox="1"/>
          <p:nvPr/>
        </p:nvSpPr>
        <p:spPr>
          <a:xfrm>
            <a:off x="2267184" y="4406795"/>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2</a:t>
            </a:r>
            <a:endParaRPr lang="en-US" sz="900" dirty="0"/>
          </a:p>
        </p:txBody>
      </p:sp>
      <p:sp>
        <p:nvSpPr>
          <p:cNvPr id="13" name="Shape 10"/>
          <p:cNvSpPr/>
          <p:nvPr/>
        </p:nvSpPr>
        <p:spPr>
          <a:xfrm>
            <a:off x="2469225" y="5258257"/>
            <a:ext cx="3424785" cy="128016"/>
          </a:xfrm>
          <a:prstGeom prst="roundRect">
            <a:avLst>
              <a:gd name="adj" fmla="val 21429"/>
            </a:avLst>
          </a:prstGeom>
          <a:ln w="19050">
            <a:solidFill>
              <a:srgbClr val="9C7222"/>
            </a:solidFill>
            <a:prstDash val="solid"/>
          </a:ln>
        </p:spPr>
      </p:sp>
      <p:sp>
        <p:nvSpPr>
          <p:cNvPr id="14" name="Shape 11"/>
          <p:cNvSpPr/>
          <p:nvPr/>
        </p:nvSpPr>
        <p:spPr>
          <a:xfrm>
            <a:off x="2350353" y="5139385"/>
            <a:ext cx="237744" cy="237744"/>
          </a:xfrm>
          <a:prstGeom prst="ellipse">
            <a:avLst/>
          </a:prstGeom>
          <a:solidFill>
            <a:srgbClr val="9C7222"/>
          </a:solidFill>
          <a:ln w="12700">
            <a:solidFill>
              <a:srgbClr val="FFFFFF"/>
            </a:solidFill>
            <a:prstDash val="solid"/>
          </a:ln>
        </p:spPr>
      </p:sp>
      <p:sp>
        <p:nvSpPr>
          <p:cNvPr id="15" name="Text 12"/>
          <p:cNvSpPr txBox="1"/>
          <p:nvPr/>
        </p:nvSpPr>
        <p:spPr>
          <a:xfrm>
            <a:off x="2350353" y="5139385"/>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3</a:t>
            </a:r>
            <a:endParaRPr lang="en-US" sz="900" dirty="0"/>
          </a:p>
        </p:txBody>
      </p:sp>
      <p:sp>
        <p:nvSpPr>
          <p:cNvPr id="16" name="Shape 13"/>
          <p:cNvSpPr/>
          <p:nvPr/>
        </p:nvSpPr>
        <p:spPr>
          <a:xfrm>
            <a:off x="7680960" y="1307592"/>
            <a:ext cx="219456" cy="219456"/>
          </a:xfrm>
          <a:prstGeom prst="ellipse">
            <a:avLst/>
          </a:prstGeom>
          <a:ln w="12700">
            <a:solidFill>
              <a:srgbClr val="9C7222"/>
            </a:solidFill>
            <a:prstDash val="solid"/>
          </a:ln>
        </p:spPr>
      </p:sp>
      <p:sp>
        <p:nvSpPr>
          <p:cNvPr id="17" name="Text 14"/>
          <p:cNvSpPr txBox="1"/>
          <p:nvPr/>
        </p:nvSpPr>
        <p:spPr>
          <a:xfrm>
            <a:off x="7680960" y="1307592"/>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1</a:t>
            </a:r>
            <a:endParaRPr lang="en-US" sz="850" dirty="0"/>
          </a:p>
        </p:txBody>
      </p:sp>
      <p:sp>
        <p:nvSpPr>
          <p:cNvPr id="18" name="Text 15"/>
          <p:cNvSpPr txBox="1"/>
          <p:nvPr/>
        </p:nvSpPr>
        <p:spPr>
          <a:xfrm>
            <a:off x="7991856" y="1280160"/>
            <a:ext cx="3666744" cy="707136"/>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The document number comes back masked. </a:t>
            </a:r>
            <a:pPr indent="0" marL="0">
              <a:buNone/>
            </a:pPr>
            <a:r>
              <a:rPr lang="en-US" sz="1050" dirty="0">
                <a:solidFill>
                  <a:srgbClr val="6B6559"/>
                </a:solidFill>
                <a:latin typeface="Calibri" pitchFamily="34" charset="0"/>
                <a:ea typeface="Calibri" pitchFamily="34" charset="-122"/>
                <a:cs typeface="Calibri" pitchFamily="34" charset="-120"/>
              </a:rPr>
              <a:t>Only the last digits. It confirms things for someone already holding the credential, without publishing the whole number.</a:t>
            </a:r>
            <a:endParaRPr lang="en-US" sz="1050" dirty="0"/>
          </a:p>
        </p:txBody>
      </p:sp>
      <p:sp>
        <p:nvSpPr>
          <p:cNvPr id="19" name="Shape 16"/>
          <p:cNvSpPr/>
          <p:nvPr/>
        </p:nvSpPr>
        <p:spPr>
          <a:xfrm>
            <a:off x="7680960" y="2234184"/>
            <a:ext cx="219456" cy="219456"/>
          </a:xfrm>
          <a:prstGeom prst="ellipse">
            <a:avLst/>
          </a:prstGeom>
          <a:ln w="12700">
            <a:solidFill>
              <a:srgbClr val="9C7222"/>
            </a:solidFill>
            <a:prstDash val="solid"/>
          </a:ln>
        </p:spPr>
      </p:sp>
      <p:sp>
        <p:nvSpPr>
          <p:cNvPr id="20" name="Text 17"/>
          <p:cNvSpPr txBox="1"/>
          <p:nvPr/>
        </p:nvSpPr>
        <p:spPr>
          <a:xfrm>
            <a:off x="7680960" y="2234184"/>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2</a:t>
            </a:r>
            <a:endParaRPr lang="en-US" sz="850" dirty="0"/>
          </a:p>
        </p:txBody>
      </p:sp>
      <p:sp>
        <p:nvSpPr>
          <p:cNvPr id="21" name="Text 18"/>
          <p:cNvSpPr txBox="1"/>
          <p:nvPr/>
        </p:nvSpPr>
        <p:spPr>
          <a:xfrm>
            <a:off x="7991856" y="2206752"/>
            <a:ext cx="3666744" cy="376428"/>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The barcode </a:t>
            </a:r>
            <a:pPr indent="0" marL="0">
              <a:buNone/>
            </a:pPr>
            <a:r>
              <a:rPr lang="en-US" sz="1050" dirty="0">
                <a:solidFill>
                  <a:srgbClr val="6B6559"/>
                </a:solidFill>
                <a:latin typeface="Calibri" pitchFamily="34" charset="0"/>
                <a:ea typeface="Calibri" pitchFamily="34" charset="-122"/>
                <a:cs typeface="Calibri" pitchFamily="34" charset="-120"/>
              </a:rPr>
              <a:t>carries the address of this very page: it is what the QR on the physical credential opens.</a:t>
            </a:r>
            <a:endParaRPr lang="en-US" sz="1050" dirty="0"/>
          </a:p>
        </p:txBody>
      </p:sp>
      <p:sp>
        <p:nvSpPr>
          <p:cNvPr id="22" name="Shape 19"/>
          <p:cNvSpPr/>
          <p:nvPr/>
        </p:nvSpPr>
        <p:spPr>
          <a:xfrm>
            <a:off x="7680960" y="2830068"/>
            <a:ext cx="219456" cy="219456"/>
          </a:xfrm>
          <a:prstGeom prst="ellipse">
            <a:avLst/>
          </a:prstGeom>
          <a:ln w="12700">
            <a:solidFill>
              <a:srgbClr val="9C7222"/>
            </a:solidFill>
            <a:prstDash val="solid"/>
          </a:ln>
        </p:spPr>
      </p:sp>
      <p:sp>
        <p:nvSpPr>
          <p:cNvPr id="23" name="Text 20"/>
          <p:cNvSpPr txBox="1"/>
          <p:nvPr/>
        </p:nvSpPr>
        <p:spPr>
          <a:xfrm>
            <a:off x="7680960" y="2830068"/>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3</a:t>
            </a:r>
            <a:endParaRPr lang="en-US" sz="850" dirty="0"/>
          </a:p>
        </p:txBody>
      </p:sp>
      <p:sp>
        <p:nvSpPr>
          <p:cNvPr id="24" name="Text 21"/>
          <p:cNvSpPr txBox="1"/>
          <p:nvPr/>
        </p:nvSpPr>
        <p:spPr>
          <a:xfrm>
            <a:off x="7991856" y="2802636"/>
            <a:ext cx="3666744" cy="707136"/>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Approved and Valid. </a:t>
            </a:r>
            <a:pPr indent="0" marL="0">
              <a:buNone/>
            </a:pPr>
            <a:r>
              <a:rPr lang="en-US" sz="1050" dirty="0">
                <a:solidFill>
                  <a:srgbClr val="6B6559"/>
                </a:solidFill>
                <a:latin typeface="Calibri" pitchFamily="34" charset="0"/>
                <a:ea typeface="Calibri" pitchFamily="34" charset="-122"/>
                <a:cs typeface="Calibri" pitchFamily="34" charset="-120"/>
              </a:rPr>
              <a:t>That is today's status. If the person leaves the organisation this page stops saying it — the printed credential has no way of knowing, this page does.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84048"/>
            <a:ext cx="1051560" cy="548640"/>
          </a:xfrm>
          <a:prstGeom prst="rect">
            <a:avLst/>
          </a:prstGeom>
          <a:noFill/>
          <a:ln/>
        </p:spPr>
        <p:txBody>
          <a:bodyPr wrap="square" lIns="0" tIns="0" rIns="0" bIns="0" rtlCol="0" anchor="t"/>
          <a:lstStyle/>
          <a:p>
            <a:pPr indent="0" marL="0">
              <a:buNone/>
            </a:pPr>
            <a:r>
              <a:rPr lang="en-US" sz="800" spc="140" kern="0" dirty="0">
                <a:solidFill>
                  <a:srgbClr val="6B6559"/>
                </a:solidFill>
                <a:latin typeface="Courier New" pitchFamily="34" charset="0"/>
                <a:ea typeface="Courier New" pitchFamily="34" charset="-122"/>
                <a:cs typeface="Courier New" pitchFamily="34" charset="-120"/>
              </a:rPr>
              <a:t>WORTH KEEPING TO HAND</a:t>
            </a:r>
            <a:endParaRPr lang="en-US" sz="800" dirty="0"/>
          </a:p>
        </p:txBody>
      </p:sp>
      <p:sp>
        <p:nvSpPr>
          <p:cNvPr id="3" name="Text 1"/>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What to share, and what not to</a:t>
            </a:r>
            <a:endParaRPr lang="en-US" sz="2600" dirty="0"/>
          </a:p>
        </p:txBody>
      </p:sp>
      <p:sp>
        <p:nvSpPr>
          <p:cNvPr id="4" name="Text 2"/>
          <p:cNvSpPr txBox="1"/>
          <p:nvPr/>
        </p:nvSpPr>
        <p:spPr>
          <a:xfrm>
            <a:off x="502920" y="1024128"/>
            <a:ext cx="3346704" cy="274320"/>
          </a:xfrm>
          <a:prstGeom prst="rect">
            <a:avLst/>
          </a:prstGeom>
          <a:noFill/>
          <a:ln/>
        </p:spPr>
        <p:txBody>
          <a:bodyPr wrap="square" lIns="0" tIns="0" rIns="0" bIns="0" rtlCol="0" anchor="ctr"/>
          <a:lstStyle/>
          <a:p>
            <a:pPr indent="0" marL="0">
              <a:buNone/>
            </a:pPr>
            <a:r>
              <a:rPr lang="en-US" sz="800" spc="120" kern="0" dirty="0">
                <a:solidFill>
                  <a:srgbClr val="6B6559"/>
                </a:solidFill>
                <a:latin typeface="Courier New" pitchFamily="34" charset="0"/>
                <a:ea typeface="Courier New" pitchFamily="34" charset="-122"/>
                <a:cs typeface="Courier New" pitchFamily="34" charset="-120"/>
              </a:rPr>
              <a:t>WHAT</a:t>
            </a:r>
            <a:endParaRPr lang="en-US" sz="800" dirty="0"/>
          </a:p>
        </p:txBody>
      </p:sp>
      <p:sp>
        <p:nvSpPr>
          <p:cNvPr id="5" name="Text 3"/>
          <p:cNvSpPr txBox="1"/>
          <p:nvPr/>
        </p:nvSpPr>
        <p:spPr>
          <a:xfrm>
            <a:off x="3849624" y="1024128"/>
            <a:ext cx="1896466" cy="274320"/>
          </a:xfrm>
          <a:prstGeom prst="rect">
            <a:avLst/>
          </a:prstGeom>
          <a:noFill/>
          <a:ln/>
        </p:spPr>
        <p:txBody>
          <a:bodyPr wrap="square" lIns="0" tIns="0" rIns="0" bIns="0" rtlCol="0" anchor="ctr"/>
          <a:lstStyle/>
          <a:p>
            <a:pPr indent="0" marL="0">
              <a:buNone/>
            </a:pPr>
            <a:r>
              <a:rPr lang="en-US" sz="800" spc="120" kern="0" dirty="0">
                <a:solidFill>
                  <a:srgbClr val="6B6559"/>
                </a:solidFill>
                <a:latin typeface="Courier New" pitchFamily="34" charset="0"/>
                <a:ea typeface="Courier New" pitchFamily="34" charset="-122"/>
                <a:cs typeface="Courier New" pitchFamily="34" charset="-120"/>
              </a:rPr>
              <a:t>WITH A THIRD PARTY</a:t>
            </a:r>
            <a:endParaRPr lang="en-US" sz="800" dirty="0"/>
          </a:p>
        </p:txBody>
      </p:sp>
      <p:sp>
        <p:nvSpPr>
          <p:cNvPr id="6" name="Text 4"/>
          <p:cNvSpPr txBox="1"/>
          <p:nvPr/>
        </p:nvSpPr>
        <p:spPr>
          <a:xfrm>
            <a:off x="5746090" y="1024128"/>
            <a:ext cx="5912510" cy="274320"/>
          </a:xfrm>
          <a:prstGeom prst="rect">
            <a:avLst/>
          </a:prstGeom>
          <a:noFill/>
          <a:ln/>
        </p:spPr>
        <p:txBody>
          <a:bodyPr wrap="square" lIns="0" tIns="0" rIns="0" bIns="0" rtlCol="0" anchor="ctr"/>
          <a:lstStyle/>
          <a:p>
            <a:pPr indent="0" marL="0">
              <a:buNone/>
            </a:pPr>
            <a:r>
              <a:rPr lang="en-US" sz="800" spc="120" kern="0" dirty="0">
                <a:solidFill>
                  <a:srgbClr val="6B6559"/>
                </a:solidFill>
                <a:latin typeface="Courier New" pitchFamily="34" charset="0"/>
                <a:ea typeface="Courier New" pitchFamily="34" charset="-122"/>
                <a:cs typeface="Courier New" pitchFamily="34" charset="-120"/>
              </a:rPr>
              <a:t>WHY</a:t>
            </a:r>
            <a:endParaRPr lang="en-US" sz="800" dirty="0"/>
          </a:p>
        </p:txBody>
      </p:sp>
      <p:sp>
        <p:nvSpPr>
          <p:cNvPr id="7" name="Shape 5"/>
          <p:cNvSpPr/>
          <p:nvPr/>
        </p:nvSpPr>
        <p:spPr>
          <a:xfrm>
            <a:off x="502920" y="1316736"/>
            <a:ext cx="11155680" cy="0"/>
          </a:xfrm>
          <a:prstGeom prst="line">
            <a:avLst/>
          </a:prstGeom>
          <a:noFill/>
          <a:ln w="12700">
            <a:solidFill>
              <a:srgbClr val="DED8CB"/>
            </a:solidFill>
            <a:prstDash val="solid"/>
          </a:ln>
        </p:spPr>
      </p:sp>
      <p:sp>
        <p:nvSpPr>
          <p:cNvPr id="8" name="Text 6"/>
          <p:cNvSpPr txBox="1"/>
          <p:nvPr/>
        </p:nvSpPr>
        <p:spPr>
          <a:xfrm>
            <a:off x="502920" y="1353312"/>
            <a:ext cx="3182112" cy="734133"/>
          </a:xfrm>
          <a:prstGeom prst="rect">
            <a:avLst/>
          </a:prstGeom>
          <a:noFill/>
          <a:ln/>
        </p:spPr>
        <p:txBody>
          <a:bodyPr wrap="square" lIns="0" tIns="0" rIns="0" bIns="0" rtlCol="0" anchor="ctr"/>
          <a:lstStyle/>
          <a:p>
            <a:pPr indent="0" marL="0">
              <a:buNone/>
            </a:pPr>
            <a:r>
              <a:rPr lang="en-US" sz="1050" b="1" dirty="0">
                <a:solidFill>
                  <a:srgbClr val="12203A"/>
                </a:solidFill>
                <a:latin typeface="Calibri" pitchFamily="34" charset="0"/>
                <a:ea typeface="Calibri" pitchFamily="34" charset="-122"/>
                <a:cs typeface="Calibri" pitchFamily="34" charset="-120"/>
              </a:rPr>
              <a:t>Distributable copy (PDF)</a:t>
            </a:r>
            <a:endParaRPr lang="en-US" sz="1050" dirty="0"/>
          </a:p>
        </p:txBody>
      </p:sp>
      <p:sp>
        <p:nvSpPr>
          <p:cNvPr id="9" name="Shape 7"/>
          <p:cNvSpPr/>
          <p:nvPr/>
        </p:nvSpPr>
        <p:spPr>
          <a:xfrm>
            <a:off x="3849624" y="1601506"/>
            <a:ext cx="822960" cy="237744"/>
          </a:xfrm>
          <a:prstGeom prst="roundRect">
            <a:avLst>
              <a:gd name="adj" fmla="val 15385"/>
            </a:avLst>
          </a:prstGeom>
          <a:solidFill>
            <a:srgbClr val="E4F0E9"/>
          </a:solidFill>
          <a:ln w="6350">
            <a:solidFill>
              <a:srgbClr val="E4F0E9"/>
            </a:solidFill>
            <a:prstDash val="solid"/>
          </a:ln>
        </p:spPr>
      </p:sp>
      <p:sp>
        <p:nvSpPr>
          <p:cNvPr id="10" name="Text 8"/>
          <p:cNvSpPr txBox="1"/>
          <p:nvPr/>
        </p:nvSpPr>
        <p:spPr>
          <a:xfrm>
            <a:off x="3849624" y="1601506"/>
            <a:ext cx="822960" cy="237744"/>
          </a:xfrm>
          <a:prstGeom prst="rect">
            <a:avLst/>
          </a:prstGeom>
          <a:noFill/>
          <a:ln/>
        </p:spPr>
        <p:txBody>
          <a:bodyPr wrap="square" lIns="0" tIns="0" rIns="0" bIns="0" rtlCol="0" anchor="ctr"/>
          <a:lstStyle/>
          <a:p>
            <a:pPr algn="ctr" indent="0" marL="0">
              <a:buNone/>
            </a:pPr>
            <a:r>
              <a:rPr lang="en-US" sz="700" dirty="0">
                <a:solidFill>
                  <a:srgbClr val="1B6046"/>
                </a:solidFill>
                <a:latin typeface="Courier New" pitchFamily="34" charset="0"/>
                <a:ea typeface="Courier New" pitchFamily="34" charset="-122"/>
                <a:cs typeface="Courier New" pitchFamily="34" charset="-120"/>
              </a:rPr>
              <a:t>SHARE IT</a:t>
            </a:r>
            <a:endParaRPr lang="en-US" sz="700" dirty="0"/>
          </a:p>
        </p:txBody>
      </p:sp>
      <p:sp>
        <p:nvSpPr>
          <p:cNvPr id="11" name="Text 9"/>
          <p:cNvSpPr txBox="1"/>
          <p:nvPr/>
        </p:nvSpPr>
        <p:spPr>
          <a:xfrm>
            <a:off x="5746090" y="1353312"/>
            <a:ext cx="5912510" cy="734133"/>
          </a:xfrm>
          <a:prstGeom prst="rect">
            <a:avLst/>
          </a:prstGeom>
          <a:noFill/>
          <a:ln/>
        </p:spPr>
        <p:txBody>
          <a:bodyPr wrap="square" lIns="0" tIns="0" rIns="0" bIns="0" rtlCol="0" anchor="ctr"/>
          <a:lstStyle/>
          <a:p>
            <a:pPr indent="0" marL="0">
              <a:buNone/>
            </a:pPr>
            <a:r>
              <a:rPr lang="en-US" sz="1000" dirty="0">
                <a:solidFill>
                  <a:srgbClr val="6B6559"/>
                </a:solidFill>
                <a:latin typeface="Calibri" pitchFamily="34" charset="0"/>
                <a:ea typeface="Calibri" pitchFamily="34" charset="-122"/>
                <a:cs typeface="Calibri" pitchFamily="34" charset="-120"/>
              </a:rPr>
              <a:t>This is the version meant to circulate. It carries the invisible mark that lets it be recognised.</a:t>
            </a:r>
            <a:endParaRPr lang="en-US" sz="1000" dirty="0"/>
          </a:p>
        </p:txBody>
      </p:sp>
      <p:sp>
        <p:nvSpPr>
          <p:cNvPr id="12" name="Shape 10"/>
          <p:cNvSpPr/>
          <p:nvPr/>
        </p:nvSpPr>
        <p:spPr>
          <a:xfrm>
            <a:off x="502920" y="2087445"/>
            <a:ext cx="11155680" cy="0"/>
          </a:xfrm>
          <a:prstGeom prst="line">
            <a:avLst/>
          </a:prstGeom>
          <a:noFill/>
          <a:ln w="9525">
            <a:solidFill>
              <a:srgbClr val="EBE6DA"/>
            </a:solidFill>
            <a:prstDash val="solid"/>
          </a:ln>
        </p:spPr>
      </p:sp>
      <p:sp>
        <p:nvSpPr>
          <p:cNvPr id="13" name="Text 11"/>
          <p:cNvSpPr txBox="1"/>
          <p:nvPr/>
        </p:nvSpPr>
        <p:spPr>
          <a:xfrm>
            <a:off x="502920" y="2087445"/>
            <a:ext cx="3182112" cy="734133"/>
          </a:xfrm>
          <a:prstGeom prst="rect">
            <a:avLst/>
          </a:prstGeom>
          <a:noFill/>
          <a:ln/>
        </p:spPr>
        <p:txBody>
          <a:bodyPr wrap="square" lIns="0" tIns="0" rIns="0" bIns="0" rtlCol="0" anchor="ctr"/>
          <a:lstStyle/>
          <a:p>
            <a:pPr indent="0" marL="0">
              <a:buNone/>
            </a:pPr>
            <a:r>
              <a:rPr lang="en-US" sz="1050" b="1" dirty="0">
                <a:solidFill>
                  <a:srgbClr val="12203A"/>
                </a:solidFill>
                <a:latin typeface="Calibri" pitchFamily="34" charset="0"/>
                <a:ea typeface="Calibri" pitchFamily="34" charset="-122"/>
                <a:cs typeface="Calibri" pitchFamily="34" charset="-120"/>
              </a:rPr>
              <a:t>Public code, 12 characters</a:t>
            </a:r>
            <a:endParaRPr lang="en-US" sz="1050" dirty="0"/>
          </a:p>
        </p:txBody>
      </p:sp>
      <p:sp>
        <p:nvSpPr>
          <p:cNvPr id="14" name="Shape 12"/>
          <p:cNvSpPr/>
          <p:nvPr/>
        </p:nvSpPr>
        <p:spPr>
          <a:xfrm>
            <a:off x="3849624" y="2335639"/>
            <a:ext cx="822960" cy="237744"/>
          </a:xfrm>
          <a:prstGeom prst="roundRect">
            <a:avLst>
              <a:gd name="adj" fmla="val 15385"/>
            </a:avLst>
          </a:prstGeom>
          <a:solidFill>
            <a:srgbClr val="E4F0E9"/>
          </a:solidFill>
          <a:ln w="6350">
            <a:solidFill>
              <a:srgbClr val="E4F0E9"/>
            </a:solidFill>
            <a:prstDash val="solid"/>
          </a:ln>
        </p:spPr>
      </p:sp>
      <p:sp>
        <p:nvSpPr>
          <p:cNvPr id="15" name="Text 13"/>
          <p:cNvSpPr txBox="1"/>
          <p:nvPr/>
        </p:nvSpPr>
        <p:spPr>
          <a:xfrm>
            <a:off x="3849624" y="2335639"/>
            <a:ext cx="822960" cy="237744"/>
          </a:xfrm>
          <a:prstGeom prst="rect">
            <a:avLst/>
          </a:prstGeom>
          <a:noFill/>
          <a:ln/>
        </p:spPr>
        <p:txBody>
          <a:bodyPr wrap="square" lIns="0" tIns="0" rIns="0" bIns="0" rtlCol="0" anchor="ctr"/>
          <a:lstStyle/>
          <a:p>
            <a:pPr algn="ctr" indent="0" marL="0">
              <a:buNone/>
            </a:pPr>
            <a:r>
              <a:rPr lang="en-US" sz="700" dirty="0">
                <a:solidFill>
                  <a:srgbClr val="1B6046"/>
                </a:solidFill>
                <a:latin typeface="Courier New" pitchFamily="34" charset="0"/>
                <a:ea typeface="Courier New" pitchFamily="34" charset="-122"/>
                <a:cs typeface="Courier New" pitchFamily="34" charset="-120"/>
              </a:rPr>
              <a:t>SHARE IT</a:t>
            </a:r>
            <a:endParaRPr lang="en-US" sz="700" dirty="0"/>
          </a:p>
        </p:txBody>
      </p:sp>
      <p:sp>
        <p:nvSpPr>
          <p:cNvPr id="16" name="Text 14"/>
          <p:cNvSpPr txBox="1"/>
          <p:nvPr/>
        </p:nvSpPr>
        <p:spPr>
          <a:xfrm>
            <a:off x="5746090" y="2087445"/>
            <a:ext cx="5912510" cy="734133"/>
          </a:xfrm>
          <a:prstGeom prst="rect">
            <a:avLst/>
          </a:prstGeom>
          <a:noFill/>
          <a:ln/>
        </p:spPr>
        <p:txBody>
          <a:bodyPr wrap="square" lIns="0" tIns="0" rIns="0" bIns="0" rtlCol="0" anchor="ctr"/>
          <a:lstStyle/>
          <a:p>
            <a:pPr indent="0" marL="0">
              <a:buNone/>
            </a:pPr>
            <a:r>
              <a:rPr lang="en-US" sz="1000" dirty="0">
                <a:solidFill>
                  <a:srgbClr val="6B6559"/>
                </a:solidFill>
                <a:latin typeface="Calibri" pitchFamily="34" charset="0"/>
                <a:ea typeface="Calibri" pitchFamily="34" charset="-122"/>
                <a:cs typeface="Calibri" pitchFamily="34" charset="-120"/>
              </a:rPr>
              <a:t>It is what the other side types to reach the document. It is printed on the PDF.</a:t>
            </a:r>
            <a:endParaRPr lang="en-US" sz="1000" dirty="0"/>
          </a:p>
        </p:txBody>
      </p:sp>
      <p:sp>
        <p:nvSpPr>
          <p:cNvPr id="17" name="Shape 15"/>
          <p:cNvSpPr/>
          <p:nvPr/>
        </p:nvSpPr>
        <p:spPr>
          <a:xfrm>
            <a:off x="502920" y="2821577"/>
            <a:ext cx="11155680" cy="0"/>
          </a:xfrm>
          <a:prstGeom prst="line">
            <a:avLst/>
          </a:prstGeom>
          <a:noFill/>
          <a:ln w="9525">
            <a:solidFill>
              <a:srgbClr val="EBE6DA"/>
            </a:solidFill>
            <a:prstDash val="solid"/>
          </a:ln>
        </p:spPr>
      </p:sp>
      <p:sp>
        <p:nvSpPr>
          <p:cNvPr id="18" name="Text 16"/>
          <p:cNvSpPr txBox="1"/>
          <p:nvPr/>
        </p:nvSpPr>
        <p:spPr>
          <a:xfrm>
            <a:off x="502920" y="2821577"/>
            <a:ext cx="3182112" cy="734133"/>
          </a:xfrm>
          <a:prstGeom prst="rect">
            <a:avLst/>
          </a:prstGeom>
          <a:noFill/>
          <a:ln/>
        </p:spPr>
        <p:txBody>
          <a:bodyPr wrap="square" lIns="0" tIns="0" rIns="0" bIns="0" rtlCol="0" anchor="ctr"/>
          <a:lstStyle/>
          <a:p>
            <a:pPr indent="0" marL="0">
              <a:buNone/>
            </a:pPr>
            <a:r>
              <a:rPr lang="en-US" sz="1050" b="1" dirty="0">
                <a:solidFill>
                  <a:srgbClr val="12203A"/>
                </a:solidFill>
                <a:latin typeface="Calibri" pitchFamily="34" charset="0"/>
                <a:ea typeface="Calibri" pitchFamily="34" charset="-122"/>
                <a:cs typeface="Calibri" pitchFamily="34" charset="-120"/>
              </a:rPr>
              <a:t>Certification record (JSON)</a:t>
            </a:r>
            <a:endParaRPr lang="en-US" sz="1050" dirty="0"/>
          </a:p>
        </p:txBody>
      </p:sp>
      <p:sp>
        <p:nvSpPr>
          <p:cNvPr id="19" name="Shape 17"/>
          <p:cNvSpPr/>
          <p:nvPr/>
        </p:nvSpPr>
        <p:spPr>
          <a:xfrm>
            <a:off x="3849624" y="3069771"/>
            <a:ext cx="822960" cy="237744"/>
          </a:xfrm>
          <a:prstGeom prst="roundRect">
            <a:avLst>
              <a:gd name="adj" fmla="val 15385"/>
            </a:avLst>
          </a:prstGeom>
          <a:solidFill>
            <a:srgbClr val="E4F0E9"/>
          </a:solidFill>
          <a:ln w="6350">
            <a:solidFill>
              <a:srgbClr val="E4F0E9"/>
            </a:solidFill>
            <a:prstDash val="solid"/>
          </a:ln>
        </p:spPr>
      </p:sp>
      <p:sp>
        <p:nvSpPr>
          <p:cNvPr id="20" name="Text 18"/>
          <p:cNvSpPr txBox="1"/>
          <p:nvPr/>
        </p:nvSpPr>
        <p:spPr>
          <a:xfrm>
            <a:off x="3849624" y="3069771"/>
            <a:ext cx="822960" cy="237744"/>
          </a:xfrm>
          <a:prstGeom prst="rect">
            <a:avLst/>
          </a:prstGeom>
          <a:noFill/>
          <a:ln/>
        </p:spPr>
        <p:txBody>
          <a:bodyPr wrap="square" lIns="0" tIns="0" rIns="0" bIns="0" rtlCol="0" anchor="ctr"/>
          <a:lstStyle/>
          <a:p>
            <a:pPr algn="ctr" indent="0" marL="0">
              <a:buNone/>
            </a:pPr>
            <a:r>
              <a:rPr lang="en-US" sz="700" dirty="0">
                <a:solidFill>
                  <a:srgbClr val="1B6046"/>
                </a:solidFill>
                <a:latin typeface="Courier New" pitchFamily="34" charset="0"/>
                <a:ea typeface="Courier New" pitchFamily="34" charset="-122"/>
                <a:cs typeface="Courier New" pitchFamily="34" charset="-120"/>
              </a:rPr>
              <a:t>SHARE IT</a:t>
            </a:r>
            <a:endParaRPr lang="en-US" sz="700" dirty="0"/>
          </a:p>
        </p:txBody>
      </p:sp>
      <p:sp>
        <p:nvSpPr>
          <p:cNvPr id="21" name="Text 19"/>
          <p:cNvSpPr txBox="1"/>
          <p:nvPr/>
        </p:nvSpPr>
        <p:spPr>
          <a:xfrm>
            <a:off x="5746090" y="2821577"/>
            <a:ext cx="5912510" cy="734133"/>
          </a:xfrm>
          <a:prstGeom prst="rect">
            <a:avLst/>
          </a:prstGeom>
          <a:noFill/>
          <a:ln/>
        </p:spPr>
        <p:txBody>
          <a:bodyPr wrap="square" lIns="0" tIns="0" rIns="0" bIns="0" rtlCol="0" anchor="ctr"/>
          <a:lstStyle/>
          <a:p>
            <a:pPr indent="0" marL="0">
              <a:buNone/>
            </a:pPr>
            <a:r>
              <a:rPr lang="en-US" sz="1000" dirty="0">
                <a:solidFill>
                  <a:srgbClr val="6B6559"/>
                </a:solidFill>
                <a:latin typeface="Calibri" pitchFamily="34" charset="0"/>
                <a:ea typeface="Calibri" pitchFamily="34" charset="-122"/>
                <a:cs typeface="Calibri" pitchFamily="34" charset="-120"/>
              </a:rPr>
              <a:t>Made for an auditor. It does not contain the document, only its fingerprints.</a:t>
            </a:r>
            <a:endParaRPr lang="en-US" sz="1000" dirty="0"/>
          </a:p>
        </p:txBody>
      </p:sp>
      <p:sp>
        <p:nvSpPr>
          <p:cNvPr id="22" name="Shape 20"/>
          <p:cNvSpPr/>
          <p:nvPr/>
        </p:nvSpPr>
        <p:spPr>
          <a:xfrm>
            <a:off x="502920" y="3555710"/>
            <a:ext cx="11155680" cy="0"/>
          </a:xfrm>
          <a:prstGeom prst="line">
            <a:avLst/>
          </a:prstGeom>
          <a:noFill/>
          <a:ln w="9525">
            <a:solidFill>
              <a:srgbClr val="EBE6DA"/>
            </a:solidFill>
            <a:prstDash val="solid"/>
          </a:ln>
        </p:spPr>
      </p:sp>
      <p:sp>
        <p:nvSpPr>
          <p:cNvPr id="23" name="Text 21"/>
          <p:cNvSpPr txBox="1"/>
          <p:nvPr/>
        </p:nvSpPr>
        <p:spPr>
          <a:xfrm>
            <a:off x="502920" y="3555710"/>
            <a:ext cx="3182112" cy="734133"/>
          </a:xfrm>
          <a:prstGeom prst="rect">
            <a:avLst/>
          </a:prstGeom>
          <a:noFill/>
          <a:ln/>
        </p:spPr>
        <p:txBody>
          <a:bodyPr wrap="square" lIns="0" tIns="0" rIns="0" bIns="0" rtlCol="0" anchor="ctr"/>
          <a:lstStyle/>
          <a:p>
            <a:pPr indent="0" marL="0">
              <a:buNone/>
            </a:pPr>
            <a:r>
              <a:rPr lang="en-US" sz="1050" b="1" dirty="0">
                <a:solidFill>
                  <a:srgbClr val="12203A"/>
                </a:solidFill>
                <a:latin typeface="Calibri" pitchFamily="34" charset="0"/>
                <a:ea typeface="Calibri" pitchFamily="34" charset="-122"/>
                <a:cs typeface="Calibri" pitchFamily="34" charset="-120"/>
              </a:rPr>
              <a:t>Timestamp page link</a:t>
            </a:r>
            <a:endParaRPr lang="en-US" sz="1050" dirty="0"/>
          </a:p>
        </p:txBody>
      </p:sp>
      <p:sp>
        <p:nvSpPr>
          <p:cNvPr id="24" name="Shape 22"/>
          <p:cNvSpPr/>
          <p:nvPr/>
        </p:nvSpPr>
        <p:spPr>
          <a:xfrm>
            <a:off x="3849624" y="3803904"/>
            <a:ext cx="822960" cy="237744"/>
          </a:xfrm>
          <a:prstGeom prst="roundRect">
            <a:avLst>
              <a:gd name="adj" fmla="val 15385"/>
            </a:avLst>
          </a:prstGeom>
          <a:solidFill>
            <a:srgbClr val="E4F0E9"/>
          </a:solidFill>
          <a:ln w="6350">
            <a:solidFill>
              <a:srgbClr val="E4F0E9"/>
            </a:solidFill>
            <a:prstDash val="solid"/>
          </a:ln>
        </p:spPr>
      </p:sp>
      <p:sp>
        <p:nvSpPr>
          <p:cNvPr id="25" name="Text 23"/>
          <p:cNvSpPr txBox="1"/>
          <p:nvPr/>
        </p:nvSpPr>
        <p:spPr>
          <a:xfrm>
            <a:off x="3849624" y="3803904"/>
            <a:ext cx="822960" cy="237744"/>
          </a:xfrm>
          <a:prstGeom prst="rect">
            <a:avLst/>
          </a:prstGeom>
          <a:noFill/>
          <a:ln/>
        </p:spPr>
        <p:txBody>
          <a:bodyPr wrap="square" lIns="0" tIns="0" rIns="0" bIns="0" rtlCol="0" anchor="ctr"/>
          <a:lstStyle/>
          <a:p>
            <a:pPr algn="ctr" indent="0" marL="0">
              <a:buNone/>
            </a:pPr>
            <a:r>
              <a:rPr lang="en-US" sz="700" dirty="0">
                <a:solidFill>
                  <a:srgbClr val="1B6046"/>
                </a:solidFill>
                <a:latin typeface="Courier New" pitchFamily="34" charset="0"/>
                <a:ea typeface="Courier New" pitchFamily="34" charset="-122"/>
                <a:cs typeface="Courier New" pitchFamily="34" charset="-120"/>
              </a:rPr>
              <a:t>SHARE IT</a:t>
            </a:r>
            <a:endParaRPr lang="en-US" sz="700" dirty="0"/>
          </a:p>
        </p:txBody>
      </p:sp>
      <p:sp>
        <p:nvSpPr>
          <p:cNvPr id="26" name="Text 24"/>
          <p:cNvSpPr txBox="1"/>
          <p:nvPr/>
        </p:nvSpPr>
        <p:spPr>
          <a:xfrm>
            <a:off x="5746090" y="3555710"/>
            <a:ext cx="5912510" cy="734133"/>
          </a:xfrm>
          <a:prstGeom prst="rect">
            <a:avLst/>
          </a:prstGeom>
          <a:noFill/>
          <a:ln/>
        </p:spPr>
        <p:txBody>
          <a:bodyPr wrap="square" lIns="0" tIns="0" rIns="0" bIns="0" rtlCol="0" anchor="ctr"/>
          <a:lstStyle/>
          <a:p>
            <a:pPr indent="0" marL="0">
              <a:buNone/>
            </a:pPr>
            <a:r>
              <a:rPr lang="en-US" sz="1000" dirty="0">
                <a:solidFill>
                  <a:srgbClr val="6B6559"/>
                </a:solidFill>
                <a:latin typeface="Calibri" pitchFamily="34" charset="0"/>
                <a:ea typeface="Calibri" pitchFamily="34" charset="-122"/>
                <a:cs typeface="Calibri" pitchFamily="34" charset="-120"/>
              </a:rPr>
              <a:t>A public page. Fingerprints and dates only, no content.</a:t>
            </a:r>
            <a:endParaRPr lang="en-US" sz="1000" dirty="0"/>
          </a:p>
        </p:txBody>
      </p:sp>
      <p:sp>
        <p:nvSpPr>
          <p:cNvPr id="27" name="Shape 25"/>
          <p:cNvSpPr/>
          <p:nvPr/>
        </p:nvSpPr>
        <p:spPr>
          <a:xfrm>
            <a:off x="502920" y="4289842"/>
            <a:ext cx="11155680" cy="0"/>
          </a:xfrm>
          <a:prstGeom prst="line">
            <a:avLst/>
          </a:prstGeom>
          <a:noFill/>
          <a:ln w="9525">
            <a:solidFill>
              <a:srgbClr val="EBE6DA"/>
            </a:solidFill>
            <a:prstDash val="solid"/>
          </a:ln>
        </p:spPr>
      </p:sp>
      <p:sp>
        <p:nvSpPr>
          <p:cNvPr id="28" name="Text 26"/>
          <p:cNvSpPr txBox="1"/>
          <p:nvPr/>
        </p:nvSpPr>
        <p:spPr>
          <a:xfrm>
            <a:off x="502920" y="4289842"/>
            <a:ext cx="3182112" cy="734133"/>
          </a:xfrm>
          <a:prstGeom prst="rect">
            <a:avLst/>
          </a:prstGeom>
          <a:noFill/>
          <a:ln/>
        </p:spPr>
        <p:txBody>
          <a:bodyPr wrap="square" lIns="0" tIns="0" rIns="0" bIns="0" rtlCol="0" anchor="ctr"/>
          <a:lstStyle/>
          <a:p>
            <a:pPr indent="0" marL="0">
              <a:buNone/>
            </a:pPr>
            <a:r>
              <a:rPr lang="en-US" sz="1050" b="1" dirty="0">
                <a:solidFill>
                  <a:srgbClr val="12203A"/>
                </a:solidFill>
                <a:latin typeface="Calibri" pitchFamily="34" charset="0"/>
                <a:ea typeface="Calibri" pitchFamily="34" charset="-122"/>
                <a:cs typeface="Calibri" pitchFamily="34" charset="-120"/>
              </a:rPr>
              <a:t>Certified copy (your own, with the codes)</a:t>
            </a:r>
            <a:endParaRPr lang="en-US" sz="1050" dirty="0"/>
          </a:p>
        </p:txBody>
      </p:sp>
      <p:sp>
        <p:nvSpPr>
          <p:cNvPr id="29" name="Shape 27"/>
          <p:cNvSpPr/>
          <p:nvPr/>
        </p:nvSpPr>
        <p:spPr>
          <a:xfrm>
            <a:off x="3849624" y="4538037"/>
            <a:ext cx="754380" cy="237744"/>
          </a:xfrm>
          <a:prstGeom prst="roundRect">
            <a:avLst>
              <a:gd name="adj" fmla="val 15385"/>
            </a:avLst>
          </a:prstGeom>
          <a:solidFill>
            <a:srgbClr val="F3F0E8"/>
          </a:solidFill>
          <a:ln w="6350">
            <a:solidFill>
              <a:srgbClr val="F3F0E8"/>
            </a:solidFill>
            <a:prstDash val="solid"/>
          </a:ln>
        </p:spPr>
      </p:sp>
      <p:sp>
        <p:nvSpPr>
          <p:cNvPr id="30" name="Text 28"/>
          <p:cNvSpPr txBox="1"/>
          <p:nvPr/>
        </p:nvSpPr>
        <p:spPr>
          <a:xfrm>
            <a:off x="3849624" y="4538037"/>
            <a:ext cx="754380" cy="237744"/>
          </a:xfrm>
          <a:prstGeom prst="rect">
            <a:avLst/>
          </a:prstGeom>
          <a:noFill/>
          <a:ln/>
        </p:spPr>
        <p:txBody>
          <a:bodyPr wrap="square" lIns="0" tIns="0" rIns="0" bIns="0" rtlCol="0" anchor="ctr"/>
          <a:lstStyle/>
          <a:p>
            <a:pPr algn="ctr" indent="0" marL="0">
              <a:buNone/>
            </a:pPr>
            <a:r>
              <a:rPr lang="en-US" sz="700" dirty="0">
                <a:solidFill>
                  <a:srgbClr val="6B6559"/>
                </a:solidFill>
                <a:latin typeface="Courier New" pitchFamily="34" charset="0"/>
                <a:ea typeface="Courier New" pitchFamily="34" charset="-122"/>
                <a:cs typeface="Courier New" pitchFamily="34" charset="-120"/>
              </a:rPr>
              <a:t>KEEP IT</a:t>
            </a:r>
            <a:endParaRPr lang="en-US" sz="700" dirty="0"/>
          </a:p>
        </p:txBody>
      </p:sp>
      <p:sp>
        <p:nvSpPr>
          <p:cNvPr id="31" name="Text 29"/>
          <p:cNvSpPr txBox="1"/>
          <p:nvPr/>
        </p:nvSpPr>
        <p:spPr>
          <a:xfrm>
            <a:off x="5746090" y="4289842"/>
            <a:ext cx="5912510" cy="734133"/>
          </a:xfrm>
          <a:prstGeom prst="rect">
            <a:avLst/>
          </a:prstGeom>
          <a:noFill/>
          <a:ln/>
        </p:spPr>
        <p:txBody>
          <a:bodyPr wrap="square" lIns="0" tIns="0" rIns="0" bIns="0" rtlCol="0" anchor="ctr"/>
          <a:lstStyle/>
          <a:p>
            <a:pPr indent="0" marL="0">
              <a:buNone/>
            </a:pPr>
            <a:r>
              <a:rPr lang="en-US" sz="1000" dirty="0">
                <a:solidFill>
                  <a:srgbClr val="6B6559"/>
                </a:solidFill>
                <a:latin typeface="Calibri" pitchFamily="34" charset="0"/>
                <a:ea typeface="Calibri" pitchFamily="34" charset="-122"/>
                <a:cs typeface="Calibri" pitchFamily="34" charset="-120"/>
              </a:rPr>
              <a:t>No need to hand it over: the distributable copy proves the same thing.</a:t>
            </a:r>
            <a:endParaRPr lang="en-US" sz="1000" dirty="0"/>
          </a:p>
        </p:txBody>
      </p:sp>
      <p:sp>
        <p:nvSpPr>
          <p:cNvPr id="32" name="Shape 30"/>
          <p:cNvSpPr/>
          <p:nvPr/>
        </p:nvSpPr>
        <p:spPr>
          <a:xfrm>
            <a:off x="502920" y="5023975"/>
            <a:ext cx="11155680" cy="0"/>
          </a:xfrm>
          <a:prstGeom prst="line">
            <a:avLst/>
          </a:prstGeom>
          <a:noFill/>
          <a:ln w="9525">
            <a:solidFill>
              <a:srgbClr val="EBE6DA"/>
            </a:solidFill>
            <a:prstDash val="solid"/>
          </a:ln>
        </p:spPr>
      </p:sp>
      <p:sp>
        <p:nvSpPr>
          <p:cNvPr id="33" name="Text 31"/>
          <p:cNvSpPr txBox="1"/>
          <p:nvPr/>
        </p:nvSpPr>
        <p:spPr>
          <a:xfrm>
            <a:off x="502920" y="5023975"/>
            <a:ext cx="3182112" cy="734133"/>
          </a:xfrm>
          <a:prstGeom prst="rect">
            <a:avLst/>
          </a:prstGeom>
          <a:noFill/>
          <a:ln/>
        </p:spPr>
        <p:txBody>
          <a:bodyPr wrap="square" lIns="0" tIns="0" rIns="0" bIns="0" rtlCol="0" anchor="ctr"/>
          <a:lstStyle/>
          <a:p>
            <a:pPr indent="0" marL="0">
              <a:buNone/>
            </a:pPr>
            <a:r>
              <a:rPr lang="en-US" sz="1050" b="1" dirty="0">
                <a:solidFill>
                  <a:srgbClr val="12203A"/>
                </a:solidFill>
                <a:latin typeface="Calibri" pitchFamily="34" charset="0"/>
                <a:ea typeface="Calibri" pitchFamily="34" charset="-122"/>
                <a:cs typeface="Calibri" pitchFamily="34" charset="-120"/>
              </a:rPr>
              <a:t>Original document, without codes</a:t>
            </a:r>
            <a:endParaRPr lang="en-US" sz="1050" dirty="0"/>
          </a:p>
        </p:txBody>
      </p:sp>
      <p:sp>
        <p:nvSpPr>
          <p:cNvPr id="34" name="Shape 32"/>
          <p:cNvSpPr/>
          <p:nvPr/>
        </p:nvSpPr>
        <p:spPr>
          <a:xfrm>
            <a:off x="3849624" y="5272169"/>
            <a:ext cx="1097280" cy="237744"/>
          </a:xfrm>
          <a:prstGeom prst="roundRect">
            <a:avLst>
              <a:gd name="adj" fmla="val 15385"/>
            </a:avLst>
          </a:prstGeom>
          <a:solidFill>
            <a:srgbClr val="F8E7E2"/>
          </a:solidFill>
          <a:ln w="6350">
            <a:solidFill>
              <a:srgbClr val="F8E7E2"/>
            </a:solidFill>
            <a:prstDash val="solid"/>
          </a:ln>
        </p:spPr>
      </p:sp>
      <p:sp>
        <p:nvSpPr>
          <p:cNvPr id="35" name="Text 33"/>
          <p:cNvSpPr txBox="1"/>
          <p:nvPr/>
        </p:nvSpPr>
        <p:spPr>
          <a:xfrm>
            <a:off x="3849624" y="5272169"/>
            <a:ext cx="1097280" cy="237744"/>
          </a:xfrm>
          <a:prstGeom prst="rect">
            <a:avLst/>
          </a:prstGeom>
          <a:noFill/>
          <a:ln/>
        </p:spPr>
        <p:txBody>
          <a:bodyPr wrap="square" lIns="0" tIns="0" rIns="0" bIns="0" rtlCol="0" anchor="ctr"/>
          <a:lstStyle/>
          <a:p>
            <a:pPr algn="ctr" indent="0" marL="0">
              <a:buNone/>
            </a:pPr>
            <a:r>
              <a:rPr lang="en-US" sz="700" dirty="0">
                <a:solidFill>
                  <a:srgbClr val="8E3120"/>
                </a:solidFill>
                <a:latin typeface="Courier New" pitchFamily="34" charset="0"/>
                <a:ea typeface="Courier New" pitchFamily="34" charset="-122"/>
                <a:cs typeface="Courier New" pitchFamily="34" charset="-120"/>
              </a:rPr>
              <a:t>NEVER LEAVES</a:t>
            </a:r>
            <a:endParaRPr lang="en-US" sz="700" dirty="0"/>
          </a:p>
        </p:txBody>
      </p:sp>
      <p:sp>
        <p:nvSpPr>
          <p:cNvPr id="36" name="Text 34"/>
          <p:cNvSpPr txBox="1"/>
          <p:nvPr/>
        </p:nvSpPr>
        <p:spPr>
          <a:xfrm>
            <a:off x="5746090" y="5023975"/>
            <a:ext cx="5912510" cy="734133"/>
          </a:xfrm>
          <a:prstGeom prst="rect">
            <a:avLst/>
          </a:prstGeom>
          <a:noFill/>
          <a:ln/>
        </p:spPr>
        <p:txBody>
          <a:bodyPr wrap="square" lIns="0" tIns="0" rIns="0" bIns="0" rtlCol="0" anchor="ctr"/>
          <a:lstStyle/>
          <a:p>
            <a:pPr indent="0" marL="0">
              <a:buNone/>
            </a:pPr>
            <a:r>
              <a:rPr lang="en-US" sz="1000" dirty="0">
                <a:solidFill>
                  <a:srgbClr val="6B6559"/>
                </a:solidFill>
                <a:latin typeface="Calibri" pitchFamily="34" charset="0"/>
                <a:ea typeface="Calibri" pitchFamily="34" charset="-122"/>
                <a:cs typeface="Calibri" pitchFamily="34" charset="-120"/>
              </a:rPr>
              <a:t>It stays on file in the platform. Only internal staff can open it.</a:t>
            </a:r>
            <a:endParaRPr lang="en-US" sz="1000" dirty="0"/>
          </a:p>
        </p:txBody>
      </p:sp>
      <p:sp>
        <p:nvSpPr>
          <p:cNvPr id="37" name="Shape 35"/>
          <p:cNvSpPr/>
          <p:nvPr/>
        </p:nvSpPr>
        <p:spPr>
          <a:xfrm>
            <a:off x="502920" y="5758107"/>
            <a:ext cx="11155680" cy="0"/>
          </a:xfrm>
          <a:prstGeom prst="line">
            <a:avLst/>
          </a:prstGeom>
          <a:noFill/>
          <a:ln w="9525">
            <a:solidFill>
              <a:srgbClr val="EBE6DA"/>
            </a:solidFill>
            <a:prstDash val="solid"/>
          </a:ln>
        </p:spPr>
      </p:sp>
      <p:sp>
        <p:nvSpPr>
          <p:cNvPr id="38" name="Text 36"/>
          <p:cNvSpPr txBox="1"/>
          <p:nvPr/>
        </p:nvSpPr>
        <p:spPr>
          <a:xfrm>
            <a:off x="502920" y="5758107"/>
            <a:ext cx="3182112" cy="734133"/>
          </a:xfrm>
          <a:prstGeom prst="rect">
            <a:avLst/>
          </a:prstGeom>
          <a:noFill/>
          <a:ln/>
        </p:spPr>
        <p:txBody>
          <a:bodyPr wrap="square" lIns="0" tIns="0" rIns="0" bIns="0" rtlCol="0" anchor="ctr"/>
          <a:lstStyle/>
          <a:p>
            <a:pPr indent="0" marL="0">
              <a:buNone/>
            </a:pPr>
            <a:r>
              <a:rPr lang="en-US" sz="1050" b="1" dirty="0">
                <a:solidFill>
                  <a:srgbClr val="12203A"/>
                </a:solidFill>
                <a:latin typeface="Calibri" pitchFamily="34" charset="0"/>
                <a:ea typeface="Calibri" pitchFamily="34" charset="-122"/>
                <a:cs typeface="Calibri" pitchFamily="34" charset="-120"/>
              </a:rPr>
              <a:t>The six-digit code from your email</a:t>
            </a:r>
            <a:endParaRPr lang="en-US" sz="1050" dirty="0"/>
          </a:p>
        </p:txBody>
      </p:sp>
      <p:sp>
        <p:nvSpPr>
          <p:cNvPr id="39" name="Shape 37"/>
          <p:cNvSpPr/>
          <p:nvPr/>
        </p:nvSpPr>
        <p:spPr>
          <a:xfrm>
            <a:off x="3849624" y="6006302"/>
            <a:ext cx="617220" cy="237744"/>
          </a:xfrm>
          <a:prstGeom prst="roundRect">
            <a:avLst>
              <a:gd name="adj" fmla="val 15385"/>
            </a:avLst>
          </a:prstGeom>
          <a:solidFill>
            <a:srgbClr val="F8E7E2"/>
          </a:solidFill>
          <a:ln w="6350">
            <a:solidFill>
              <a:srgbClr val="F8E7E2"/>
            </a:solidFill>
            <a:prstDash val="solid"/>
          </a:ln>
        </p:spPr>
      </p:sp>
      <p:sp>
        <p:nvSpPr>
          <p:cNvPr id="40" name="Text 38"/>
          <p:cNvSpPr txBox="1"/>
          <p:nvPr/>
        </p:nvSpPr>
        <p:spPr>
          <a:xfrm>
            <a:off x="3849624" y="6006302"/>
            <a:ext cx="617220" cy="237744"/>
          </a:xfrm>
          <a:prstGeom prst="rect">
            <a:avLst/>
          </a:prstGeom>
          <a:noFill/>
          <a:ln/>
        </p:spPr>
        <p:txBody>
          <a:bodyPr wrap="square" lIns="0" tIns="0" rIns="0" bIns="0" rtlCol="0" anchor="ctr"/>
          <a:lstStyle/>
          <a:p>
            <a:pPr algn="ctr" indent="0" marL="0">
              <a:buNone/>
            </a:pPr>
            <a:r>
              <a:rPr lang="en-US" sz="700" dirty="0">
                <a:solidFill>
                  <a:srgbClr val="8E3120"/>
                </a:solidFill>
                <a:latin typeface="Courier New" pitchFamily="34" charset="0"/>
                <a:ea typeface="Courier New" pitchFamily="34" charset="-122"/>
                <a:cs typeface="Courier New" pitchFamily="34" charset="-120"/>
              </a:rPr>
              <a:t>NEVER</a:t>
            </a:r>
            <a:endParaRPr lang="en-US" sz="700" dirty="0"/>
          </a:p>
        </p:txBody>
      </p:sp>
      <p:sp>
        <p:nvSpPr>
          <p:cNvPr id="41" name="Text 39"/>
          <p:cNvSpPr txBox="1"/>
          <p:nvPr/>
        </p:nvSpPr>
        <p:spPr>
          <a:xfrm>
            <a:off x="5746090" y="5758107"/>
            <a:ext cx="5912510" cy="734133"/>
          </a:xfrm>
          <a:prstGeom prst="rect">
            <a:avLst/>
          </a:prstGeom>
          <a:noFill/>
          <a:ln/>
        </p:spPr>
        <p:txBody>
          <a:bodyPr wrap="square" lIns="0" tIns="0" rIns="0" bIns="0" rtlCol="0" anchor="ctr"/>
          <a:lstStyle/>
          <a:p>
            <a:pPr indent="0" marL="0">
              <a:buNone/>
            </a:pPr>
            <a:r>
              <a:rPr lang="en-US" sz="1000" dirty="0">
                <a:solidFill>
                  <a:srgbClr val="6B6559"/>
                </a:solidFill>
                <a:latin typeface="Calibri" pitchFamily="34" charset="0"/>
                <a:ea typeface="Calibri" pitchFamily="34" charset="-122"/>
                <a:cs typeface="Calibri" pitchFamily="34" charset="-120"/>
              </a:rPr>
              <a:t>It is your session key: personal, single use. Nobody at the firm will ever ask you for it.</a:t>
            </a:r>
            <a:endParaRPr lang="en-US" sz="1000" dirty="0"/>
          </a:p>
        </p:txBody>
      </p:sp>
      <p:sp>
        <p:nvSpPr>
          <p:cNvPr id="42" name="Shape 40"/>
          <p:cNvSpPr/>
          <p:nvPr/>
        </p:nvSpPr>
        <p:spPr>
          <a:xfrm>
            <a:off x="502920" y="6492240"/>
            <a:ext cx="11155680" cy="0"/>
          </a:xfrm>
          <a:prstGeom prst="line">
            <a:avLst/>
          </a:prstGeom>
          <a:noFill/>
          <a:ln w="9525">
            <a:solidFill>
              <a:srgbClr val="EBE6DA"/>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Verify a GEA certificate</dc:title>
  <dc:subject>PptxGenJS Presentation</dc:subject>
  <dc:creator>PptxGenJS</dc:creator>
  <cp:lastModifiedBy>PptxGenJS</cp:lastModifiedBy>
  <cp:revision>1</cp:revision>
  <dcterms:created xsi:type="dcterms:W3CDTF">2026-09-01T17:31:59Z</dcterms:created>
  <dcterms:modified xsi:type="dcterms:W3CDTF">2026-09-01T17:31:59Z</dcterms:modified>
</cp:coreProperties>
</file>