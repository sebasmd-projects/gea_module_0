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se entrega con cada certificación, cómo comprobar que un documento es auténtico, y qué se puede compartir con un tercero sin ceder de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cada documento certificado la plataforma guarda tres versiones y calcula la huella digital de cada una. Saber cuál es cuál evita el error más común: mandar fuera el que no tocaba.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PDF que usted recibe. Con los dos códigos estampados. Es el ejemplar del titular.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propensionesabogados.com, en el menú superior, se abre Plataformas / Platforms y se elige Certificación / Certification. Ese enlace lleva al portal de verificación.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Elegir portal: documentos o personas. Según lo que se tenga delante: un papel, o alguien que dice representar al despacho.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código al correo antes de consultar. Sólo en el portal de documentos. El de personas no lo pide.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código al correo antes de consultar. Sólo en el portal de documentos. El de personas no lo pide.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maneras de comprobar, y no dan lo mismo. Por código, o subiendo el archivo. La segunda responde una pregunta que la primera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el archivo no es de aquí. Lo que responde el cotejo con un PDF que la plataforma no emitió.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pantalla de resultado, leída por partes. Es la que va a mirar un auditor. Conviene saber qué es cada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pantalla de resultado, leída por partes. Es la que va a mirar un auditor. Conviene saber qué es cada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lo anterior pasa por la web del despacho. Un auditor querrá algo que no dependa de eso, y para eso está el registro de certificación: un fichero con las huellas de los tres archivos y una firma criptográfica encima.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resumen AEGIS y la fecha demostrable. Cuando varios documentos se agrupan, y cuando hace falta probar cuándo.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sello de tiempo, en su propia página. Pública y sin código: es la que abre el QR impreso.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Comprobar a la persona, no al papel. Para cuando alguien dice actuar en nombre del despacho.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se comparte, y qué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3A"/>
        </a:solidFill>
      </p:bgPr>
    </p:bg>
    <p:spTree>
      <p:nvGrpSpPr>
        <p:cNvPr id="1" name=""/>
        <p:cNvGrpSpPr/>
        <p:nvPr/>
      </p:nvGrpSpPr>
      <p:grpSpPr>
        <a:xfrm>
          <a:off x="0" y="0"/>
          <a:ext cx="0" cy="0"/>
          <a:chOff x="0" y="0"/>
          <a:chExt cx="0" cy="0"/>
        </a:xfrm>
      </p:grpSpPr>
      <p:sp>
        <p:nvSpPr>
          <p:cNvPr id="2" name="Shape 0"/>
          <p:cNvSpPr/>
          <p:nvPr/>
        </p:nvSpPr>
        <p:spPr>
          <a:xfrm>
            <a:off x="502920" y="1874520"/>
            <a:ext cx="365760" cy="365760"/>
          </a:xfrm>
          <a:prstGeom prst="ellipse">
            <a:avLst/>
          </a:prstGeom>
          <a:ln w="15875">
            <a:solidFill>
              <a:srgbClr val="9C7222"/>
            </a:solidFill>
            <a:prstDash val="solid"/>
          </a:ln>
        </p:spPr>
      </p:sp>
      <p:sp>
        <p:nvSpPr>
          <p:cNvPr id="3" name="Text 1"/>
          <p:cNvSpPr txBox="1"/>
          <p:nvPr/>
        </p:nvSpPr>
        <p:spPr>
          <a:xfrm>
            <a:off x="502920" y="1874520"/>
            <a:ext cx="365760" cy="365760"/>
          </a:xfrm>
          <a:prstGeom prst="rect">
            <a:avLst/>
          </a:prstGeom>
          <a:noFill/>
          <a:ln/>
        </p:spPr>
        <p:txBody>
          <a:bodyPr wrap="square" lIns="0" tIns="0" rIns="0" bIns="0" rtlCol="0" anchor="ctr"/>
          <a:lstStyle/>
          <a:p>
            <a:pPr algn="ctr" indent="0" marL="0">
              <a:buNone/>
            </a:pPr>
            <a:r>
              <a:rPr lang="en-US" sz="1500" b="1" dirty="0">
                <a:solidFill>
                  <a:srgbClr val="9C7222"/>
                </a:solidFill>
                <a:latin typeface="Cambria" pitchFamily="34" charset="0"/>
                <a:ea typeface="Cambria" pitchFamily="34" charset="-122"/>
                <a:cs typeface="Cambria" pitchFamily="34" charset="-120"/>
              </a:rPr>
              <a:t>A</a:t>
            </a:r>
            <a:endParaRPr lang="en-US" sz="1500" dirty="0"/>
          </a:p>
        </p:txBody>
      </p:sp>
      <p:sp>
        <p:nvSpPr>
          <p:cNvPr id="4" name="Text 2"/>
          <p:cNvSpPr txBox="1"/>
          <p:nvPr/>
        </p:nvSpPr>
        <p:spPr>
          <a:xfrm>
            <a:off x="1014984" y="1874520"/>
            <a:ext cx="7315200" cy="365760"/>
          </a:xfrm>
          <a:prstGeom prst="rect">
            <a:avLst/>
          </a:prstGeom>
          <a:noFill/>
          <a:ln/>
        </p:spPr>
        <p:txBody>
          <a:bodyPr wrap="square" lIns="0" tIns="0" rIns="0" bIns="0" rtlCol="0" anchor="ctr"/>
          <a:lstStyle/>
          <a:p>
            <a:pPr indent="0" marL="0">
              <a:buNone/>
            </a:pPr>
            <a:r>
              <a:rPr lang="en-US" sz="900" spc="160" kern="0" dirty="0">
                <a:solidFill>
                  <a:srgbClr val="B9B2A4"/>
                </a:solidFill>
                <a:latin typeface="Courier New" pitchFamily="34" charset="0"/>
                <a:ea typeface="Courier New" pitchFamily="34" charset="-122"/>
                <a:cs typeface="Courier New" pitchFamily="34" charset="-120"/>
              </a:rPr>
              <a:t>PROPENSIONES ABOGADOS INTERNACIONAL · AEGIS</a:t>
            </a:r>
            <a:endParaRPr lang="en-US" sz="900" dirty="0"/>
          </a:p>
        </p:txBody>
      </p:sp>
      <p:sp>
        <p:nvSpPr>
          <p:cNvPr id="5" name="Text 3"/>
          <p:cNvSpPr txBox="1"/>
          <p:nvPr/>
        </p:nvSpPr>
        <p:spPr>
          <a:xfrm>
            <a:off x="502920" y="2514600"/>
            <a:ext cx="9601200" cy="1371600"/>
          </a:xfrm>
          <a:prstGeom prst="rect">
            <a:avLst/>
          </a:prstGeom>
          <a:noFill/>
          <a:ln/>
        </p:spPr>
        <p:txBody>
          <a:bodyPr wrap="square" lIns="0" tIns="0" rIns="0" bIns="0" rtlCol="0" anchor="t"/>
          <a:lstStyle/>
          <a:p>
            <a:pPr indent="0" marL="0">
              <a:buNone/>
            </a:pPr>
            <a:r>
              <a:rPr lang="en-US" sz="4400" b="1" dirty="0">
                <a:solidFill>
                  <a:srgbClr val="FAF8F3"/>
                </a:solidFill>
                <a:latin typeface="Cambria" pitchFamily="34" charset="0"/>
                <a:ea typeface="Cambria" pitchFamily="34" charset="-122"/>
                <a:cs typeface="Cambria" pitchFamily="34" charset="-120"/>
              </a:rPr>
              <a:t>Cómo verificar un certificado</a:t>
            </a:r>
            <a:endParaRPr lang="en-US" sz="4400" dirty="0"/>
          </a:p>
        </p:txBody>
      </p:sp>
      <p:sp>
        <p:nvSpPr>
          <p:cNvPr id="6" name="Text 4"/>
          <p:cNvSpPr txBox="1"/>
          <p:nvPr/>
        </p:nvSpPr>
        <p:spPr>
          <a:xfrm>
            <a:off x="502920" y="3931920"/>
            <a:ext cx="7863840" cy="1005840"/>
          </a:xfrm>
          <a:prstGeom prst="rect">
            <a:avLst/>
          </a:prstGeom>
          <a:noFill/>
          <a:ln/>
        </p:spPr>
        <p:txBody>
          <a:bodyPr wrap="square" lIns="0" tIns="0" rIns="0" bIns="0" rtlCol="0" anchor="t"/>
          <a:lstStyle/>
          <a:p>
            <a:pPr indent="0" marL="0">
              <a:buNone/>
            </a:pPr>
            <a:r>
              <a:rPr lang="en-US" sz="1500" dirty="0">
                <a:solidFill>
                  <a:srgbClr val="C9C2B4"/>
                </a:solidFill>
                <a:latin typeface="Calibri" pitchFamily="34" charset="0"/>
                <a:ea typeface="Calibri" pitchFamily="34" charset="-122"/>
                <a:cs typeface="Calibri" pitchFamily="34" charset="-120"/>
              </a:rPr>
              <a:t>Qué se entrega con cada certificación, cómo comprobar que un documento es auténtico, y qué se puede compartir con un tercero sin ceder de más.</a:t>
            </a:r>
            <a:endParaRPr lang="en-US" sz="1500" dirty="0"/>
          </a:p>
        </p:txBody>
      </p:sp>
      <p:sp>
        <p:nvSpPr>
          <p:cNvPr id="7" name="Shape 5"/>
          <p:cNvSpPr/>
          <p:nvPr/>
        </p:nvSpPr>
        <p:spPr>
          <a:xfrm>
            <a:off x="502920" y="5120640"/>
            <a:ext cx="3657600" cy="329184"/>
          </a:xfrm>
          <a:prstGeom prst="roundRect">
            <a:avLst>
              <a:gd name="adj" fmla="val 50000"/>
            </a:avLst>
          </a:prstGeom>
          <a:ln w="12700">
            <a:solidFill>
              <a:srgbClr val="4A5468"/>
            </a:solidFill>
            <a:prstDash val="solid"/>
          </a:ln>
        </p:spPr>
      </p:sp>
      <p:sp>
        <p:nvSpPr>
          <p:cNvPr id="8" name="Text 6"/>
          <p:cNvSpPr txBox="1"/>
          <p:nvPr/>
        </p:nvSpPr>
        <p:spPr>
          <a:xfrm>
            <a:off x="502920" y="5120640"/>
            <a:ext cx="3657600" cy="329184"/>
          </a:xfrm>
          <a:prstGeom prst="rect">
            <a:avLst/>
          </a:prstGeom>
          <a:noFill/>
          <a:ln/>
        </p:spPr>
        <p:txBody>
          <a:bodyPr wrap="square" lIns="0" tIns="0" rIns="0" bIns="0" rtlCol="0" anchor="ctr"/>
          <a:lstStyle/>
          <a:p>
            <a:pPr algn="ctr" indent="0" marL="0">
              <a:buNone/>
            </a:pPr>
            <a:r>
              <a:rPr lang="en-US" sz="1000" dirty="0">
                <a:solidFill>
                  <a:srgbClr val="C9C2B4"/>
                </a:solidFill>
                <a:latin typeface="Calibri" pitchFamily="34" charset="0"/>
                <a:ea typeface="Calibri" pitchFamily="34" charset="-122"/>
                <a:cs typeface="Calibri" pitchFamily="34" charset="-120"/>
              </a:rPr>
              <a:t>Titulares de certificados</a:t>
            </a:r>
            <a:endParaRPr lang="en-US" sz="1000" dirty="0"/>
          </a:p>
        </p:txBody>
      </p:sp>
      <p:sp>
        <p:nvSpPr>
          <p:cNvPr id="9" name="Shape 7"/>
          <p:cNvSpPr/>
          <p:nvPr/>
        </p:nvSpPr>
        <p:spPr>
          <a:xfrm>
            <a:off x="4306824" y="5120640"/>
            <a:ext cx="3785616" cy="329184"/>
          </a:xfrm>
          <a:prstGeom prst="roundRect">
            <a:avLst>
              <a:gd name="adj" fmla="val 50000"/>
            </a:avLst>
          </a:prstGeom>
          <a:ln w="12700">
            <a:solidFill>
              <a:srgbClr val="4A5468"/>
            </a:solidFill>
            <a:prstDash val="solid"/>
          </a:ln>
        </p:spPr>
      </p:sp>
      <p:sp>
        <p:nvSpPr>
          <p:cNvPr id="10" name="Text 8"/>
          <p:cNvSpPr txBox="1"/>
          <p:nvPr/>
        </p:nvSpPr>
        <p:spPr>
          <a:xfrm>
            <a:off x="4306824" y="5120640"/>
            <a:ext cx="3785616" cy="329184"/>
          </a:xfrm>
          <a:prstGeom prst="rect">
            <a:avLst/>
          </a:prstGeom>
          <a:noFill/>
          <a:ln/>
        </p:spPr>
        <p:txBody>
          <a:bodyPr wrap="square" lIns="0" tIns="0" rIns="0" bIns="0" rtlCol="0" anchor="ctr"/>
          <a:lstStyle/>
          <a:p>
            <a:pPr algn="ctr" indent="0" marL="0">
              <a:buNone/>
            </a:pPr>
            <a:r>
              <a:rPr lang="en-US" sz="1000" dirty="0">
                <a:solidFill>
                  <a:srgbClr val="C9C2B4"/>
                </a:solidFill>
                <a:latin typeface="Calibri" pitchFamily="34" charset="0"/>
                <a:ea typeface="Calibri" pitchFamily="34" charset="-122"/>
                <a:cs typeface="Calibri" pitchFamily="34" charset="-120"/>
              </a:rPr>
              <a:t>Compradores y contrapartes</a:t>
            </a:r>
            <a:endParaRPr lang="en-US" sz="1000" dirty="0"/>
          </a:p>
        </p:txBody>
      </p:sp>
      <p:sp>
        <p:nvSpPr>
          <p:cNvPr id="11" name="Shape 9"/>
          <p:cNvSpPr/>
          <p:nvPr/>
        </p:nvSpPr>
        <p:spPr>
          <a:xfrm>
            <a:off x="8238744" y="5120640"/>
            <a:ext cx="3529584" cy="329184"/>
          </a:xfrm>
          <a:prstGeom prst="roundRect">
            <a:avLst>
              <a:gd name="adj" fmla="val 50000"/>
            </a:avLst>
          </a:prstGeom>
          <a:ln w="12700">
            <a:solidFill>
              <a:srgbClr val="4A5468"/>
            </a:solidFill>
            <a:prstDash val="solid"/>
          </a:ln>
        </p:spPr>
      </p:sp>
      <p:sp>
        <p:nvSpPr>
          <p:cNvPr id="12" name="Text 10"/>
          <p:cNvSpPr txBox="1"/>
          <p:nvPr/>
        </p:nvSpPr>
        <p:spPr>
          <a:xfrm>
            <a:off x="8238744" y="5120640"/>
            <a:ext cx="3529584" cy="329184"/>
          </a:xfrm>
          <a:prstGeom prst="rect">
            <a:avLst/>
          </a:prstGeom>
          <a:noFill/>
          <a:ln/>
        </p:spPr>
        <p:txBody>
          <a:bodyPr wrap="square" lIns="0" tIns="0" rIns="0" bIns="0" rtlCol="0" anchor="ctr"/>
          <a:lstStyle/>
          <a:p>
            <a:pPr algn="ctr" indent="0" marL="0">
              <a:buNone/>
            </a:pPr>
            <a:r>
              <a:rPr lang="en-US" sz="1000" dirty="0">
                <a:solidFill>
                  <a:srgbClr val="C9C2B4"/>
                </a:solidFill>
                <a:latin typeface="Calibri" pitchFamily="34" charset="0"/>
                <a:ea typeface="Calibri" pitchFamily="34" charset="-122"/>
                <a:cs typeface="Calibri" pitchFamily="34" charset="-120"/>
              </a:rPr>
              <a:t>Auditoría y cumplimiento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84048"/>
            <a:ext cx="1051560" cy="548640"/>
          </a:xfrm>
          <a:prstGeom prst="rect">
            <a:avLst/>
          </a:prstGeom>
          <a:noFill/>
          <a:ln/>
        </p:spPr>
        <p:txBody>
          <a:bodyPr wrap="square" lIns="0" tIns="0" rIns="0" bIns="0" rtlCol="0" anchor="t"/>
          <a:lstStyle/>
          <a:p>
            <a:pPr indent="0" marL="0">
              <a:buNone/>
            </a:pPr>
            <a:r>
              <a:rPr lang="en-US" sz="800" spc="140" kern="0" dirty="0">
                <a:solidFill>
                  <a:srgbClr val="6B6559"/>
                </a:solidFill>
                <a:latin typeface="Courier New" pitchFamily="34" charset="0"/>
                <a:ea typeface="Courier New" pitchFamily="34" charset="-122"/>
                <a:cs typeface="Courier New" pitchFamily="34" charset="-120"/>
              </a:rPr>
              <a:t>ANTES DE EMPEZAR</a:t>
            </a:r>
            <a:endParaRPr lang="en-US" sz="800" dirty="0"/>
          </a:p>
        </p:txBody>
      </p:sp>
      <p:sp>
        <p:nvSpPr>
          <p:cNvPr id="3" name="Text 1"/>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Un certificado son tres archivos, no uno</a:t>
            </a:r>
            <a:endParaRPr lang="en-US" sz="2600" dirty="0"/>
          </a:p>
        </p:txBody>
      </p:sp>
      <p:sp>
        <p:nvSpPr>
          <p:cNvPr id="4" name="Text 2"/>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Los tres dicen lo mismo. Se diferencian en quién puede verlos y en qué lleva impreso cada uno.</a:t>
            </a:r>
            <a:endParaRPr lang="en-US" sz="1200" dirty="0"/>
          </a:p>
        </p:txBody>
      </p:sp>
      <p:sp>
        <p:nvSpPr>
          <p:cNvPr id="5" name="Text 3"/>
          <p:cNvSpPr txBox="1"/>
          <p:nvPr/>
        </p:nvSpPr>
        <p:spPr>
          <a:xfrm>
            <a:off x="1645920" y="1280160"/>
            <a:ext cx="10012680" cy="457200"/>
          </a:xfrm>
          <a:prstGeom prst="rect">
            <a:avLst/>
          </a:prstGeom>
          <a:noFill/>
          <a:ln/>
        </p:spPr>
        <p:txBody>
          <a:bodyPr wrap="square" lIns="0" tIns="0" rIns="0" bIns="0" rtlCol="0" anchor="t"/>
          <a:lstStyle/>
          <a:p>
            <a:pPr indent="0" marL="0">
              <a:buNone/>
            </a:pPr>
            <a:r>
              <a:rPr lang="en-US" sz="1150" dirty="0">
                <a:solidFill>
                  <a:srgbClr val="12203A"/>
                </a:solidFill>
                <a:latin typeface="Calibri" pitchFamily="34" charset="0"/>
                <a:ea typeface="Calibri" pitchFamily="34" charset="-122"/>
                <a:cs typeface="Calibri" pitchFamily="34" charset="-120"/>
              </a:rPr>
              <a:t>De cada documento certificado la plataforma guarda tres versiones y calcula la huella digital de cada una. Saber cuál es cuál evita el error más común: mandar fuera el que no tocaba.</a:t>
            </a:r>
            <a:endParaRPr lang="en-US" sz="1150" dirty="0"/>
          </a:p>
        </p:txBody>
      </p:sp>
      <p:sp>
        <p:nvSpPr>
          <p:cNvPr id="6" name="Shape 4"/>
          <p:cNvSpPr/>
          <p:nvPr/>
        </p:nvSpPr>
        <p:spPr>
          <a:xfrm>
            <a:off x="502920" y="1847088"/>
            <a:ext cx="3535680" cy="3947160"/>
          </a:xfrm>
          <a:prstGeom prst="roundRect">
            <a:avLst>
              <a:gd name="adj" fmla="val 1293"/>
            </a:avLst>
          </a:prstGeom>
          <a:solidFill>
            <a:srgbClr val="FFFFFF"/>
          </a:solidFill>
          <a:ln w="9525">
            <a:solidFill>
              <a:srgbClr val="DED8CB"/>
            </a:solidFill>
            <a:prstDash val="solid"/>
          </a:ln>
        </p:spPr>
      </p:sp>
      <p:pic>
        <p:nvPicPr>
          <p:cNvPr id="7" name="Image 0" descr="/tmp/claude-0/-home-user-gea-module-0/05c86c8b-2f1b-52ff-8f50-3243e9e36b63/scratchpad/deck_img/pdf_1_original.png">    </p:cNvPr>
          <p:cNvPicPr>
            <a:picLocks noChangeAspect="1"/>
          </p:cNvPicPr>
          <p:nvPr/>
        </p:nvPicPr>
        <p:blipFill>
          <a:blip r:embed="rId1"/>
          <a:stretch>
            <a:fillRect/>
          </a:stretch>
        </p:blipFill>
        <p:spPr>
          <a:xfrm>
            <a:off x="1368890" y="1993392"/>
            <a:ext cx="1803741" cy="2331720"/>
          </a:xfrm>
          <a:prstGeom prst="rect">
            <a:avLst/>
          </a:prstGeom>
        </p:spPr>
      </p:pic>
      <p:sp>
        <p:nvSpPr>
          <p:cNvPr id="8" name="Shape 5"/>
          <p:cNvSpPr/>
          <p:nvPr/>
        </p:nvSpPr>
        <p:spPr>
          <a:xfrm>
            <a:off x="704088" y="4453128"/>
            <a:ext cx="1476756" cy="237744"/>
          </a:xfrm>
          <a:prstGeom prst="roundRect">
            <a:avLst>
              <a:gd name="adj" fmla="val 15385"/>
            </a:avLst>
          </a:prstGeom>
          <a:solidFill>
            <a:srgbClr val="F3F0E8"/>
          </a:solidFill>
          <a:ln w="6350">
            <a:solidFill>
              <a:srgbClr val="F3F0E8"/>
            </a:solidFill>
            <a:prstDash val="solid"/>
          </a:ln>
        </p:spPr>
      </p:sp>
      <p:sp>
        <p:nvSpPr>
          <p:cNvPr id="9" name="Text 6"/>
          <p:cNvSpPr txBox="1"/>
          <p:nvPr/>
        </p:nvSpPr>
        <p:spPr>
          <a:xfrm>
            <a:off x="704088" y="4453128"/>
            <a:ext cx="1476756" cy="237744"/>
          </a:xfrm>
          <a:prstGeom prst="rect">
            <a:avLst/>
          </a:prstGeom>
          <a:noFill/>
          <a:ln/>
        </p:spPr>
        <p:txBody>
          <a:bodyPr wrap="square" lIns="0" tIns="0" rIns="0" bIns="0" rtlCol="0" anchor="ctr"/>
          <a:lstStyle/>
          <a:p>
            <a:pPr algn="ctr" indent="0" marL="0">
              <a:buNone/>
            </a:pPr>
            <a:r>
              <a:rPr lang="en-US" sz="700" dirty="0">
                <a:solidFill>
                  <a:srgbClr val="6B6559"/>
                </a:solidFill>
                <a:latin typeface="Courier New" pitchFamily="34" charset="0"/>
                <a:ea typeface="Courier New" pitchFamily="34" charset="-122"/>
                <a:cs typeface="Courier New" pitchFamily="34" charset="-120"/>
              </a:rPr>
              <a:t>QUEDA ARCHIVADO</a:t>
            </a:r>
            <a:endParaRPr lang="en-US" sz="700" dirty="0"/>
          </a:p>
        </p:txBody>
      </p:sp>
      <p:sp>
        <p:nvSpPr>
          <p:cNvPr id="10" name="Text 7"/>
          <p:cNvSpPr txBox="1"/>
          <p:nvPr/>
        </p:nvSpPr>
        <p:spPr>
          <a:xfrm>
            <a:off x="704088" y="4764024"/>
            <a:ext cx="3133344" cy="310896"/>
          </a:xfrm>
          <a:prstGeom prst="rect">
            <a:avLst/>
          </a:prstGeom>
          <a:noFill/>
          <a:ln/>
        </p:spPr>
        <p:txBody>
          <a:bodyPr wrap="square" lIns="0" tIns="0" rIns="0" bIns="0" rtlCol="0" anchor="t"/>
          <a:lstStyle/>
          <a:p>
            <a:pPr indent="0" marL="0">
              <a:buNone/>
            </a:pPr>
            <a:r>
              <a:rPr lang="en-US" sz="1500" b="1" dirty="0">
                <a:solidFill>
                  <a:srgbClr val="12203A"/>
                </a:solidFill>
                <a:latin typeface="Cambria" pitchFamily="34" charset="0"/>
                <a:ea typeface="Cambria" pitchFamily="34" charset="-122"/>
                <a:cs typeface="Cambria" pitchFamily="34" charset="-120"/>
              </a:rPr>
              <a:t>Original</a:t>
            </a:r>
            <a:endParaRPr lang="en-US" sz="1500" dirty="0"/>
          </a:p>
        </p:txBody>
      </p:sp>
      <p:sp>
        <p:nvSpPr>
          <p:cNvPr id="11" name="Text 8"/>
          <p:cNvSpPr txBox="1"/>
          <p:nvPr/>
        </p:nvSpPr>
        <p:spPr>
          <a:xfrm>
            <a:off x="704088" y="5093208"/>
            <a:ext cx="3133344" cy="563880"/>
          </a:xfrm>
          <a:prstGeom prst="rect">
            <a:avLst/>
          </a:prstGeom>
          <a:noFill/>
          <a:ln/>
        </p:spPr>
        <p:txBody>
          <a:bodyPr wrap="square" lIns="0" tIns="0" rIns="0" bIns="0" rtlCol="0" anchor="t"/>
          <a:lstStyle/>
          <a:p>
            <a:pPr indent="0" marL="0">
              <a:buNone/>
            </a:pPr>
            <a:r>
              <a:rPr lang="en-US" sz="1000" dirty="0">
                <a:solidFill>
                  <a:srgbClr val="6B6559"/>
                </a:solidFill>
                <a:latin typeface="Calibri" pitchFamily="34" charset="0"/>
                <a:ea typeface="Calibri" pitchFamily="34" charset="-122"/>
                <a:cs typeface="Calibri" pitchFamily="34" charset="-120"/>
              </a:rPr>
              <a:t>El documento tal y como se presentó, sin códigos encima. No sale de la plataforma: sólo lo consulta el personal interno.</a:t>
            </a:r>
            <a:endParaRPr lang="en-US" sz="1000" dirty="0"/>
          </a:p>
        </p:txBody>
      </p:sp>
      <p:sp>
        <p:nvSpPr>
          <p:cNvPr id="12" name="Shape 9"/>
          <p:cNvSpPr/>
          <p:nvPr/>
        </p:nvSpPr>
        <p:spPr>
          <a:xfrm>
            <a:off x="4312920" y="1847088"/>
            <a:ext cx="3535680" cy="3947160"/>
          </a:xfrm>
          <a:prstGeom prst="roundRect">
            <a:avLst>
              <a:gd name="adj" fmla="val 1293"/>
            </a:avLst>
          </a:prstGeom>
          <a:solidFill>
            <a:srgbClr val="FFFFFF"/>
          </a:solidFill>
          <a:ln w="9525">
            <a:solidFill>
              <a:srgbClr val="DED8CB"/>
            </a:solidFill>
            <a:prstDash val="solid"/>
          </a:ln>
        </p:spPr>
      </p:sp>
      <p:pic>
        <p:nvPicPr>
          <p:cNvPr id="13" name="Image 1" descr="/tmp/claude-0/-home-user-gea-module-0/05c86c8b-2f1b-52ff-8f50-3243e9e36b63/scratchpad/deck_img/pdf_2_certificado.png">    </p:cNvPr>
          <p:cNvPicPr>
            <a:picLocks noChangeAspect="1"/>
          </p:cNvPicPr>
          <p:nvPr/>
        </p:nvPicPr>
        <p:blipFill>
          <a:blip r:embed="rId2"/>
          <a:stretch>
            <a:fillRect/>
          </a:stretch>
        </p:blipFill>
        <p:spPr>
          <a:xfrm>
            <a:off x="5178890" y="1993392"/>
            <a:ext cx="1803741" cy="2331720"/>
          </a:xfrm>
          <a:prstGeom prst="rect">
            <a:avLst/>
          </a:prstGeom>
        </p:spPr>
      </p:pic>
      <p:sp>
        <p:nvSpPr>
          <p:cNvPr id="14" name="Shape 10"/>
          <p:cNvSpPr/>
          <p:nvPr/>
        </p:nvSpPr>
        <p:spPr>
          <a:xfrm>
            <a:off x="4514088" y="4453128"/>
            <a:ext cx="1632204" cy="237744"/>
          </a:xfrm>
          <a:prstGeom prst="roundRect">
            <a:avLst>
              <a:gd name="adj" fmla="val 15385"/>
            </a:avLst>
          </a:prstGeom>
          <a:solidFill>
            <a:srgbClr val="F3F0E8"/>
          </a:solidFill>
          <a:ln w="6350">
            <a:solidFill>
              <a:srgbClr val="F3F0E8"/>
            </a:solidFill>
            <a:prstDash val="solid"/>
          </a:ln>
        </p:spPr>
      </p:sp>
      <p:sp>
        <p:nvSpPr>
          <p:cNvPr id="15" name="Text 11"/>
          <p:cNvSpPr txBox="1"/>
          <p:nvPr/>
        </p:nvSpPr>
        <p:spPr>
          <a:xfrm>
            <a:off x="4514088" y="4453128"/>
            <a:ext cx="1632204" cy="237744"/>
          </a:xfrm>
          <a:prstGeom prst="rect">
            <a:avLst/>
          </a:prstGeom>
          <a:noFill/>
          <a:ln/>
        </p:spPr>
        <p:txBody>
          <a:bodyPr wrap="square" lIns="0" tIns="0" rIns="0" bIns="0" rtlCol="0" anchor="ctr"/>
          <a:lstStyle/>
          <a:p>
            <a:pPr algn="ctr" indent="0" marL="0">
              <a:buNone/>
            </a:pPr>
            <a:r>
              <a:rPr lang="en-US" sz="700" dirty="0">
                <a:solidFill>
                  <a:srgbClr val="6B6559"/>
                </a:solidFill>
                <a:latin typeface="Courier New" pitchFamily="34" charset="0"/>
                <a:ea typeface="Courier New" pitchFamily="34" charset="-122"/>
                <a:cs typeface="Courier New" pitchFamily="34" charset="-120"/>
              </a:rPr>
              <a:t>ES EL QUE HACE FE</a:t>
            </a:r>
            <a:endParaRPr lang="en-US" sz="700" dirty="0"/>
          </a:p>
        </p:txBody>
      </p:sp>
      <p:sp>
        <p:nvSpPr>
          <p:cNvPr id="16" name="Text 12"/>
          <p:cNvSpPr txBox="1"/>
          <p:nvPr/>
        </p:nvSpPr>
        <p:spPr>
          <a:xfrm>
            <a:off x="4514088" y="4764024"/>
            <a:ext cx="3133344" cy="310896"/>
          </a:xfrm>
          <a:prstGeom prst="rect">
            <a:avLst/>
          </a:prstGeom>
          <a:noFill/>
          <a:ln/>
        </p:spPr>
        <p:txBody>
          <a:bodyPr wrap="square" lIns="0" tIns="0" rIns="0" bIns="0" rtlCol="0" anchor="t"/>
          <a:lstStyle/>
          <a:p>
            <a:pPr indent="0" marL="0">
              <a:buNone/>
            </a:pPr>
            <a:r>
              <a:rPr lang="en-US" sz="1500" b="1" dirty="0">
                <a:solidFill>
                  <a:srgbClr val="12203A"/>
                </a:solidFill>
                <a:latin typeface="Cambria" pitchFamily="34" charset="0"/>
                <a:ea typeface="Cambria" pitchFamily="34" charset="-122"/>
                <a:cs typeface="Cambria" pitchFamily="34" charset="-120"/>
              </a:rPr>
              <a:t>Certificado</a:t>
            </a:r>
            <a:endParaRPr lang="en-US" sz="1500" dirty="0"/>
          </a:p>
        </p:txBody>
      </p:sp>
      <p:sp>
        <p:nvSpPr>
          <p:cNvPr id="17" name="Text 13"/>
          <p:cNvSpPr txBox="1"/>
          <p:nvPr/>
        </p:nvSpPr>
        <p:spPr>
          <a:xfrm>
            <a:off x="4514088" y="5093208"/>
            <a:ext cx="3133344" cy="563880"/>
          </a:xfrm>
          <a:prstGeom prst="rect">
            <a:avLst/>
          </a:prstGeom>
          <a:noFill/>
          <a:ln/>
        </p:spPr>
        <p:txBody>
          <a:bodyPr wrap="square" lIns="0" tIns="0" rIns="0" bIns="0" rtlCol="0" anchor="t"/>
          <a:lstStyle/>
          <a:p>
            <a:pPr indent="0" marL="0">
              <a:buNone/>
            </a:pPr>
            <a:r>
              <a:rPr lang="en-US" sz="1000" dirty="0">
                <a:solidFill>
                  <a:srgbClr val="6B6559"/>
                </a:solidFill>
                <a:latin typeface="Calibri" pitchFamily="34" charset="0"/>
                <a:ea typeface="Calibri" pitchFamily="34" charset="-122"/>
                <a:cs typeface="Calibri" pitchFamily="34" charset="-120"/>
              </a:rPr>
              <a:t>El original con su código de barras y su QR estampados. Es el archivo al que se refiere la certificación, y el ejemplar del titular.</a:t>
            </a:r>
            <a:endParaRPr lang="en-US" sz="1000" dirty="0"/>
          </a:p>
        </p:txBody>
      </p:sp>
      <p:sp>
        <p:nvSpPr>
          <p:cNvPr id="18" name="Shape 14"/>
          <p:cNvSpPr/>
          <p:nvPr/>
        </p:nvSpPr>
        <p:spPr>
          <a:xfrm>
            <a:off x="8122920" y="1847088"/>
            <a:ext cx="3535680" cy="3947160"/>
          </a:xfrm>
          <a:prstGeom prst="roundRect">
            <a:avLst>
              <a:gd name="adj" fmla="val 1293"/>
            </a:avLst>
          </a:prstGeom>
          <a:solidFill>
            <a:srgbClr val="FFFFFF"/>
          </a:solidFill>
          <a:ln w="9525">
            <a:solidFill>
              <a:srgbClr val="DED8CB"/>
            </a:solidFill>
            <a:prstDash val="solid"/>
          </a:ln>
        </p:spPr>
      </p:sp>
      <p:pic>
        <p:nvPicPr>
          <p:cNvPr id="19" name="Image 2" descr="/tmp/claude-0/-home-user-gea-module-0/05c86c8b-2f1b-52ff-8f50-3243e9e36b63/scratchpad/deck_img/pdf_3_copia.png">    </p:cNvPr>
          <p:cNvPicPr>
            <a:picLocks noChangeAspect="1"/>
          </p:cNvPicPr>
          <p:nvPr/>
        </p:nvPicPr>
        <p:blipFill>
          <a:blip r:embed="rId3"/>
          <a:stretch>
            <a:fillRect/>
          </a:stretch>
        </p:blipFill>
        <p:spPr>
          <a:xfrm>
            <a:off x="8988890" y="1993392"/>
            <a:ext cx="1803741" cy="2331720"/>
          </a:xfrm>
          <a:prstGeom prst="rect">
            <a:avLst/>
          </a:prstGeom>
        </p:spPr>
      </p:pic>
      <p:sp>
        <p:nvSpPr>
          <p:cNvPr id="20" name="Shape 15"/>
          <p:cNvSpPr/>
          <p:nvPr/>
        </p:nvSpPr>
        <p:spPr>
          <a:xfrm>
            <a:off x="8324088" y="4453128"/>
            <a:ext cx="2331720" cy="237744"/>
          </a:xfrm>
          <a:prstGeom prst="roundRect">
            <a:avLst>
              <a:gd name="adj" fmla="val 15385"/>
            </a:avLst>
          </a:prstGeom>
          <a:solidFill>
            <a:srgbClr val="E4F0E9"/>
          </a:solidFill>
          <a:ln w="6350">
            <a:solidFill>
              <a:srgbClr val="E4F0E9"/>
            </a:solidFill>
            <a:prstDash val="solid"/>
          </a:ln>
        </p:spPr>
      </p:sp>
      <p:sp>
        <p:nvSpPr>
          <p:cNvPr id="21" name="Text 16"/>
          <p:cNvSpPr txBox="1"/>
          <p:nvPr/>
        </p:nvSpPr>
        <p:spPr>
          <a:xfrm>
            <a:off x="8324088" y="4453128"/>
            <a:ext cx="2331720" cy="237744"/>
          </a:xfrm>
          <a:prstGeom prst="rect">
            <a:avLst/>
          </a:prstGeom>
          <a:noFill/>
          <a:ln/>
        </p:spPr>
        <p:txBody>
          <a:bodyPr wrap="square" lIns="0" tIns="0" rIns="0" bIns="0" rtlCol="0" anchor="ctr"/>
          <a:lstStyle/>
          <a:p>
            <a:pPr algn="ctr" indent="0" marL="0">
              <a:buNone/>
            </a:pPr>
            <a:r>
              <a:rPr lang="en-US" sz="700" dirty="0">
                <a:solidFill>
                  <a:srgbClr val="1B6046"/>
                </a:solidFill>
                <a:latin typeface="Courier New" pitchFamily="34" charset="0"/>
                <a:ea typeface="Courier New" pitchFamily="34" charset="-122"/>
                <a:cs typeface="Courier New" pitchFamily="34" charset="-120"/>
              </a:rPr>
              <a:t>ÉSTE ES EL QUE SE COMPARTE</a:t>
            </a:r>
            <a:endParaRPr lang="en-US" sz="700" dirty="0"/>
          </a:p>
        </p:txBody>
      </p:sp>
      <p:sp>
        <p:nvSpPr>
          <p:cNvPr id="22" name="Text 17"/>
          <p:cNvSpPr txBox="1"/>
          <p:nvPr/>
        </p:nvSpPr>
        <p:spPr>
          <a:xfrm>
            <a:off x="8324088" y="4764024"/>
            <a:ext cx="3133344" cy="310896"/>
          </a:xfrm>
          <a:prstGeom prst="rect">
            <a:avLst/>
          </a:prstGeom>
          <a:noFill/>
          <a:ln/>
        </p:spPr>
        <p:txBody>
          <a:bodyPr wrap="square" lIns="0" tIns="0" rIns="0" bIns="0" rtlCol="0" anchor="t"/>
          <a:lstStyle/>
          <a:p>
            <a:pPr indent="0" marL="0">
              <a:buNone/>
            </a:pPr>
            <a:r>
              <a:rPr lang="en-US" sz="1500" b="1" dirty="0">
                <a:solidFill>
                  <a:srgbClr val="12203A"/>
                </a:solidFill>
                <a:latin typeface="Cambria" pitchFamily="34" charset="0"/>
                <a:ea typeface="Cambria" pitchFamily="34" charset="-122"/>
                <a:cs typeface="Cambria" pitchFamily="34" charset="-120"/>
              </a:rPr>
              <a:t>Copia distribuible</a:t>
            </a:r>
            <a:endParaRPr lang="en-US" sz="1500" dirty="0"/>
          </a:p>
        </p:txBody>
      </p:sp>
      <p:sp>
        <p:nvSpPr>
          <p:cNvPr id="23" name="Text 18"/>
          <p:cNvSpPr txBox="1"/>
          <p:nvPr/>
        </p:nvSpPr>
        <p:spPr>
          <a:xfrm>
            <a:off x="8324088" y="5093208"/>
            <a:ext cx="3133344" cy="563880"/>
          </a:xfrm>
          <a:prstGeom prst="rect">
            <a:avLst/>
          </a:prstGeom>
          <a:noFill/>
          <a:ln/>
        </p:spPr>
        <p:txBody>
          <a:bodyPr wrap="square" lIns="0" tIns="0" rIns="0" bIns="0" rtlCol="0" anchor="t"/>
          <a:lstStyle/>
          <a:p>
            <a:pPr indent="0" marL="0">
              <a:buNone/>
            </a:pPr>
            <a:r>
              <a:rPr lang="en-US" sz="1000" dirty="0">
                <a:solidFill>
                  <a:srgbClr val="6B6559"/>
                </a:solidFill>
                <a:latin typeface="Calibri" pitchFamily="34" charset="0"/>
                <a:ea typeface="Calibri" pitchFamily="34" charset="-122"/>
                <a:cs typeface="Calibri" pitchFamily="34" charset="-120"/>
              </a:rPr>
              <a:t>Idéntica a la vista, con una marca de agua invisible que permite reconocerla como copia emitida aquí aunque cambie de nombre al enviarla.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84048"/>
            <a:ext cx="1051560" cy="548640"/>
          </a:xfrm>
          <a:prstGeom prst="rect">
            <a:avLst/>
          </a:prstGeom>
          <a:noFill/>
          <a:ln/>
        </p:spPr>
        <p:txBody>
          <a:bodyPr wrap="square" lIns="0" tIns="0" rIns="0" bIns="0" rtlCol="0" anchor="t"/>
          <a:lstStyle/>
          <a:p>
            <a:pPr indent="0" marL="0">
              <a:buNone/>
            </a:pPr>
            <a:r>
              <a:rPr lang="en-US" sz="800" spc="140" kern="0" dirty="0">
                <a:solidFill>
                  <a:srgbClr val="6B6559"/>
                </a:solidFill>
                <a:latin typeface="Courier New" pitchFamily="34" charset="0"/>
                <a:ea typeface="Courier New" pitchFamily="34" charset="-122"/>
                <a:cs typeface="Courier New" pitchFamily="34" charset="-120"/>
              </a:rPr>
              <a:t>ANTES DE EMPEZAR</a:t>
            </a:r>
            <a:endParaRPr lang="en-US" sz="800" dirty="0"/>
          </a:p>
        </p:txBody>
      </p:sp>
      <p:sp>
        <p:nvSpPr>
          <p:cNvPr id="3" name="Text 1"/>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El PDF que usted recibe</a:t>
            </a:r>
            <a:endParaRPr lang="en-US" sz="2600" dirty="0"/>
          </a:p>
        </p:txBody>
      </p:sp>
      <p:sp>
        <p:nvSpPr>
          <p:cNvPr id="4" name="Text 2"/>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Con los dos códigos estampados. Es el ejemplar del titular.</a:t>
            </a:r>
            <a:endParaRPr lang="en-US" sz="1200" dirty="0"/>
          </a:p>
        </p:txBody>
      </p:sp>
      <p:pic>
        <p:nvPicPr>
          <p:cNvPr id="5" name="Image 0" descr="/tmp/claude-0/-home-user-gea-module-0/05c86c8b-2f1b-52ff-8f50-3243e9e36b63/scratchpad/deck_img/pdf_2_certificado.png">    </p:cNvPr>
          <p:cNvPicPr>
            <a:picLocks noChangeAspect="1"/>
          </p:cNvPicPr>
          <p:nvPr/>
        </p:nvPicPr>
        <p:blipFill>
          <a:blip r:embed="rId1"/>
          <a:stretch>
            <a:fillRect/>
          </a:stretch>
        </p:blipFill>
        <p:spPr>
          <a:xfrm>
            <a:off x="502920" y="1280160"/>
            <a:ext cx="3741878" cy="4837176"/>
          </a:xfrm>
          <a:prstGeom prst="rect">
            <a:avLst/>
          </a:prstGeom>
        </p:spPr>
      </p:pic>
      <p:sp>
        <p:nvSpPr>
          <p:cNvPr id="6" name="Shape 3"/>
          <p:cNvSpPr/>
          <p:nvPr/>
        </p:nvSpPr>
        <p:spPr>
          <a:xfrm>
            <a:off x="502920" y="1280160"/>
            <a:ext cx="3741878" cy="4837176"/>
          </a:xfrm>
          <a:prstGeom prst="rect">
            <a:avLst/>
          </a:prstGeom>
          <a:ln w="9525">
            <a:solidFill>
              <a:srgbClr val="DED8CB"/>
            </a:solidFill>
            <a:prstDash val="solid"/>
          </a:ln>
        </p:spPr>
      </p:sp>
      <p:sp>
        <p:nvSpPr>
          <p:cNvPr id="7" name="Shape 4"/>
          <p:cNvSpPr/>
          <p:nvPr/>
        </p:nvSpPr>
        <p:spPr>
          <a:xfrm>
            <a:off x="1741107" y="5654902"/>
            <a:ext cx="1318638" cy="237022"/>
          </a:xfrm>
          <a:prstGeom prst="roundRect">
            <a:avLst>
              <a:gd name="adj" fmla="val 11574"/>
            </a:avLst>
          </a:prstGeom>
          <a:ln w="19050">
            <a:solidFill>
              <a:srgbClr val="9C7222"/>
            </a:solidFill>
            <a:prstDash val="solid"/>
          </a:ln>
        </p:spPr>
      </p:sp>
      <p:sp>
        <p:nvSpPr>
          <p:cNvPr id="8" name="Shape 5"/>
          <p:cNvSpPr/>
          <p:nvPr/>
        </p:nvSpPr>
        <p:spPr>
          <a:xfrm>
            <a:off x="1622235" y="5536030"/>
            <a:ext cx="237744" cy="237744"/>
          </a:xfrm>
          <a:prstGeom prst="ellipse">
            <a:avLst/>
          </a:prstGeom>
          <a:solidFill>
            <a:srgbClr val="9C7222"/>
          </a:solidFill>
          <a:ln w="12700">
            <a:solidFill>
              <a:srgbClr val="FFFFFF"/>
            </a:solidFill>
            <a:prstDash val="solid"/>
          </a:ln>
        </p:spPr>
      </p:sp>
      <p:sp>
        <p:nvSpPr>
          <p:cNvPr id="9" name="Text 6"/>
          <p:cNvSpPr txBox="1"/>
          <p:nvPr/>
        </p:nvSpPr>
        <p:spPr>
          <a:xfrm>
            <a:off x="1622235" y="553603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0" name="Shape 7"/>
          <p:cNvSpPr/>
          <p:nvPr/>
        </p:nvSpPr>
        <p:spPr>
          <a:xfrm>
            <a:off x="3551054" y="5404820"/>
            <a:ext cx="486070" cy="487104"/>
          </a:xfrm>
          <a:prstGeom prst="roundRect">
            <a:avLst>
              <a:gd name="adj" fmla="val 5644"/>
            </a:avLst>
          </a:prstGeom>
          <a:ln w="19050">
            <a:solidFill>
              <a:srgbClr val="9C7222"/>
            </a:solidFill>
            <a:prstDash val="solid"/>
          </a:ln>
        </p:spPr>
      </p:sp>
      <p:sp>
        <p:nvSpPr>
          <p:cNvPr id="11" name="Shape 8"/>
          <p:cNvSpPr/>
          <p:nvPr/>
        </p:nvSpPr>
        <p:spPr>
          <a:xfrm>
            <a:off x="3432182" y="5285948"/>
            <a:ext cx="237744" cy="237744"/>
          </a:xfrm>
          <a:prstGeom prst="ellipse">
            <a:avLst/>
          </a:prstGeom>
          <a:solidFill>
            <a:srgbClr val="9C7222"/>
          </a:solidFill>
          <a:ln w="12700">
            <a:solidFill>
              <a:srgbClr val="FFFFFF"/>
            </a:solidFill>
            <a:prstDash val="solid"/>
          </a:ln>
        </p:spPr>
      </p:sp>
      <p:sp>
        <p:nvSpPr>
          <p:cNvPr id="12" name="Text 9"/>
          <p:cNvSpPr txBox="1"/>
          <p:nvPr/>
        </p:nvSpPr>
        <p:spPr>
          <a:xfrm>
            <a:off x="3432182" y="528594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3" name="Shape 10"/>
          <p:cNvSpPr/>
          <p:nvPr/>
        </p:nvSpPr>
        <p:spPr>
          <a:xfrm>
            <a:off x="7680960" y="1307592"/>
            <a:ext cx="219456" cy="219456"/>
          </a:xfrm>
          <a:prstGeom prst="ellipse">
            <a:avLst/>
          </a:prstGeom>
          <a:ln w="12700">
            <a:solidFill>
              <a:srgbClr val="9C7222"/>
            </a:solidFill>
            <a:prstDash val="solid"/>
          </a:ln>
        </p:spPr>
      </p:sp>
      <p:sp>
        <p:nvSpPr>
          <p:cNvPr id="14" name="Text 11"/>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5" name="Text 12"/>
          <p:cNvSpPr txBox="1"/>
          <p:nvPr/>
        </p:nvSpPr>
        <p:spPr>
          <a:xfrm>
            <a:off x="7991856" y="1280160"/>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El código de certificación, impreso. </a:t>
            </a:r>
            <a:pPr indent="0" marL="0">
              <a:buNone/>
            </a:pPr>
            <a:r>
              <a:rPr lang="en-US" sz="1050" dirty="0">
                <a:solidFill>
                  <a:srgbClr val="6B6559"/>
                </a:solidFill>
                <a:latin typeface="Calibri" pitchFamily="34" charset="0"/>
                <a:ea typeface="Calibri" pitchFamily="34" charset="-122"/>
                <a:cs typeface="Calibri" pitchFamily="34" charset="-120"/>
              </a:rPr>
              <a:t>Legible por lector de códigos. Es el mismo texto que enseña la pantalla de resultado.</a:t>
            </a:r>
            <a:endParaRPr lang="en-US" sz="1050" dirty="0"/>
          </a:p>
        </p:txBody>
      </p:sp>
      <p:sp>
        <p:nvSpPr>
          <p:cNvPr id="16" name="Shape 13"/>
          <p:cNvSpPr/>
          <p:nvPr/>
        </p:nvSpPr>
        <p:spPr>
          <a:xfrm>
            <a:off x="7680960" y="2068830"/>
            <a:ext cx="219456" cy="219456"/>
          </a:xfrm>
          <a:prstGeom prst="ellipse">
            <a:avLst/>
          </a:prstGeom>
          <a:ln w="12700">
            <a:solidFill>
              <a:srgbClr val="9C7222"/>
            </a:solidFill>
            <a:prstDash val="solid"/>
          </a:ln>
        </p:spPr>
      </p:sp>
      <p:sp>
        <p:nvSpPr>
          <p:cNvPr id="17" name="Text 14"/>
          <p:cNvSpPr txBox="1"/>
          <p:nvPr/>
        </p:nvSpPr>
        <p:spPr>
          <a:xfrm>
            <a:off x="7680960" y="206883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18" name="Text 15"/>
          <p:cNvSpPr txBox="1"/>
          <p:nvPr/>
        </p:nvSpPr>
        <p:spPr>
          <a:xfrm>
            <a:off x="7991856" y="2041398"/>
            <a:ext cx="3666744" cy="707136"/>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El QR. </a:t>
            </a:r>
            <a:pPr indent="0" marL="0">
              <a:buNone/>
            </a:pPr>
            <a:r>
              <a:rPr lang="en-US" sz="1050" dirty="0">
                <a:solidFill>
                  <a:srgbClr val="6B6559"/>
                </a:solidFill>
                <a:latin typeface="Calibri" pitchFamily="34" charset="0"/>
                <a:ea typeface="Calibri" pitchFamily="34" charset="-122"/>
                <a:cs typeface="Calibri" pitchFamily="34" charset="-120"/>
              </a:rPr>
              <a:t>Lleva la dirección de la página de verificación de este documento, construida sobre el dominio canónico del despacho y no sobre el equipo desde el que se certificó.</a:t>
            </a:r>
            <a:endParaRPr lang="en-US" sz="1050" dirty="0"/>
          </a:p>
        </p:txBody>
      </p:sp>
      <p:sp>
        <p:nvSpPr>
          <p:cNvPr id="19" name="Text 16"/>
          <p:cNvSpPr txBox="1"/>
          <p:nvPr/>
        </p:nvSpPr>
        <p:spPr>
          <a:xfrm>
            <a:off x="502920" y="6190488"/>
            <a:ext cx="3741878" cy="219456"/>
          </a:xfrm>
          <a:prstGeom prst="rect">
            <a:avLst/>
          </a:prstGeom>
          <a:noFill/>
          <a:ln/>
        </p:spPr>
        <p:txBody>
          <a:bodyPr wrap="square" lIns="0" tIns="0" rIns="0" bIns="0" rtlCol="0" anchor="t"/>
          <a:lstStyle/>
          <a:p>
            <a:pPr indent="0" marL="0">
              <a:buNone/>
            </a:pPr>
            <a:r>
              <a:rPr lang="en-US" sz="800" dirty="0">
                <a:solidFill>
                  <a:srgbClr val="6B6559"/>
                </a:solidFill>
                <a:latin typeface="Courier New" pitchFamily="34" charset="0"/>
                <a:ea typeface="Courier New" pitchFamily="34" charset="-122"/>
                <a:cs typeface="Courier New" pitchFamily="34" charset="-120"/>
              </a:rPr>
              <a:t>El PDF certificado, tal y como se recibe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10896"/>
            <a:ext cx="640080" cy="566928"/>
          </a:xfrm>
          <a:prstGeom prst="rect">
            <a:avLst/>
          </a:prstGeom>
          <a:noFill/>
          <a:ln/>
        </p:spPr>
        <p:txBody>
          <a:bodyPr wrap="square" lIns="0" tIns="0" rIns="0" bIns="0" rtlCol="0" anchor="t"/>
          <a:lstStyle/>
          <a:p>
            <a:pPr algn="l" indent="0" marL="0">
              <a:buNone/>
            </a:pPr>
            <a:r>
              <a:rPr lang="en-US" sz="4000" dirty="0">
                <a:solidFill>
                  <a:srgbClr val="9C7222"/>
                </a:solidFill>
                <a:latin typeface="Cambria" pitchFamily="34" charset="0"/>
                <a:ea typeface="Cambria" pitchFamily="34" charset="-122"/>
                <a:cs typeface="Cambria" pitchFamily="34" charset="-120"/>
              </a:rPr>
              <a:t>1</a:t>
            </a:r>
            <a:endParaRPr lang="en-US" sz="4000" dirty="0"/>
          </a:p>
        </p:txBody>
      </p:sp>
      <p:sp>
        <p:nvSpPr>
          <p:cNvPr id="3" name="Text 1"/>
          <p:cNvSpPr txBox="1"/>
          <p:nvPr/>
        </p:nvSpPr>
        <p:spPr>
          <a:xfrm>
            <a:off x="502920" y="859536"/>
            <a:ext cx="822960" cy="219456"/>
          </a:xfrm>
          <a:prstGeom prst="rect">
            <a:avLst/>
          </a:prstGeom>
          <a:noFill/>
          <a:ln/>
        </p:spPr>
        <p:txBody>
          <a:bodyPr wrap="square" lIns="0" tIns="0" rIns="0" bIns="0" rtlCol="0" anchor="ctr"/>
          <a:lstStyle/>
          <a:p>
            <a:pPr indent="0" marL="0">
              <a:buNone/>
            </a:pPr>
            <a:r>
              <a:rPr lang="en-US" sz="800" spc="140" kern="0" dirty="0">
                <a:solidFill>
                  <a:srgbClr val="6B6559"/>
                </a:solidFill>
                <a:latin typeface="Courier New" pitchFamily="34" charset="0"/>
                <a:ea typeface="Courier New" pitchFamily="34" charset="-122"/>
                <a:cs typeface="Courier New" pitchFamily="34" charset="-120"/>
              </a:rPr>
              <a:t>PASO</a:t>
            </a:r>
            <a:endParaRPr lang="en-US" sz="800" dirty="0"/>
          </a:p>
        </p:txBody>
      </p:sp>
      <p:sp>
        <p:nvSpPr>
          <p:cNvPr id="4" name="Text 2"/>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Se entra por la web del despacho</a:t>
            </a:r>
            <a:endParaRPr lang="en-US" sz="2600" dirty="0"/>
          </a:p>
        </p:txBody>
      </p:sp>
      <p:sp>
        <p:nvSpPr>
          <p:cNvPr id="5" name="Text 3"/>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No por un enlace que llegue en un correo. La puerta correcta se teclea.</a:t>
            </a:r>
            <a:endParaRPr lang="en-US" sz="1200" dirty="0"/>
          </a:p>
        </p:txBody>
      </p:sp>
      <p:sp>
        <p:nvSpPr>
          <p:cNvPr id="6" name="Text 4"/>
          <p:cNvSpPr txBox="1"/>
          <p:nvPr/>
        </p:nvSpPr>
        <p:spPr>
          <a:xfrm>
            <a:off x="1645920" y="1280160"/>
            <a:ext cx="10012680" cy="658368"/>
          </a:xfrm>
          <a:prstGeom prst="rect">
            <a:avLst/>
          </a:prstGeom>
          <a:noFill/>
          <a:ln/>
        </p:spPr>
        <p:txBody>
          <a:bodyPr wrap="square" lIns="0" tIns="0" rIns="0" bIns="0" rtlCol="0" anchor="t"/>
          <a:lstStyle/>
          <a:p>
            <a:pPr indent="0" marL="0">
              <a:buNone/>
            </a:pPr>
            <a:r>
              <a:rPr lang="en-US" sz="1250" dirty="0">
                <a:solidFill>
                  <a:srgbClr val="12203A"/>
                </a:solidFill>
                <a:latin typeface="Calibri" pitchFamily="34" charset="0"/>
                <a:ea typeface="Calibri" pitchFamily="34" charset="-122"/>
                <a:cs typeface="Calibri" pitchFamily="34" charset="-120"/>
              </a:rPr>
              <a:t>En propensionesabogados.com, en el menú superior, se abre Plataformas / Platforms y se elige Certificación / Certification. Ese enlace lleva al portal de verificación.</a:t>
            </a:r>
            <a:endParaRPr lang="en-US" sz="1250" dirty="0"/>
          </a:p>
        </p:txBody>
      </p:sp>
      <p:sp>
        <p:nvSpPr>
          <p:cNvPr id="7" name="Shape 5"/>
          <p:cNvSpPr/>
          <p:nvPr/>
        </p:nvSpPr>
        <p:spPr>
          <a:xfrm>
            <a:off x="1645920" y="2711958"/>
            <a:ext cx="2110435" cy="457200"/>
          </a:xfrm>
          <a:prstGeom prst="roundRect">
            <a:avLst>
              <a:gd name="adj" fmla="val 10000"/>
            </a:avLst>
          </a:prstGeom>
          <a:solidFill>
            <a:srgbClr val="FFFFFF"/>
          </a:solidFill>
          <a:ln w="12700">
            <a:solidFill>
              <a:srgbClr val="DED8CB"/>
            </a:solidFill>
            <a:prstDash val="solid"/>
          </a:ln>
        </p:spPr>
      </p:sp>
      <p:sp>
        <p:nvSpPr>
          <p:cNvPr id="8" name="Text 6"/>
          <p:cNvSpPr txBox="1"/>
          <p:nvPr/>
        </p:nvSpPr>
        <p:spPr>
          <a:xfrm>
            <a:off x="1645920" y="2711958"/>
            <a:ext cx="2110435" cy="457200"/>
          </a:xfrm>
          <a:prstGeom prst="rect">
            <a:avLst/>
          </a:prstGeom>
          <a:noFill/>
          <a:ln/>
        </p:spPr>
        <p:txBody>
          <a:bodyPr wrap="square" lIns="0" tIns="0" rIns="0" bIns="0" rtlCol="0" anchor="ctr"/>
          <a:lstStyle/>
          <a:p>
            <a:pPr algn="ctr" indent="0" marL="0">
              <a:buNone/>
            </a:pPr>
            <a:r>
              <a:rPr lang="en-US" sz="900" dirty="0">
                <a:solidFill>
                  <a:srgbClr val="12203A"/>
                </a:solidFill>
                <a:latin typeface="Courier New" pitchFamily="34" charset="0"/>
                <a:ea typeface="Courier New" pitchFamily="34" charset="-122"/>
                <a:cs typeface="Courier New" pitchFamily="34" charset="-120"/>
              </a:rPr>
              <a:t>propensionesabogados.com</a:t>
            </a:r>
            <a:endParaRPr lang="en-US" sz="900" dirty="0"/>
          </a:p>
        </p:txBody>
      </p:sp>
      <p:sp>
        <p:nvSpPr>
          <p:cNvPr id="9" name="Text 7"/>
          <p:cNvSpPr txBox="1"/>
          <p:nvPr/>
        </p:nvSpPr>
        <p:spPr>
          <a:xfrm>
            <a:off x="3756355" y="2711958"/>
            <a:ext cx="274320" cy="457200"/>
          </a:xfrm>
          <a:prstGeom prst="rect">
            <a:avLst/>
          </a:prstGeom>
          <a:noFill/>
          <a:ln/>
        </p:spPr>
        <p:txBody>
          <a:bodyPr wrap="square" lIns="0" tIns="0" rIns="0" bIns="0" rtlCol="0" anchor="ctr"/>
          <a:lstStyle/>
          <a:p>
            <a:pPr algn="ctr" indent="0" marL="0">
              <a:buNone/>
            </a:pPr>
            <a:r>
              <a:rPr lang="en-US" sz="1300" dirty="0">
                <a:solidFill>
                  <a:srgbClr val="6B6559"/>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4030675" y="2711958"/>
            <a:ext cx="1135685" cy="457200"/>
          </a:xfrm>
          <a:prstGeom prst="roundRect">
            <a:avLst>
              <a:gd name="adj" fmla="val 10000"/>
            </a:avLst>
          </a:prstGeom>
          <a:solidFill>
            <a:srgbClr val="FFFFFF"/>
          </a:solidFill>
          <a:ln w="12700">
            <a:solidFill>
              <a:srgbClr val="DED8CB"/>
            </a:solidFill>
            <a:prstDash val="solid"/>
          </a:ln>
        </p:spPr>
      </p:sp>
      <p:sp>
        <p:nvSpPr>
          <p:cNvPr id="11" name="Text 9"/>
          <p:cNvSpPr txBox="1"/>
          <p:nvPr/>
        </p:nvSpPr>
        <p:spPr>
          <a:xfrm>
            <a:off x="4030675" y="2711958"/>
            <a:ext cx="1135685" cy="457200"/>
          </a:xfrm>
          <a:prstGeom prst="rect">
            <a:avLst/>
          </a:prstGeom>
          <a:noFill/>
          <a:ln/>
        </p:spPr>
        <p:txBody>
          <a:bodyPr wrap="square" lIns="0" tIns="0" rIns="0" bIns="0" rtlCol="0" anchor="ctr"/>
          <a:lstStyle/>
          <a:p>
            <a:pPr algn="ctr" indent="0" marL="0">
              <a:buNone/>
            </a:pPr>
            <a:r>
              <a:rPr lang="en-US" sz="900" dirty="0">
                <a:solidFill>
                  <a:srgbClr val="12203A"/>
                </a:solidFill>
                <a:latin typeface="Courier New" pitchFamily="34" charset="0"/>
                <a:ea typeface="Courier New" pitchFamily="34" charset="-122"/>
                <a:cs typeface="Courier New" pitchFamily="34" charset="-120"/>
              </a:rPr>
              <a:t>Plataformas</a:t>
            </a:r>
            <a:endParaRPr lang="en-US" sz="900" dirty="0"/>
          </a:p>
        </p:txBody>
      </p:sp>
      <p:sp>
        <p:nvSpPr>
          <p:cNvPr id="12" name="Text 10"/>
          <p:cNvSpPr txBox="1"/>
          <p:nvPr/>
        </p:nvSpPr>
        <p:spPr>
          <a:xfrm>
            <a:off x="5166360" y="2711958"/>
            <a:ext cx="274320" cy="457200"/>
          </a:xfrm>
          <a:prstGeom prst="rect">
            <a:avLst/>
          </a:prstGeom>
          <a:noFill/>
          <a:ln/>
        </p:spPr>
        <p:txBody>
          <a:bodyPr wrap="square" lIns="0" tIns="0" rIns="0" bIns="0" rtlCol="0" anchor="ctr"/>
          <a:lstStyle/>
          <a:p>
            <a:pPr algn="ctr" indent="0" marL="0">
              <a:buNone/>
            </a:pPr>
            <a:r>
              <a:rPr lang="en-US" sz="1300" dirty="0">
                <a:solidFill>
                  <a:srgbClr val="6B6559"/>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5440680" y="2711958"/>
            <a:ext cx="1285646" cy="457200"/>
          </a:xfrm>
          <a:prstGeom prst="roundRect">
            <a:avLst>
              <a:gd name="adj" fmla="val 10000"/>
            </a:avLst>
          </a:prstGeom>
          <a:solidFill>
            <a:srgbClr val="FFFFFF"/>
          </a:solidFill>
          <a:ln w="12700">
            <a:solidFill>
              <a:srgbClr val="9C7222"/>
            </a:solidFill>
            <a:prstDash val="solid"/>
          </a:ln>
        </p:spPr>
      </p:sp>
      <p:sp>
        <p:nvSpPr>
          <p:cNvPr id="14" name="Text 12"/>
          <p:cNvSpPr txBox="1"/>
          <p:nvPr/>
        </p:nvSpPr>
        <p:spPr>
          <a:xfrm>
            <a:off x="5440680" y="2711958"/>
            <a:ext cx="1285646" cy="457200"/>
          </a:xfrm>
          <a:prstGeom prst="rect">
            <a:avLst/>
          </a:prstGeom>
          <a:noFill/>
          <a:ln/>
        </p:spPr>
        <p:txBody>
          <a:bodyPr wrap="square" lIns="0" tIns="0" rIns="0" bIns="0" rtlCol="0" anchor="ctr"/>
          <a:lstStyle/>
          <a:p>
            <a:pPr algn="ctr" indent="0" marL="0">
              <a:buNone/>
            </a:pPr>
            <a:r>
              <a:rPr lang="en-US" sz="900" dirty="0">
                <a:solidFill>
                  <a:srgbClr val="9C7222"/>
                </a:solidFill>
                <a:latin typeface="Courier New" pitchFamily="34" charset="0"/>
                <a:ea typeface="Courier New" pitchFamily="34" charset="-122"/>
                <a:cs typeface="Courier New" pitchFamily="34" charset="-120"/>
              </a:rPr>
              <a:t>Certificación</a:t>
            </a:r>
            <a:endParaRPr lang="en-US" sz="900" dirty="0"/>
          </a:p>
        </p:txBody>
      </p:sp>
      <p:sp>
        <p:nvSpPr>
          <p:cNvPr id="15" name="Text 13"/>
          <p:cNvSpPr txBox="1"/>
          <p:nvPr/>
        </p:nvSpPr>
        <p:spPr>
          <a:xfrm>
            <a:off x="6726326" y="2711958"/>
            <a:ext cx="274320" cy="457200"/>
          </a:xfrm>
          <a:prstGeom prst="rect">
            <a:avLst/>
          </a:prstGeom>
          <a:noFill/>
          <a:ln/>
        </p:spPr>
        <p:txBody>
          <a:bodyPr wrap="square" lIns="0" tIns="0" rIns="0" bIns="0" rtlCol="0" anchor="ctr"/>
          <a:lstStyle/>
          <a:p>
            <a:pPr algn="ctr" indent="0" marL="0">
              <a:buNone/>
            </a:pPr>
            <a:r>
              <a:rPr lang="en-US" sz="1300" dirty="0">
                <a:solidFill>
                  <a:srgbClr val="6B6559"/>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7000646" y="2711958"/>
            <a:ext cx="3685032" cy="457200"/>
          </a:xfrm>
          <a:prstGeom prst="roundRect">
            <a:avLst>
              <a:gd name="adj" fmla="val 10000"/>
            </a:avLst>
          </a:prstGeom>
          <a:solidFill>
            <a:srgbClr val="FFFFFF"/>
          </a:solidFill>
          <a:ln w="12700">
            <a:solidFill>
              <a:srgbClr val="9C7222"/>
            </a:solidFill>
            <a:prstDash val="solid"/>
          </a:ln>
        </p:spPr>
      </p:sp>
      <p:sp>
        <p:nvSpPr>
          <p:cNvPr id="17" name="Text 15"/>
          <p:cNvSpPr txBox="1"/>
          <p:nvPr/>
        </p:nvSpPr>
        <p:spPr>
          <a:xfrm>
            <a:off x="7000646" y="2711958"/>
            <a:ext cx="3685032" cy="457200"/>
          </a:xfrm>
          <a:prstGeom prst="rect">
            <a:avLst/>
          </a:prstGeom>
          <a:noFill/>
          <a:ln/>
        </p:spPr>
        <p:txBody>
          <a:bodyPr wrap="square" lIns="0" tIns="0" rIns="0" bIns="0" rtlCol="0" anchor="ctr"/>
          <a:lstStyle/>
          <a:p>
            <a:pPr algn="ctr" indent="0" marL="0">
              <a:buNone/>
            </a:pPr>
            <a:r>
              <a:rPr lang="en-US" sz="900" dirty="0">
                <a:solidFill>
                  <a:srgbClr val="9C7222"/>
                </a:solidFill>
                <a:latin typeface="Courier New" pitchFamily="34" charset="0"/>
                <a:ea typeface="Courier New" pitchFamily="34" charset="-122"/>
                <a:cs typeface="Courier New" pitchFamily="34" charset="-120"/>
              </a:rPr>
              <a:t>geausa.propensionesabogados.com/certificates/</a:t>
            </a:r>
            <a:endParaRPr lang="en-US" sz="900" dirty="0"/>
          </a:p>
        </p:txBody>
      </p:sp>
      <p:sp>
        <p:nvSpPr>
          <p:cNvPr id="18" name="Shape 16"/>
          <p:cNvSpPr/>
          <p:nvPr/>
        </p:nvSpPr>
        <p:spPr>
          <a:xfrm>
            <a:off x="1645920" y="3672078"/>
            <a:ext cx="10012680" cy="976884"/>
          </a:xfrm>
          <a:prstGeom prst="roundRect">
            <a:avLst>
              <a:gd name="adj" fmla="val 4680"/>
            </a:avLst>
          </a:prstGeom>
          <a:solidFill>
            <a:srgbClr val="FFFFFF"/>
          </a:solidFill>
          <a:ln w="12700">
            <a:solidFill>
              <a:srgbClr val="9C7222"/>
            </a:solidFill>
            <a:prstDash val="solid"/>
          </a:ln>
        </p:spPr>
      </p:sp>
      <p:sp>
        <p:nvSpPr>
          <p:cNvPr id="19" name="Text 17"/>
          <p:cNvSpPr txBox="1"/>
          <p:nvPr/>
        </p:nvSpPr>
        <p:spPr>
          <a:xfrm>
            <a:off x="1792224" y="3745230"/>
            <a:ext cx="9720072" cy="201168"/>
          </a:xfrm>
          <a:prstGeom prst="rect">
            <a:avLst/>
          </a:prstGeom>
          <a:noFill/>
          <a:ln/>
        </p:spPr>
        <p:txBody>
          <a:bodyPr wrap="square" lIns="0" tIns="0" rIns="0" bIns="0" rtlCol="0" anchor="ctr"/>
          <a:lstStyle/>
          <a:p>
            <a:pPr indent="0" marL="0">
              <a:buNone/>
            </a:pPr>
            <a:r>
              <a:rPr lang="en-US" sz="750" spc="120" kern="0" dirty="0">
                <a:solidFill>
                  <a:srgbClr val="9C7222"/>
                </a:solidFill>
                <a:latin typeface="Courier New" pitchFamily="34" charset="0"/>
                <a:ea typeface="Courier New" pitchFamily="34" charset="-122"/>
                <a:cs typeface="Courier New" pitchFamily="34" charset="-120"/>
              </a:rPr>
              <a:t>POR QUÉ SE INSISTE EN ESTO</a:t>
            </a:r>
            <a:endParaRPr lang="en-US" sz="750" dirty="0"/>
          </a:p>
        </p:txBody>
      </p:sp>
      <p:sp>
        <p:nvSpPr>
          <p:cNvPr id="20" name="Text 18"/>
          <p:cNvSpPr txBox="1"/>
          <p:nvPr/>
        </p:nvSpPr>
        <p:spPr>
          <a:xfrm>
            <a:off x="1792224" y="3946398"/>
            <a:ext cx="9720072" cy="629412"/>
          </a:xfrm>
          <a:prstGeom prst="rect">
            <a:avLst/>
          </a:prstGeom>
          <a:noFill/>
          <a:ln/>
        </p:spPr>
        <p:txBody>
          <a:bodyPr wrap="square" lIns="0" tIns="0" rIns="0" bIns="0" rtlCol="0" anchor="t"/>
          <a:lstStyle/>
          <a:p>
            <a:pPr indent="0" marL="0">
              <a:buNone/>
            </a:pPr>
            <a:r>
              <a:rPr lang="en-US" sz="1100" dirty="0">
                <a:solidFill>
                  <a:srgbClr val="12203A"/>
                </a:solidFill>
                <a:latin typeface="Calibri" pitchFamily="34" charset="0"/>
                <a:ea typeface="Calibri" pitchFamily="34" charset="-122"/>
                <a:cs typeface="Calibri" pitchFamily="34" charset="-120"/>
              </a:rPr>
              <a:t>Empezar siempre por el dominio del despacho es lo que hace que una imitación no funcione: quien monta una página falsa puede copiar el aspecto del portal, pero no puede ponerla debajo de propensionesabogados.com. Si un correo trae un enlace directo, se comprueba que el dominio sea exactamente geausa.propensionesabogados.com antes de teclear nada.</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10896"/>
            <a:ext cx="640080" cy="566928"/>
          </a:xfrm>
          <a:prstGeom prst="rect">
            <a:avLst/>
          </a:prstGeom>
          <a:noFill/>
          <a:ln/>
        </p:spPr>
        <p:txBody>
          <a:bodyPr wrap="square" lIns="0" tIns="0" rIns="0" bIns="0" rtlCol="0" anchor="t"/>
          <a:lstStyle/>
          <a:p>
            <a:pPr algn="l" indent="0" marL="0">
              <a:buNone/>
            </a:pPr>
            <a:r>
              <a:rPr lang="en-US" sz="4000" dirty="0">
                <a:solidFill>
                  <a:srgbClr val="9C7222"/>
                </a:solidFill>
                <a:latin typeface="Cambria" pitchFamily="34" charset="0"/>
                <a:ea typeface="Cambria" pitchFamily="34" charset="-122"/>
                <a:cs typeface="Cambria" pitchFamily="34" charset="-120"/>
              </a:rPr>
              <a:t>2</a:t>
            </a:r>
            <a:endParaRPr lang="en-US" sz="4000" dirty="0"/>
          </a:p>
        </p:txBody>
      </p:sp>
      <p:sp>
        <p:nvSpPr>
          <p:cNvPr id="3" name="Text 1"/>
          <p:cNvSpPr txBox="1"/>
          <p:nvPr/>
        </p:nvSpPr>
        <p:spPr>
          <a:xfrm>
            <a:off x="502920" y="859536"/>
            <a:ext cx="822960" cy="219456"/>
          </a:xfrm>
          <a:prstGeom prst="rect">
            <a:avLst/>
          </a:prstGeom>
          <a:noFill/>
          <a:ln/>
        </p:spPr>
        <p:txBody>
          <a:bodyPr wrap="square" lIns="0" tIns="0" rIns="0" bIns="0" rtlCol="0" anchor="ctr"/>
          <a:lstStyle/>
          <a:p>
            <a:pPr indent="0" marL="0">
              <a:buNone/>
            </a:pPr>
            <a:endParaRPr lang="en-US" sz="800" dirty="0"/>
          </a:p>
        </p:txBody>
      </p:sp>
      <p:sp>
        <p:nvSpPr>
          <p:cNvPr id="4" name="Text 2"/>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Elegir portal: documentos o personas</a:t>
            </a:r>
            <a:endParaRPr lang="en-US" sz="2600" dirty="0"/>
          </a:p>
        </p:txBody>
      </p:sp>
      <p:sp>
        <p:nvSpPr>
          <p:cNvPr id="5" name="Text 3"/>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Según lo que se tenga delante: un papel, o alguien que dice representar al despacho.</a:t>
            </a:r>
            <a:endParaRPr lang="en-US" sz="1200" dirty="0"/>
          </a:p>
        </p:txBody>
      </p:sp>
      <p:pic>
        <p:nvPicPr>
          <p:cNvPr id="6" name="Image 0" descr="/tmp/claude-0/-home-user-gea-module-0/05c86c8b-2f1b-52ff-8f50-3243e9e36b63/scratchpad/deck_img/01_landing.png">    </p:cNvPr>
          <p:cNvPicPr>
            <a:picLocks noChangeAspect="1"/>
          </p:cNvPicPr>
          <p:nvPr/>
        </p:nvPicPr>
        <p:blipFill>
          <a:blip r:embed="rId1"/>
          <a:stretch>
            <a:fillRect/>
          </a:stretch>
        </p:blipFill>
        <p:spPr>
          <a:xfrm>
            <a:off x="502920" y="1280160"/>
            <a:ext cx="6858000" cy="3429000"/>
          </a:xfrm>
          <a:prstGeom prst="rect">
            <a:avLst/>
          </a:prstGeom>
        </p:spPr>
      </p:pic>
      <p:sp>
        <p:nvSpPr>
          <p:cNvPr id="7" name="Shape 4"/>
          <p:cNvSpPr/>
          <p:nvPr/>
        </p:nvSpPr>
        <p:spPr>
          <a:xfrm>
            <a:off x="502920" y="1280160"/>
            <a:ext cx="6858000" cy="3429000"/>
          </a:xfrm>
          <a:prstGeom prst="rect">
            <a:avLst/>
          </a:prstGeom>
          <a:ln w="9525">
            <a:solidFill>
              <a:srgbClr val="DED8CB"/>
            </a:solidFill>
            <a:prstDash val="solid"/>
          </a:ln>
        </p:spPr>
      </p:sp>
      <p:sp>
        <p:nvSpPr>
          <p:cNvPr id="8" name="Shape 5"/>
          <p:cNvSpPr/>
          <p:nvPr/>
        </p:nvSpPr>
        <p:spPr>
          <a:xfrm>
            <a:off x="1801139" y="3534042"/>
            <a:ext cx="2058086" cy="967664"/>
          </a:xfrm>
          <a:prstGeom prst="roundRect">
            <a:avLst>
              <a:gd name="adj" fmla="val 2835"/>
            </a:avLst>
          </a:prstGeom>
          <a:ln w="19050">
            <a:solidFill>
              <a:srgbClr val="9C7222"/>
            </a:solidFill>
            <a:prstDash val="solid"/>
          </a:ln>
        </p:spPr>
      </p:sp>
      <p:sp>
        <p:nvSpPr>
          <p:cNvPr id="9" name="Shape 6"/>
          <p:cNvSpPr/>
          <p:nvPr/>
        </p:nvSpPr>
        <p:spPr>
          <a:xfrm>
            <a:off x="1682267" y="3415170"/>
            <a:ext cx="237744" cy="237744"/>
          </a:xfrm>
          <a:prstGeom prst="ellipse">
            <a:avLst/>
          </a:prstGeom>
          <a:solidFill>
            <a:srgbClr val="9C7222"/>
          </a:solidFill>
          <a:ln w="12700">
            <a:solidFill>
              <a:srgbClr val="FFFFFF"/>
            </a:solidFill>
            <a:prstDash val="solid"/>
          </a:ln>
        </p:spPr>
      </p:sp>
      <p:sp>
        <p:nvSpPr>
          <p:cNvPr id="10" name="Text 7"/>
          <p:cNvSpPr txBox="1"/>
          <p:nvPr/>
        </p:nvSpPr>
        <p:spPr>
          <a:xfrm>
            <a:off x="1682267" y="341517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1" name="Shape 8"/>
          <p:cNvSpPr/>
          <p:nvPr/>
        </p:nvSpPr>
        <p:spPr>
          <a:xfrm>
            <a:off x="4004615" y="3534042"/>
            <a:ext cx="2058086" cy="967664"/>
          </a:xfrm>
          <a:prstGeom prst="roundRect">
            <a:avLst>
              <a:gd name="adj" fmla="val 2835"/>
            </a:avLst>
          </a:prstGeom>
          <a:ln w="19050">
            <a:solidFill>
              <a:srgbClr val="9C7222"/>
            </a:solidFill>
            <a:prstDash val="solid"/>
          </a:ln>
        </p:spPr>
      </p:sp>
      <p:sp>
        <p:nvSpPr>
          <p:cNvPr id="12" name="Shape 9"/>
          <p:cNvSpPr/>
          <p:nvPr/>
        </p:nvSpPr>
        <p:spPr>
          <a:xfrm>
            <a:off x="3885743" y="3415170"/>
            <a:ext cx="237744" cy="237744"/>
          </a:xfrm>
          <a:prstGeom prst="ellipse">
            <a:avLst/>
          </a:prstGeom>
          <a:solidFill>
            <a:srgbClr val="9C7222"/>
          </a:solidFill>
          <a:ln w="12700">
            <a:solidFill>
              <a:srgbClr val="FFFFFF"/>
            </a:solidFill>
            <a:prstDash val="solid"/>
          </a:ln>
        </p:spPr>
      </p:sp>
      <p:sp>
        <p:nvSpPr>
          <p:cNvPr id="13" name="Text 10"/>
          <p:cNvSpPr txBox="1"/>
          <p:nvPr/>
        </p:nvSpPr>
        <p:spPr>
          <a:xfrm>
            <a:off x="3885743" y="341517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4" name="Shape 11"/>
          <p:cNvSpPr/>
          <p:nvPr/>
        </p:nvSpPr>
        <p:spPr>
          <a:xfrm>
            <a:off x="7680960" y="1307592"/>
            <a:ext cx="219456" cy="219456"/>
          </a:xfrm>
          <a:prstGeom prst="ellipse">
            <a:avLst/>
          </a:prstGeom>
          <a:ln w="12700">
            <a:solidFill>
              <a:srgbClr val="9C7222"/>
            </a:solidFill>
            <a:prstDash val="solid"/>
          </a:ln>
        </p:spPr>
      </p:sp>
      <p:sp>
        <p:nvSpPr>
          <p:cNvPr id="15" name="Text 12"/>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6" name="Text 13"/>
          <p:cNvSpPr txBox="1"/>
          <p:nvPr/>
        </p:nvSpPr>
        <p:spPr>
          <a:xfrm>
            <a:off x="7991856" y="1280160"/>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AEGIS Documents Certificates </a:t>
            </a:r>
            <a:pPr indent="0" marL="0">
              <a:buNone/>
            </a:pPr>
            <a:r>
              <a:rPr lang="en-US" sz="1050" dirty="0">
                <a:solidFill>
                  <a:srgbClr val="6B6559"/>
                </a:solidFill>
                <a:latin typeface="Calibri" pitchFamily="34" charset="0"/>
                <a:ea typeface="Calibri" pitchFamily="34" charset="-122"/>
                <a:cs typeface="Calibri" pitchFamily="34" charset="-120"/>
              </a:rPr>
              <a:t>Para un certificado de activo, un título o cualquier documento con código y QR impresos.</a:t>
            </a:r>
            <a:endParaRPr lang="en-US" sz="1050" dirty="0"/>
          </a:p>
        </p:txBody>
      </p:sp>
      <p:sp>
        <p:nvSpPr>
          <p:cNvPr id="17" name="Shape 14"/>
          <p:cNvSpPr/>
          <p:nvPr/>
        </p:nvSpPr>
        <p:spPr>
          <a:xfrm>
            <a:off x="7680960" y="2068830"/>
            <a:ext cx="219456" cy="219456"/>
          </a:xfrm>
          <a:prstGeom prst="ellipse">
            <a:avLst/>
          </a:prstGeom>
          <a:ln w="12700">
            <a:solidFill>
              <a:srgbClr val="9C7222"/>
            </a:solidFill>
            <a:prstDash val="solid"/>
          </a:ln>
        </p:spPr>
      </p:sp>
      <p:sp>
        <p:nvSpPr>
          <p:cNvPr id="18" name="Text 15"/>
          <p:cNvSpPr txBox="1"/>
          <p:nvPr/>
        </p:nvSpPr>
        <p:spPr>
          <a:xfrm>
            <a:off x="7680960" y="206883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19" name="Text 16"/>
          <p:cNvSpPr txBox="1"/>
          <p:nvPr/>
        </p:nvSpPr>
        <p:spPr>
          <a:xfrm>
            <a:off x="7991856" y="2041398"/>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IPCON Employee Certificate </a:t>
            </a:r>
            <a:pPr indent="0" marL="0">
              <a:buNone/>
            </a:pPr>
            <a:r>
              <a:rPr lang="en-US" sz="1050" dirty="0">
                <a:solidFill>
                  <a:srgbClr val="6B6559"/>
                </a:solidFill>
                <a:latin typeface="Calibri" pitchFamily="34" charset="0"/>
                <a:ea typeface="Calibri" pitchFamily="34" charset="-122"/>
                <a:cs typeface="Calibri" pitchFamily="34" charset="-120"/>
              </a:rPr>
              <a:t>Para comprobar la credencial de alguien que dice actuar en nombre del despacho.</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10896"/>
            <a:ext cx="640080" cy="566928"/>
          </a:xfrm>
          <a:prstGeom prst="rect">
            <a:avLst/>
          </a:prstGeom>
          <a:noFill/>
          <a:ln/>
        </p:spPr>
        <p:txBody>
          <a:bodyPr wrap="square" lIns="0" tIns="0" rIns="0" bIns="0" rtlCol="0" anchor="t"/>
          <a:lstStyle/>
          <a:p>
            <a:pPr algn="l" indent="0" marL="0">
              <a:buNone/>
            </a:pPr>
            <a:r>
              <a:rPr lang="en-US" sz="4000" dirty="0">
                <a:solidFill>
                  <a:srgbClr val="9C7222"/>
                </a:solidFill>
                <a:latin typeface="Cambria" pitchFamily="34" charset="0"/>
                <a:ea typeface="Cambria" pitchFamily="34" charset="-122"/>
                <a:cs typeface="Cambria" pitchFamily="34" charset="-120"/>
              </a:rPr>
              <a:t>3</a:t>
            </a:r>
            <a:endParaRPr lang="en-US" sz="4000" dirty="0"/>
          </a:p>
        </p:txBody>
      </p:sp>
      <p:sp>
        <p:nvSpPr>
          <p:cNvPr id="3" name="Text 1"/>
          <p:cNvSpPr txBox="1"/>
          <p:nvPr/>
        </p:nvSpPr>
        <p:spPr>
          <a:xfrm>
            <a:off x="502920" y="859536"/>
            <a:ext cx="822960" cy="219456"/>
          </a:xfrm>
          <a:prstGeom prst="rect">
            <a:avLst/>
          </a:prstGeom>
          <a:noFill/>
          <a:ln/>
        </p:spPr>
        <p:txBody>
          <a:bodyPr wrap="square" lIns="0" tIns="0" rIns="0" bIns="0" rtlCol="0" anchor="ctr"/>
          <a:lstStyle/>
          <a:p>
            <a:pPr indent="0" marL="0">
              <a:buNone/>
            </a:pPr>
            <a:endParaRPr lang="en-US" sz="800" dirty="0"/>
          </a:p>
        </p:txBody>
      </p:sp>
      <p:sp>
        <p:nvSpPr>
          <p:cNvPr id="4" name="Text 2"/>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Un código al correo antes de consultar</a:t>
            </a:r>
            <a:endParaRPr lang="en-US" sz="2600" dirty="0"/>
          </a:p>
        </p:txBody>
      </p:sp>
      <p:sp>
        <p:nvSpPr>
          <p:cNvPr id="5" name="Text 3"/>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Sólo en el portal de documentos. El de personas no lo pide.</a:t>
            </a:r>
            <a:endParaRPr lang="en-US" sz="1200" dirty="0"/>
          </a:p>
        </p:txBody>
      </p:sp>
      <p:pic>
        <p:nvPicPr>
          <p:cNvPr id="6" name="Image 0" descr="/tmp/claude-0/-home-user-gea-module-0/05c86c8b-2f1b-52ff-8f50-3243e9e36b63/scratchpad/deck_img/02_pide_correo.png">    </p:cNvPr>
          <p:cNvPicPr>
            <a:picLocks noChangeAspect="1"/>
          </p:cNvPicPr>
          <p:nvPr/>
        </p:nvPicPr>
        <p:blipFill>
          <a:blip r:embed="rId1"/>
          <a:stretch>
            <a:fillRect/>
          </a:stretch>
        </p:blipFill>
        <p:spPr>
          <a:xfrm>
            <a:off x="502920" y="1280160"/>
            <a:ext cx="6858000" cy="3365069"/>
          </a:xfrm>
          <a:prstGeom prst="rect">
            <a:avLst/>
          </a:prstGeom>
        </p:spPr>
      </p:pic>
      <p:sp>
        <p:nvSpPr>
          <p:cNvPr id="7" name="Shape 4"/>
          <p:cNvSpPr/>
          <p:nvPr/>
        </p:nvSpPr>
        <p:spPr>
          <a:xfrm>
            <a:off x="502920" y="1280160"/>
            <a:ext cx="6858000" cy="3365069"/>
          </a:xfrm>
          <a:prstGeom prst="rect">
            <a:avLst/>
          </a:prstGeom>
          <a:ln w="9525">
            <a:solidFill>
              <a:srgbClr val="DED8CB"/>
            </a:solidFill>
            <a:prstDash val="solid"/>
          </a:ln>
        </p:spPr>
      </p:sp>
      <p:sp>
        <p:nvSpPr>
          <p:cNvPr id="8" name="Shape 5"/>
          <p:cNvSpPr/>
          <p:nvPr/>
        </p:nvSpPr>
        <p:spPr>
          <a:xfrm>
            <a:off x="2411501" y="3610807"/>
            <a:ext cx="3042209" cy="255745"/>
          </a:xfrm>
          <a:prstGeom prst="roundRect">
            <a:avLst>
              <a:gd name="adj" fmla="val 10726"/>
            </a:avLst>
          </a:prstGeom>
          <a:ln w="19050">
            <a:solidFill>
              <a:srgbClr val="9C7222"/>
            </a:solidFill>
            <a:prstDash val="solid"/>
          </a:ln>
        </p:spPr>
      </p:sp>
      <p:sp>
        <p:nvSpPr>
          <p:cNvPr id="9" name="Shape 6"/>
          <p:cNvSpPr/>
          <p:nvPr/>
        </p:nvSpPr>
        <p:spPr>
          <a:xfrm>
            <a:off x="2292629" y="3491935"/>
            <a:ext cx="237744" cy="237744"/>
          </a:xfrm>
          <a:prstGeom prst="ellipse">
            <a:avLst/>
          </a:prstGeom>
          <a:solidFill>
            <a:srgbClr val="9C7222"/>
          </a:solidFill>
          <a:ln w="12700">
            <a:solidFill>
              <a:srgbClr val="FFFFFF"/>
            </a:solidFill>
            <a:prstDash val="solid"/>
          </a:ln>
        </p:spPr>
      </p:sp>
      <p:sp>
        <p:nvSpPr>
          <p:cNvPr id="10" name="Text 7"/>
          <p:cNvSpPr txBox="1"/>
          <p:nvPr/>
        </p:nvSpPr>
        <p:spPr>
          <a:xfrm>
            <a:off x="2292629" y="3491935"/>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1" name="Shape 8"/>
          <p:cNvSpPr/>
          <p:nvPr/>
        </p:nvSpPr>
        <p:spPr>
          <a:xfrm>
            <a:off x="2411501" y="3959765"/>
            <a:ext cx="3042209" cy="255745"/>
          </a:xfrm>
          <a:prstGeom prst="roundRect">
            <a:avLst>
              <a:gd name="adj" fmla="val 10726"/>
            </a:avLst>
          </a:prstGeom>
          <a:ln w="19050">
            <a:solidFill>
              <a:srgbClr val="9C7222"/>
            </a:solidFill>
            <a:prstDash val="solid"/>
          </a:ln>
        </p:spPr>
      </p:sp>
      <p:sp>
        <p:nvSpPr>
          <p:cNvPr id="12" name="Shape 9"/>
          <p:cNvSpPr/>
          <p:nvPr/>
        </p:nvSpPr>
        <p:spPr>
          <a:xfrm>
            <a:off x="2292629" y="3840893"/>
            <a:ext cx="237744" cy="237744"/>
          </a:xfrm>
          <a:prstGeom prst="ellipse">
            <a:avLst/>
          </a:prstGeom>
          <a:solidFill>
            <a:srgbClr val="9C7222"/>
          </a:solidFill>
          <a:ln w="12700">
            <a:solidFill>
              <a:srgbClr val="FFFFFF"/>
            </a:solidFill>
            <a:prstDash val="solid"/>
          </a:ln>
        </p:spPr>
      </p:sp>
      <p:sp>
        <p:nvSpPr>
          <p:cNvPr id="13" name="Text 10"/>
          <p:cNvSpPr txBox="1"/>
          <p:nvPr/>
        </p:nvSpPr>
        <p:spPr>
          <a:xfrm>
            <a:off x="2292629" y="3840893"/>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4" name="Shape 11"/>
          <p:cNvSpPr/>
          <p:nvPr/>
        </p:nvSpPr>
        <p:spPr>
          <a:xfrm>
            <a:off x="7680960" y="1307592"/>
            <a:ext cx="219456" cy="219456"/>
          </a:xfrm>
          <a:prstGeom prst="ellipse">
            <a:avLst/>
          </a:prstGeom>
          <a:ln w="12700">
            <a:solidFill>
              <a:srgbClr val="9C7222"/>
            </a:solidFill>
            <a:prstDash val="solid"/>
          </a:ln>
        </p:spPr>
      </p:sp>
      <p:sp>
        <p:nvSpPr>
          <p:cNvPr id="15" name="Text 12"/>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6" name="Text 13"/>
          <p:cNvSpPr txBox="1"/>
          <p:nvPr/>
        </p:nvSpPr>
        <p:spPr>
          <a:xfrm>
            <a:off x="7991856" y="1280160"/>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El correo donde recibirá el código. </a:t>
            </a:r>
            <a:pPr indent="0" marL="0">
              <a:buNone/>
            </a:pPr>
            <a:r>
              <a:rPr lang="en-US" sz="1050" dirty="0">
                <a:solidFill>
                  <a:srgbClr val="6B6559"/>
                </a:solidFill>
                <a:latin typeface="Calibri" pitchFamily="34" charset="0"/>
                <a:ea typeface="Calibri" pitchFamily="34" charset="-122"/>
                <a:cs typeface="Calibri" pitchFamily="34" charset="-120"/>
              </a:rPr>
              <a:t>Tiene que ser una dirección a la que tenga acceso ahora mismo: el código dura diez minutos.</a:t>
            </a:r>
            <a:endParaRPr lang="en-US" sz="1050" dirty="0"/>
          </a:p>
        </p:txBody>
      </p:sp>
      <p:sp>
        <p:nvSpPr>
          <p:cNvPr id="17" name="Shape 14"/>
          <p:cNvSpPr/>
          <p:nvPr/>
        </p:nvSpPr>
        <p:spPr>
          <a:xfrm>
            <a:off x="7680960" y="2068830"/>
            <a:ext cx="219456" cy="219456"/>
          </a:xfrm>
          <a:prstGeom prst="ellipse">
            <a:avLst/>
          </a:prstGeom>
          <a:ln w="12700">
            <a:solidFill>
              <a:srgbClr val="9C7222"/>
            </a:solidFill>
            <a:prstDash val="solid"/>
          </a:ln>
        </p:spPr>
      </p:sp>
      <p:sp>
        <p:nvSpPr>
          <p:cNvPr id="18" name="Text 15"/>
          <p:cNvSpPr txBox="1"/>
          <p:nvPr/>
        </p:nvSpPr>
        <p:spPr>
          <a:xfrm>
            <a:off x="7680960" y="206883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19" name="Text 16"/>
          <p:cNvSpPr txBox="1"/>
          <p:nvPr/>
        </p:nvSpPr>
        <p:spPr>
          <a:xfrm>
            <a:off x="7991856" y="2041398"/>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Send verification code. </a:t>
            </a:r>
            <a:pPr indent="0" marL="0">
              <a:buNone/>
            </a:pPr>
            <a:r>
              <a:rPr lang="en-US" sz="1050" dirty="0">
                <a:solidFill>
                  <a:srgbClr val="6B6559"/>
                </a:solidFill>
                <a:latin typeface="Calibri" pitchFamily="34" charset="0"/>
                <a:ea typeface="Calibri" pitchFamily="34" charset="-122"/>
                <a:cs typeface="Calibri" pitchFamily="34" charset="-120"/>
              </a:rPr>
              <a:t>Tres envíos cada diez minutos a la misma dirección. Pasado ese punto hay que esperar.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10896"/>
            <a:ext cx="640080" cy="566928"/>
          </a:xfrm>
          <a:prstGeom prst="rect">
            <a:avLst/>
          </a:prstGeom>
          <a:noFill/>
          <a:ln/>
        </p:spPr>
        <p:txBody>
          <a:bodyPr wrap="square" lIns="0" tIns="0" rIns="0" bIns="0" rtlCol="0" anchor="t"/>
          <a:lstStyle/>
          <a:p>
            <a:pPr algn="l" indent="0" marL="0">
              <a:buNone/>
            </a:pPr>
            <a:r>
              <a:rPr lang="en-US" sz="4000" dirty="0">
                <a:solidFill>
                  <a:srgbClr val="9C7222"/>
                </a:solidFill>
                <a:latin typeface="Cambria" pitchFamily="34" charset="0"/>
                <a:ea typeface="Cambria" pitchFamily="34" charset="-122"/>
                <a:cs typeface="Cambria" pitchFamily="34" charset="-120"/>
              </a:rPr>
              <a:t>3</a:t>
            </a:r>
            <a:endParaRPr lang="en-US" sz="4000" dirty="0"/>
          </a:p>
        </p:txBody>
      </p:sp>
      <p:sp>
        <p:nvSpPr>
          <p:cNvPr id="3" name="Text 1"/>
          <p:cNvSpPr txBox="1"/>
          <p:nvPr/>
        </p:nvSpPr>
        <p:spPr>
          <a:xfrm>
            <a:off x="502920" y="859536"/>
            <a:ext cx="822960" cy="219456"/>
          </a:xfrm>
          <a:prstGeom prst="rect">
            <a:avLst/>
          </a:prstGeom>
          <a:noFill/>
          <a:ln/>
        </p:spPr>
        <p:txBody>
          <a:bodyPr wrap="square" lIns="0" tIns="0" rIns="0" bIns="0" rtlCol="0" anchor="ctr"/>
          <a:lstStyle/>
          <a:p>
            <a:pPr indent="0" marL="0">
              <a:buNone/>
            </a:pPr>
            <a:endParaRPr lang="en-US" sz="800" dirty="0"/>
          </a:p>
        </p:txBody>
      </p:sp>
      <p:sp>
        <p:nvSpPr>
          <p:cNvPr id="4" name="Text 2"/>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Un código al correo antes de consultar</a:t>
            </a:r>
            <a:endParaRPr lang="en-US" sz="2600" dirty="0"/>
          </a:p>
        </p:txBody>
      </p:sp>
      <p:sp>
        <p:nvSpPr>
          <p:cNvPr id="5" name="Text 3"/>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Sólo en el portal de documentos. El de personas no lo pide.</a:t>
            </a:r>
            <a:endParaRPr lang="en-US" sz="1200" dirty="0"/>
          </a:p>
        </p:txBody>
      </p:sp>
      <p:pic>
        <p:nvPicPr>
          <p:cNvPr id="6" name="Image 0" descr="/tmp/claude-0/-home-user-gea-module-0/05c86c8b-2f1b-52ff-8f50-3243e9e36b63/scratchpad/deck_img/03_espera_otp.png">    </p:cNvPr>
          <p:cNvPicPr>
            <a:picLocks noChangeAspect="1"/>
          </p:cNvPicPr>
          <p:nvPr/>
        </p:nvPicPr>
        <p:blipFill>
          <a:blip r:embed="rId1"/>
          <a:stretch>
            <a:fillRect/>
          </a:stretch>
        </p:blipFill>
        <p:spPr>
          <a:xfrm>
            <a:off x="502920" y="1280160"/>
            <a:ext cx="6858000" cy="4283344"/>
          </a:xfrm>
          <a:prstGeom prst="rect">
            <a:avLst/>
          </a:prstGeom>
        </p:spPr>
      </p:pic>
      <p:sp>
        <p:nvSpPr>
          <p:cNvPr id="7" name="Shape 4"/>
          <p:cNvSpPr/>
          <p:nvPr/>
        </p:nvSpPr>
        <p:spPr>
          <a:xfrm>
            <a:off x="502920" y="1280160"/>
            <a:ext cx="6858000" cy="4283344"/>
          </a:xfrm>
          <a:prstGeom prst="rect">
            <a:avLst/>
          </a:prstGeom>
          <a:ln w="9525">
            <a:solidFill>
              <a:srgbClr val="DED8CB"/>
            </a:solidFill>
            <a:prstDash val="solid"/>
          </a:ln>
        </p:spPr>
      </p:sp>
      <p:sp>
        <p:nvSpPr>
          <p:cNvPr id="8" name="Shape 5"/>
          <p:cNvSpPr/>
          <p:nvPr/>
        </p:nvSpPr>
        <p:spPr>
          <a:xfrm>
            <a:off x="2411501" y="3610728"/>
            <a:ext cx="3042209" cy="255716"/>
          </a:xfrm>
          <a:prstGeom prst="roundRect">
            <a:avLst>
              <a:gd name="adj" fmla="val 10728"/>
            </a:avLst>
          </a:prstGeom>
          <a:ln w="19050">
            <a:solidFill>
              <a:srgbClr val="9C7222"/>
            </a:solidFill>
            <a:prstDash val="solid"/>
          </a:ln>
        </p:spPr>
      </p:sp>
      <p:sp>
        <p:nvSpPr>
          <p:cNvPr id="9" name="Shape 6"/>
          <p:cNvSpPr/>
          <p:nvPr/>
        </p:nvSpPr>
        <p:spPr>
          <a:xfrm>
            <a:off x="2292629" y="3491856"/>
            <a:ext cx="237744" cy="237744"/>
          </a:xfrm>
          <a:prstGeom prst="ellipse">
            <a:avLst/>
          </a:prstGeom>
          <a:solidFill>
            <a:srgbClr val="9C7222"/>
          </a:solidFill>
          <a:ln w="12700">
            <a:solidFill>
              <a:srgbClr val="FFFFFF"/>
            </a:solidFill>
            <a:prstDash val="solid"/>
          </a:ln>
        </p:spPr>
      </p:sp>
      <p:sp>
        <p:nvSpPr>
          <p:cNvPr id="10" name="Text 7"/>
          <p:cNvSpPr txBox="1"/>
          <p:nvPr/>
        </p:nvSpPr>
        <p:spPr>
          <a:xfrm>
            <a:off x="2292629" y="349185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1" name="Shape 8"/>
          <p:cNvSpPr/>
          <p:nvPr/>
        </p:nvSpPr>
        <p:spPr>
          <a:xfrm>
            <a:off x="2411501" y="4308056"/>
            <a:ext cx="973150" cy="174332"/>
          </a:xfrm>
          <a:prstGeom prst="roundRect">
            <a:avLst>
              <a:gd name="adj" fmla="val 15735"/>
            </a:avLst>
          </a:prstGeom>
          <a:ln w="19050">
            <a:solidFill>
              <a:srgbClr val="9C7222"/>
            </a:solidFill>
            <a:prstDash val="solid"/>
          </a:ln>
        </p:spPr>
      </p:sp>
      <p:sp>
        <p:nvSpPr>
          <p:cNvPr id="12" name="Shape 9"/>
          <p:cNvSpPr/>
          <p:nvPr/>
        </p:nvSpPr>
        <p:spPr>
          <a:xfrm>
            <a:off x="2292629" y="4189184"/>
            <a:ext cx="237744" cy="237744"/>
          </a:xfrm>
          <a:prstGeom prst="ellipse">
            <a:avLst/>
          </a:prstGeom>
          <a:solidFill>
            <a:srgbClr val="9C7222"/>
          </a:solidFill>
          <a:ln w="12700">
            <a:solidFill>
              <a:srgbClr val="FFFFFF"/>
            </a:solidFill>
            <a:prstDash val="solid"/>
          </a:ln>
        </p:spPr>
      </p:sp>
      <p:sp>
        <p:nvSpPr>
          <p:cNvPr id="13" name="Text 10"/>
          <p:cNvSpPr txBox="1"/>
          <p:nvPr/>
        </p:nvSpPr>
        <p:spPr>
          <a:xfrm>
            <a:off x="2292629" y="418918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4" name="Shape 11"/>
          <p:cNvSpPr/>
          <p:nvPr/>
        </p:nvSpPr>
        <p:spPr>
          <a:xfrm>
            <a:off x="820445" y="5011381"/>
            <a:ext cx="6222949" cy="128016"/>
          </a:xfrm>
          <a:prstGeom prst="roundRect">
            <a:avLst>
              <a:gd name="adj" fmla="val 21429"/>
            </a:avLst>
          </a:prstGeom>
          <a:ln w="19050">
            <a:solidFill>
              <a:srgbClr val="9C7222"/>
            </a:solidFill>
            <a:prstDash val="solid"/>
          </a:ln>
        </p:spPr>
      </p:sp>
      <p:sp>
        <p:nvSpPr>
          <p:cNvPr id="15" name="Shape 12"/>
          <p:cNvSpPr/>
          <p:nvPr/>
        </p:nvSpPr>
        <p:spPr>
          <a:xfrm>
            <a:off x="701573" y="4892509"/>
            <a:ext cx="237744" cy="237744"/>
          </a:xfrm>
          <a:prstGeom prst="ellipse">
            <a:avLst/>
          </a:prstGeom>
          <a:solidFill>
            <a:srgbClr val="9C7222"/>
          </a:solidFill>
          <a:ln w="12700">
            <a:solidFill>
              <a:srgbClr val="FFFFFF"/>
            </a:solidFill>
            <a:prstDash val="solid"/>
          </a:ln>
        </p:spPr>
      </p:sp>
      <p:sp>
        <p:nvSpPr>
          <p:cNvPr id="16" name="Text 13"/>
          <p:cNvSpPr txBox="1"/>
          <p:nvPr/>
        </p:nvSpPr>
        <p:spPr>
          <a:xfrm>
            <a:off x="701573" y="4892509"/>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3</a:t>
            </a:r>
            <a:endParaRPr lang="en-US" sz="900" dirty="0"/>
          </a:p>
        </p:txBody>
      </p:sp>
      <p:sp>
        <p:nvSpPr>
          <p:cNvPr id="17" name="Shape 14"/>
          <p:cNvSpPr/>
          <p:nvPr/>
        </p:nvSpPr>
        <p:spPr>
          <a:xfrm>
            <a:off x="7680960" y="1307592"/>
            <a:ext cx="219456" cy="219456"/>
          </a:xfrm>
          <a:prstGeom prst="ellipse">
            <a:avLst/>
          </a:prstGeom>
          <a:ln w="12700">
            <a:solidFill>
              <a:srgbClr val="9C7222"/>
            </a:solidFill>
            <a:prstDash val="solid"/>
          </a:ln>
        </p:spPr>
      </p:sp>
      <p:sp>
        <p:nvSpPr>
          <p:cNvPr id="18" name="Text 15"/>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9" name="Text 16"/>
          <p:cNvSpPr txBox="1"/>
          <p:nvPr/>
        </p:nvSpPr>
        <p:spPr>
          <a:xfrm>
            <a:off x="7991856" y="1280160"/>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Las seis cifras que llegaron al correo. </a:t>
            </a:r>
            <a:pPr indent="0" marL="0">
              <a:buNone/>
            </a:pPr>
            <a:r>
              <a:rPr lang="en-US" sz="1050" dirty="0">
                <a:solidFill>
                  <a:srgbClr val="6B6559"/>
                </a:solidFill>
                <a:latin typeface="Calibri" pitchFamily="34" charset="0"/>
                <a:ea typeface="Calibri" pitchFamily="34" charset="-122"/>
                <a:cs typeface="Calibri" pitchFamily="34" charset="-120"/>
              </a:rPr>
              <a:t>Cinco intentos fallidos cierran la sesión durante diez minutos.</a:t>
            </a:r>
            <a:endParaRPr lang="en-US" sz="1050" dirty="0"/>
          </a:p>
        </p:txBody>
      </p:sp>
      <p:sp>
        <p:nvSpPr>
          <p:cNvPr id="20" name="Shape 17"/>
          <p:cNvSpPr/>
          <p:nvPr/>
        </p:nvSpPr>
        <p:spPr>
          <a:xfrm>
            <a:off x="7680960" y="1903476"/>
            <a:ext cx="219456" cy="219456"/>
          </a:xfrm>
          <a:prstGeom prst="ellipse">
            <a:avLst/>
          </a:prstGeom>
          <a:ln w="12700">
            <a:solidFill>
              <a:srgbClr val="9C7222"/>
            </a:solidFill>
            <a:prstDash val="solid"/>
          </a:ln>
        </p:spPr>
      </p:sp>
      <p:sp>
        <p:nvSpPr>
          <p:cNvPr id="21" name="Text 18"/>
          <p:cNvSpPr txBox="1"/>
          <p:nvPr/>
        </p:nvSpPr>
        <p:spPr>
          <a:xfrm>
            <a:off x="7680960" y="1903476"/>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22" name="Text 19"/>
          <p:cNvSpPr txBox="1"/>
          <p:nvPr/>
        </p:nvSpPr>
        <p:spPr>
          <a:xfrm>
            <a:off x="7991856" y="1876044"/>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Resend verification code. </a:t>
            </a:r>
            <a:pPr indent="0" marL="0">
              <a:buNone/>
            </a:pPr>
            <a:r>
              <a:rPr lang="en-US" sz="1050" dirty="0">
                <a:solidFill>
                  <a:srgbClr val="6B6559"/>
                </a:solidFill>
                <a:latin typeface="Calibri" pitchFamily="34" charset="0"/>
                <a:ea typeface="Calibri" pitchFamily="34" charset="-122"/>
                <a:cs typeface="Calibri" pitchFamily="34" charset="-120"/>
              </a:rPr>
              <a:t>Se habilita al minuto, por si el correo tarda en llegar.</a:t>
            </a:r>
            <a:endParaRPr lang="en-US" sz="1050" dirty="0"/>
          </a:p>
        </p:txBody>
      </p:sp>
      <p:sp>
        <p:nvSpPr>
          <p:cNvPr id="23" name="Shape 20"/>
          <p:cNvSpPr/>
          <p:nvPr/>
        </p:nvSpPr>
        <p:spPr>
          <a:xfrm>
            <a:off x="7680960" y="2499360"/>
            <a:ext cx="219456" cy="219456"/>
          </a:xfrm>
          <a:prstGeom prst="ellipse">
            <a:avLst/>
          </a:prstGeom>
          <a:ln w="12700">
            <a:solidFill>
              <a:srgbClr val="9C7222"/>
            </a:solidFill>
            <a:prstDash val="solid"/>
          </a:ln>
        </p:spPr>
      </p:sp>
      <p:sp>
        <p:nvSpPr>
          <p:cNvPr id="24" name="Text 21"/>
          <p:cNvSpPr txBox="1"/>
          <p:nvPr/>
        </p:nvSpPr>
        <p:spPr>
          <a:xfrm>
            <a:off x="7680960" y="249936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3</a:t>
            </a:r>
            <a:endParaRPr lang="en-US" sz="850" dirty="0"/>
          </a:p>
        </p:txBody>
      </p:sp>
      <p:sp>
        <p:nvSpPr>
          <p:cNvPr id="25" name="Text 22"/>
          <p:cNvSpPr txBox="1"/>
          <p:nvPr/>
        </p:nvSpPr>
        <p:spPr>
          <a:xfrm>
            <a:off x="7991856" y="2471928"/>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El código caduca. </a:t>
            </a:r>
            <a:pPr indent="0" marL="0">
              <a:buNone/>
            </a:pPr>
            <a:r>
              <a:rPr lang="en-US" sz="1050" dirty="0">
                <a:solidFill>
                  <a:srgbClr val="6B6559"/>
                </a:solidFill>
                <a:latin typeface="Calibri" pitchFamily="34" charset="0"/>
                <a:ea typeface="Calibri" pitchFamily="34" charset="-122"/>
                <a:cs typeface="Calibri" pitchFamily="34" charset="-120"/>
              </a:rPr>
              <a:t>Si expira se pide otro; no se reutiliza uno viejo ni se reenvía por WhatsApp.</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10896"/>
            <a:ext cx="640080" cy="566928"/>
          </a:xfrm>
          <a:prstGeom prst="rect">
            <a:avLst/>
          </a:prstGeom>
          <a:noFill/>
          <a:ln/>
        </p:spPr>
        <p:txBody>
          <a:bodyPr wrap="square" lIns="0" tIns="0" rIns="0" bIns="0" rtlCol="0" anchor="t"/>
          <a:lstStyle/>
          <a:p>
            <a:pPr algn="l" indent="0" marL="0">
              <a:buNone/>
            </a:pPr>
            <a:r>
              <a:rPr lang="en-US" sz="4000" dirty="0">
                <a:solidFill>
                  <a:srgbClr val="9C7222"/>
                </a:solidFill>
                <a:latin typeface="Cambria" pitchFamily="34" charset="0"/>
                <a:ea typeface="Cambria" pitchFamily="34" charset="-122"/>
                <a:cs typeface="Cambria" pitchFamily="34" charset="-120"/>
              </a:rPr>
              <a:t>4</a:t>
            </a:r>
            <a:endParaRPr lang="en-US" sz="4000" dirty="0"/>
          </a:p>
        </p:txBody>
      </p:sp>
      <p:sp>
        <p:nvSpPr>
          <p:cNvPr id="3" name="Text 1"/>
          <p:cNvSpPr txBox="1"/>
          <p:nvPr/>
        </p:nvSpPr>
        <p:spPr>
          <a:xfrm>
            <a:off x="502920" y="859536"/>
            <a:ext cx="822960" cy="219456"/>
          </a:xfrm>
          <a:prstGeom prst="rect">
            <a:avLst/>
          </a:prstGeom>
          <a:noFill/>
          <a:ln/>
        </p:spPr>
        <p:txBody>
          <a:bodyPr wrap="square" lIns="0" tIns="0" rIns="0" bIns="0" rtlCol="0" anchor="ctr"/>
          <a:lstStyle/>
          <a:p>
            <a:pPr indent="0" marL="0">
              <a:buNone/>
            </a:pPr>
            <a:endParaRPr lang="en-US" sz="800" dirty="0"/>
          </a:p>
        </p:txBody>
      </p:sp>
      <p:sp>
        <p:nvSpPr>
          <p:cNvPr id="4" name="Text 2"/>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Dos maneras de comprobar, y no dan lo mismo</a:t>
            </a:r>
            <a:endParaRPr lang="en-US" sz="2600" dirty="0"/>
          </a:p>
        </p:txBody>
      </p:sp>
      <p:sp>
        <p:nvSpPr>
          <p:cNvPr id="5" name="Text 3"/>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Por código, o subiendo el archivo. La segunda responde una pregunta que la primera no.</a:t>
            </a:r>
            <a:endParaRPr lang="en-US" sz="1200" dirty="0"/>
          </a:p>
        </p:txBody>
      </p:sp>
      <p:pic>
        <p:nvPicPr>
          <p:cNvPr id="6" name="Image 0" descr="/tmp/claude-0/-home-user-gea-module-0/05c86c8b-2f1b-52ff-8f50-3243e9e36b63/scratchpad/deck_img/04_pide_identificador.png">    </p:cNvPr>
          <p:cNvPicPr>
            <a:picLocks noChangeAspect="1"/>
          </p:cNvPicPr>
          <p:nvPr/>
        </p:nvPicPr>
        <p:blipFill>
          <a:blip r:embed="rId1"/>
          <a:stretch>
            <a:fillRect/>
          </a:stretch>
        </p:blipFill>
        <p:spPr>
          <a:xfrm>
            <a:off x="502920" y="1280160"/>
            <a:ext cx="6773672" cy="5166360"/>
          </a:xfrm>
          <a:prstGeom prst="rect">
            <a:avLst/>
          </a:prstGeom>
        </p:spPr>
      </p:pic>
      <p:sp>
        <p:nvSpPr>
          <p:cNvPr id="7" name="Shape 4"/>
          <p:cNvSpPr/>
          <p:nvPr/>
        </p:nvSpPr>
        <p:spPr>
          <a:xfrm>
            <a:off x="502920" y="1280160"/>
            <a:ext cx="6773672" cy="5166360"/>
          </a:xfrm>
          <a:prstGeom prst="rect">
            <a:avLst/>
          </a:prstGeom>
          <a:ln w="9525">
            <a:solidFill>
              <a:srgbClr val="DED8CB"/>
            </a:solidFill>
            <a:prstDash val="solid"/>
          </a:ln>
        </p:spPr>
      </p:sp>
      <p:sp>
        <p:nvSpPr>
          <p:cNvPr id="8" name="Shape 5"/>
          <p:cNvSpPr/>
          <p:nvPr/>
        </p:nvSpPr>
        <p:spPr>
          <a:xfrm>
            <a:off x="2388033" y="3559041"/>
            <a:ext cx="3004801" cy="252635"/>
          </a:xfrm>
          <a:prstGeom prst="roundRect">
            <a:avLst>
              <a:gd name="adj" fmla="val 10858"/>
            </a:avLst>
          </a:prstGeom>
          <a:ln w="19050">
            <a:solidFill>
              <a:srgbClr val="9C7222"/>
            </a:solidFill>
            <a:prstDash val="solid"/>
          </a:ln>
        </p:spPr>
      </p:sp>
      <p:sp>
        <p:nvSpPr>
          <p:cNvPr id="9" name="Shape 6"/>
          <p:cNvSpPr/>
          <p:nvPr/>
        </p:nvSpPr>
        <p:spPr>
          <a:xfrm>
            <a:off x="2269161" y="3440169"/>
            <a:ext cx="237744" cy="237744"/>
          </a:xfrm>
          <a:prstGeom prst="ellipse">
            <a:avLst/>
          </a:prstGeom>
          <a:solidFill>
            <a:srgbClr val="9C7222"/>
          </a:solidFill>
          <a:ln w="12700">
            <a:solidFill>
              <a:srgbClr val="FFFFFF"/>
            </a:solidFill>
            <a:prstDash val="solid"/>
          </a:ln>
        </p:spPr>
      </p:sp>
      <p:sp>
        <p:nvSpPr>
          <p:cNvPr id="10" name="Text 7"/>
          <p:cNvSpPr txBox="1"/>
          <p:nvPr/>
        </p:nvSpPr>
        <p:spPr>
          <a:xfrm>
            <a:off x="2269161" y="3440169"/>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1" name="Shape 8"/>
          <p:cNvSpPr/>
          <p:nvPr/>
        </p:nvSpPr>
        <p:spPr>
          <a:xfrm>
            <a:off x="1863751" y="5212793"/>
            <a:ext cx="4052011" cy="252635"/>
          </a:xfrm>
          <a:prstGeom prst="roundRect">
            <a:avLst>
              <a:gd name="adj" fmla="val 10858"/>
            </a:avLst>
          </a:prstGeom>
          <a:ln w="19050">
            <a:solidFill>
              <a:srgbClr val="9C7222"/>
            </a:solidFill>
            <a:prstDash val="solid"/>
          </a:ln>
        </p:spPr>
      </p:sp>
      <p:sp>
        <p:nvSpPr>
          <p:cNvPr id="12" name="Shape 9"/>
          <p:cNvSpPr/>
          <p:nvPr/>
        </p:nvSpPr>
        <p:spPr>
          <a:xfrm>
            <a:off x="1744879" y="5093921"/>
            <a:ext cx="237744" cy="237744"/>
          </a:xfrm>
          <a:prstGeom prst="ellipse">
            <a:avLst/>
          </a:prstGeom>
          <a:solidFill>
            <a:srgbClr val="9C7222"/>
          </a:solidFill>
          <a:ln w="12700">
            <a:solidFill>
              <a:srgbClr val="FFFFFF"/>
            </a:solidFill>
            <a:prstDash val="solid"/>
          </a:ln>
        </p:spPr>
      </p:sp>
      <p:sp>
        <p:nvSpPr>
          <p:cNvPr id="13" name="Text 10"/>
          <p:cNvSpPr txBox="1"/>
          <p:nvPr/>
        </p:nvSpPr>
        <p:spPr>
          <a:xfrm>
            <a:off x="1744879" y="5093921"/>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4" name="Shape 11"/>
          <p:cNvSpPr/>
          <p:nvPr/>
        </p:nvSpPr>
        <p:spPr>
          <a:xfrm>
            <a:off x="1863751" y="6045094"/>
            <a:ext cx="4052011" cy="128016"/>
          </a:xfrm>
          <a:prstGeom prst="roundRect">
            <a:avLst>
              <a:gd name="adj" fmla="val 21429"/>
            </a:avLst>
          </a:prstGeom>
          <a:ln w="19050">
            <a:solidFill>
              <a:srgbClr val="9C7222"/>
            </a:solidFill>
            <a:prstDash val="solid"/>
          </a:ln>
        </p:spPr>
      </p:sp>
      <p:sp>
        <p:nvSpPr>
          <p:cNvPr id="15" name="Shape 12"/>
          <p:cNvSpPr/>
          <p:nvPr/>
        </p:nvSpPr>
        <p:spPr>
          <a:xfrm>
            <a:off x="1744879" y="5926222"/>
            <a:ext cx="237744" cy="237744"/>
          </a:xfrm>
          <a:prstGeom prst="ellipse">
            <a:avLst/>
          </a:prstGeom>
          <a:solidFill>
            <a:srgbClr val="9C7222"/>
          </a:solidFill>
          <a:ln w="12700">
            <a:solidFill>
              <a:srgbClr val="FFFFFF"/>
            </a:solidFill>
            <a:prstDash val="solid"/>
          </a:ln>
        </p:spPr>
      </p:sp>
      <p:sp>
        <p:nvSpPr>
          <p:cNvPr id="16" name="Text 13"/>
          <p:cNvSpPr txBox="1"/>
          <p:nvPr/>
        </p:nvSpPr>
        <p:spPr>
          <a:xfrm>
            <a:off x="1744879" y="592622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3</a:t>
            </a:r>
            <a:endParaRPr lang="en-US" sz="900" dirty="0"/>
          </a:p>
        </p:txBody>
      </p:sp>
      <p:sp>
        <p:nvSpPr>
          <p:cNvPr id="17" name="Shape 14"/>
          <p:cNvSpPr/>
          <p:nvPr/>
        </p:nvSpPr>
        <p:spPr>
          <a:xfrm>
            <a:off x="7680960" y="1307592"/>
            <a:ext cx="219456" cy="219456"/>
          </a:xfrm>
          <a:prstGeom prst="ellipse">
            <a:avLst/>
          </a:prstGeom>
          <a:ln w="12700">
            <a:solidFill>
              <a:srgbClr val="9C7222"/>
            </a:solidFill>
            <a:prstDash val="solid"/>
          </a:ln>
        </p:spPr>
      </p:sp>
      <p:sp>
        <p:nvSpPr>
          <p:cNvPr id="18" name="Text 15"/>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9" name="Text 16"/>
          <p:cNvSpPr txBox="1"/>
          <p:nvPr/>
        </p:nvSpPr>
        <p:spPr>
          <a:xfrm>
            <a:off x="7991856" y="1280160"/>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Método A — por código. </a:t>
            </a:r>
            <a:pPr indent="0" marL="0">
              <a:buNone/>
            </a:pPr>
            <a:r>
              <a:rPr lang="en-US" sz="1050" dirty="0">
                <a:solidFill>
                  <a:srgbClr val="6B6559"/>
                </a:solidFill>
                <a:latin typeface="Calibri" pitchFamily="34" charset="0"/>
                <a:ea typeface="Calibri" pitchFamily="34" charset="-122"/>
                <a:cs typeface="Calibri" pitchFamily="34" charset="-120"/>
              </a:rPr>
              <a:t>Se teclea el código público impreso en el documento. Responde: «este código existe, y esto es lo que ampara».</a:t>
            </a:r>
            <a:endParaRPr lang="en-US" sz="1050" dirty="0"/>
          </a:p>
        </p:txBody>
      </p:sp>
      <p:sp>
        <p:nvSpPr>
          <p:cNvPr id="20" name="Shape 17"/>
          <p:cNvSpPr/>
          <p:nvPr/>
        </p:nvSpPr>
        <p:spPr>
          <a:xfrm>
            <a:off x="7680960" y="2068830"/>
            <a:ext cx="219456" cy="219456"/>
          </a:xfrm>
          <a:prstGeom prst="ellipse">
            <a:avLst/>
          </a:prstGeom>
          <a:ln w="12700">
            <a:solidFill>
              <a:srgbClr val="9C7222"/>
            </a:solidFill>
            <a:prstDash val="solid"/>
          </a:ln>
        </p:spPr>
      </p:sp>
      <p:sp>
        <p:nvSpPr>
          <p:cNvPr id="21" name="Text 18"/>
          <p:cNvSpPr txBox="1"/>
          <p:nvPr/>
        </p:nvSpPr>
        <p:spPr>
          <a:xfrm>
            <a:off x="7680960" y="206883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22" name="Text 19"/>
          <p:cNvSpPr txBox="1"/>
          <p:nvPr/>
        </p:nvSpPr>
        <p:spPr>
          <a:xfrm>
            <a:off x="7991856" y="2041398"/>
            <a:ext cx="3666744" cy="707136"/>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Método B — por archivo. </a:t>
            </a:r>
            <a:pPr indent="0" marL="0">
              <a:buNone/>
            </a:pPr>
            <a:r>
              <a:rPr lang="en-US" sz="1050" dirty="0">
                <a:solidFill>
                  <a:srgbClr val="6B6559"/>
                </a:solidFill>
                <a:latin typeface="Calibri" pitchFamily="34" charset="0"/>
                <a:ea typeface="Calibri" pitchFamily="34" charset="-122"/>
                <a:cs typeface="Calibri" pitchFamily="34" charset="-120"/>
              </a:rPr>
              <a:t>Se sube el PDF que se tiene. Responde algo distinto y más fuerte: «el archivo que usted tiene en la mano, ¿es el nuestro, byte a byte?».</a:t>
            </a:r>
            <a:endParaRPr lang="en-US" sz="1050" dirty="0"/>
          </a:p>
        </p:txBody>
      </p:sp>
      <p:sp>
        <p:nvSpPr>
          <p:cNvPr id="23" name="Shape 20"/>
          <p:cNvSpPr/>
          <p:nvPr/>
        </p:nvSpPr>
        <p:spPr>
          <a:xfrm>
            <a:off x="7680960" y="2995422"/>
            <a:ext cx="219456" cy="219456"/>
          </a:xfrm>
          <a:prstGeom prst="ellipse">
            <a:avLst/>
          </a:prstGeom>
          <a:ln w="12700">
            <a:solidFill>
              <a:srgbClr val="9C7222"/>
            </a:solidFill>
            <a:prstDash val="solid"/>
          </a:ln>
        </p:spPr>
      </p:sp>
      <p:sp>
        <p:nvSpPr>
          <p:cNvPr id="24" name="Text 21"/>
          <p:cNvSpPr txBox="1"/>
          <p:nvPr/>
        </p:nvSpPr>
        <p:spPr>
          <a:xfrm>
            <a:off x="7680960" y="299542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3</a:t>
            </a:r>
            <a:endParaRPr lang="en-US" sz="850" dirty="0"/>
          </a:p>
        </p:txBody>
      </p:sp>
      <p:sp>
        <p:nvSpPr>
          <p:cNvPr id="25" name="Text 22"/>
          <p:cNvSpPr txBox="1"/>
          <p:nvPr/>
        </p:nvSpPr>
        <p:spPr>
          <a:xfrm>
            <a:off x="7991856" y="2967990"/>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El archivo no se guarda. </a:t>
            </a:r>
            <a:pPr indent="0" marL="0">
              <a:buNone/>
            </a:pPr>
            <a:r>
              <a:rPr lang="en-US" sz="1050" dirty="0">
                <a:solidFill>
                  <a:srgbClr val="6B6559"/>
                </a:solidFill>
                <a:latin typeface="Calibri" pitchFamily="34" charset="0"/>
                <a:ea typeface="Calibri" pitchFamily="34" charset="-122"/>
                <a:cs typeface="Calibri" pitchFamily="34" charset="-120"/>
              </a:rPr>
              <a:t>Se calcula su huella en memoria y se descarta. Subir un documento aquí no lo deposita en ningún sitio.</a:t>
            </a:r>
            <a:endParaRPr lang="en-US" sz="1050" dirty="0"/>
          </a:p>
        </p:txBody>
      </p:sp>
      <p:sp>
        <p:nvSpPr>
          <p:cNvPr id="26" name="Shape 23"/>
          <p:cNvSpPr/>
          <p:nvPr/>
        </p:nvSpPr>
        <p:spPr>
          <a:xfrm>
            <a:off x="7680960" y="3866388"/>
            <a:ext cx="3977640" cy="1244600"/>
          </a:xfrm>
          <a:prstGeom prst="roundRect">
            <a:avLst>
              <a:gd name="adj" fmla="val 3673"/>
            </a:avLst>
          </a:prstGeom>
          <a:solidFill>
            <a:srgbClr val="E4F0E9"/>
          </a:solidFill>
          <a:ln w="12700">
            <a:solidFill>
              <a:srgbClr val="1B6046"/>
            </a:solidFill>
            <a:prstDash val="solid"/>
          </a:ln>
        </p:spPr>
      </p:sp>
      <p:sp>
        <p:nvSpPr>
          <p:cNvPr id="27" name="Text 24"/>
          <p:cNvSpPr txBox="1"/>
          <p:nvPr/>
        </p:nvSpPr>
        <p:spPr>
          <a:xfrm>
            <a:off x="7827264" y="3939540"/>
            <a:ext cx="3685032" cy="201168"/>
          </a:xfrm>
          <a:prstGeom prst="rect">
            <a:avLst/>
          </a:prstGeom>
          <a:noFill/>
          <a:ln/>
        </p:spPr>
        <p:txBody>
          <a:bodyPr wrap="square" lIns="0" tIns="0" rIns="0" bIns="0" rtlCol="0" anchor="ctr"/>
          <a:lstStyle/>
          <a:p>
            <a:pPr indent="0" marL="0">
              <a:buNone/>
            </a:pPr>
            <a:r>
              <a:rPr lang="en-US" sz="750" spc="120" kern="0" dirty="0">
                <a:solidFill>
                  <a:srgbClr val="1B6046"/>
                </a:solidFill>
                <a:latin typeface="Courier New" pitchFamily="34" charset="0"/>
                <a:ea typeface="Courier New" pitchFamily="34" charset="-122"/>
                <a:cs typeface="Courier New" pitchFamily="34" charset="-120"/>
              </a:rPr>
              <a:t>CUÁL USAR</a:t>
            </a:r>
            <a:endParaRPr lang="en-US" sz="750" dirty="0"/>
          </a:p>
        </p:txBody>
      </p:sp>
      <p:sp>
        <p:nvSpPr>
          <p:cNvPr id="28" name="Text 25"/>
          <p:cNvSpPr txBox="1"/>
          <p:nvPr/>
        </p:nvSpPr>
        <p:spPr>
          <a:xfrm>
            <a:off x="7827264" y="4140708"/>
            <a:ext cx="3685032" cy="897128"/>
          </a:xfrm>
          <a:prstGeom prst="rect">
            <a:avLst/>
          </a:prstGeom>
          <a:noFill/>
          <a:ln/>
        </p:spPr>
        <p:txBody>
          <a:bodyPr wrap="square" lIns="0" tIns="0" rIns="0" bIns="0" rtlCol="0" anchor="t"/>
          <a:lstStyle/>
          <a:p>
            <a:pPr indent="0" marL="0">
              <a:buNone/>
            </a:pPr>
            <a:r>
              <a:rPr lang="en-US" sz="1000" dirty="0">
                <a:solidFill>
                  <a:srgbClr val="12203A"/>
                </a:solidFill>
                <a:latin typeface="Calibri" pitchFamily="34" charset="0"/>
                <a:ea typeface="Calibri" pitchFamily="34" charset="-122"/>
                <a:cs typeface="Calibri" pitchFamily="34" charset="-120"/>
              </a:rPr>
              <a:t>Si le mandan un PDF y quiere saber si es auténtico, use el método B. Es el único que detecta un documento con el aspecto correcto y el contenido alterado: el código impreso se puede copiar de una foto, pero la huella del archivo no se puede falsificar.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10896"/>
            <a:ext cx="640080" cy="566928"/>
          </a:xfrm>
          <a:prstGeom prst="rect">
            <a:avLst/>
          </a:prstGeom>
          <a:noFill/>
          <a:ln/>
        </p:spPr>
        <p:txBody>
          <a:bodyPr wrap="square" lIns="0" tIns="0" rIns="0" bIns="0" rtlCol="0" anchor="t"/>
          <a:lstStyle/>
          <a:p>
            <a:pPr algn="l" indent="0" marL="0">
              <a:buNone/>
            </a:pPr>
            <a:r>
              <a:rPr lang="en-US" sz="4000" dirty="0">
                <a:solidFill>
                  <a:srgbClr val="9C7222"/>
                </a:solidFill>
                <a:latin typeface="Cambria" pitchFamily="34" charset="0"/>
                <a:ea typeface="Cambria" pitchFamily="34" charset="-122"/>
                <a:cs typeface="Cambria" pitchFamily="34" charset="-120"/>
              </a:rPr>
              <a:t>4</a:t>
            </a:r>
            <a:endParaRPr lang="en-US" sz="4000" dirty="0"/>
          </a:p>
        </p:txBody>
      </p:sp>
      <p:sp>
        <p:nvSpPr>
          <p:cNvPr id="3" name="Text 1"/>
          <p:cNvSpPr txBox="1"/>
          <p:nvPr/>
        </p:nvSpPr>
        <p:spPr>
          <a:xfrm>
            <a:off x="502920" y="859536"/>
            <a:ext cx="822960" cy="219456"/>
          </a:xfrm>
          <a:prstGeom prst="rect">
            <a:avLst/>
          </a:prstGeom>
          <a:noFill/>
          <a:ln/>
        </p:spPr>
        <p:txBody>
          <a:bodyPr wrap="square" lIns="0" tIns="0" rIns="0" bIns="0" rtlCol="0" anchor="ctr"/>
          <a:lstStyle/>
          <a:p>
            <a:pPr indent="0" marL="0">
              <a:buNone/>
            </a:pPr>
            <a:endParaRPr lang="en-US" sz="800" dirty="0"/>
          </a:p>
        </p:txBody>
      </p:sp>
      <p:sp>
        <p:nvSpPr>
          <p:cNvPr id="4" name="Text 2"/>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Cuando el archivo no es de aquí</a:t>
            </a:r>
            <a:endParaRPr lang="en-US" sz="2600" dirty="0"/>
          </a:p>
        </p:txBody>
      </p:sp>
      <p:sp>
        <p:nvSpPr>
          <p:cNvPr id="5" name="Text 3"/>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Lo que responde el cotejo con un PDF que la plataforma no emitió.</a:t>
            </a:r>
            <a:endParaRPr lang="en-US" sz="1200" dirty="0"/>
          </a:p>
        </p:txBody>
      </p:sp>
      <p:pic>
        <p:nvPicPr>
          <p:cNvPr id="6" name="Image 0" descr="/tmp/claude-0/-home-user-gea-module-0/05c86c8b-2f1b-52ff-8f50-3243e9e36b63/scratchpad/deck_img/12_cotejo_rechazado.png">    </p:cNvPr>
          <p:cNvPicPr>
            <a:picLocks noChangeAspect="1"/>
          </p:cNvPicPr>
          <p:nvPr/>
        </p:nvPicPr>
        <p:blipFill>
          <a:blip r:embed="rId1"/>
          <a:stretch>
            <a:fillRect/>
          </a:stretch>
        </p:blipFill>
        <p:spPr>
          <a:xfrm>
            <a:off x="502920" y="1280160"/>
            <a:ext cx="6342075" cy="4837176"/>
          </a:xfrm>
          <a:prstGeom prst="rect">
            <a:avLst/>
          </a:prstGeom>
        </p:spPr>
      </p:pic>
      <p:sp>
        <p:nvSpPr>
          <p:cNvPr id="7" name="Shape 4"/>
          <p:cNvSpPr/>
          <p:nvPr/>
        </p:nvSpPr>
        <p:spPr>
          <a:xfrm>
            <a:off x="502920" y="1280160"/>
            <a:ext cx="6342075" cy="4837176"/>
          </a:xfrm>
          <a:prstGeom prst="rect">
            <a:avLst/>
          </a:prstGeom>
          <a:ln w="9525">
            <a:solidFill>
              <a:srgbClr val="DED8CB"/>
            </a:solidFill>
            <a:prstDash val="solid"/>
          </a:ln>
        </p:spPr>
      </p:sp>
      <p:sp>
        <p:nvSpPr>
          <p:cNvPr id="8" name="Shape 5"/>
          <p:cNvSpPr/>
          <p:nvPr/>
        </p:nvSpPr>
        <p:spPr>
          <a:xfrm>
            <a:off x="1777043" y="5287277"/>
            <a:ext cx="3793829" cy="128016"/>
          </a:xfrm>
          <a:prstGeom prst="roundRect">
            <a:avLst>
              <a:gd name="adj" fmla="val 21429"/>
            </a:avLst>
          </a:prstGeom>
          <a:ln w="19050">
            <a:solidFill>
              <a:srgbClr val="9C7222"/>
            </a:solidFill>
            <a:prstDash val="solid"/>
          </a:ln>
        </p:spPr>
      </p:sp>
      <p:sp>
        <p:nvSpPr>
          <p:cNvPr id="9" name="Shape 6"/>
          <p:cNvSpPr/>
          <p:nvPr/>
        </p:nvSpPr>
        <p:spPr>
          <a:xfrm>
            <a:off x="1658171" y="5168405"/>
            <a:ext cx="237744" cy="237744"/>
          </a:xfrm>
          <a:prstGeom prst="ellipse">
            <a:avLst/>
          </a:prstGeom>
          <a:solidFill>
            <a:srgbClr val="9C7222"/>
          </a:solidFill>
          <a:ln w="12700">
            <a:solidFill>
              <a:srgbClr val="FFFFFF"/>
            </a:solidFill>
            <a:prstDash val="solid"/>
          </a:ln>
        </p:spPr>
      </p:sp>
      <p:sp>
        <p:nvSpPr>
          <p:cNvPr id="10" name="Text 7"/>
          <p:cNvSpPr txBox="1"/>
          <p:nvPr/>
        </p:nvSpPr>
        <p:spPr>
          <a:xfrm>
            <a:off x="1658171" y="5168405"/>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1" name="Shape 8"/>
          <p:cNvSpPr/>
          <p:nvPr/>
        </p:nvSpPr>
        <p:spPr>
          <a:xfrm>
            <a:off x="7680960" y="1307592"/>
            <a:ext cx="219456" cy="219456"/>
          </a:xfrm>
          <a:prstGeom prst="ellipse">
            <a:avLst/>
          </a:prstGeom>
          <a:ln w="12700">
            <a:solidFill>
              <a:srgbClr val="9C7222"/>
            </a:solidFill>
            <a:prstDash val="solid"/>
          </a:ln>
        </p:spPr>
      </p:sp>
      <p:sp>
        <p:nvSpPr>
          <p:cNvPr id="12" name="Text 9"/>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3" name="Text 10"/>
          <p:cNvSpPr txBox="1"/>
          <p:nvPr/>
        </p:nvSpPr>
        <p:spPr>
          <a:xfrm>
            <a:off x="7991856" y="1280160"/>
            <a:ext cx="3666744" cy="872490"/>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Lo que responde con un archivo que no es de aquí. </a:t>
            </a:r>
            <a:pPr indent="0" marL="0">
              <a:buNone/>
            </a:pPr>
            <a:r>
              <a:rPr lang="en-US" sz="1050" dirty="0">
                <a:solidFill>
                  <a:srgbClr val="6B6559"/>
                </a:solidFill>
                <a:latin typeface="Calibri" pitchFamily="34" charset="0"/>
                <a:ea typeface="Calibri" pitchFamily="34" charset="-122"/>
                <a:cs typeface="Calibri" pitchFamily="34" charset="-120"/>
              </a:rPr>
              <a:t>Hay un tercer resultado, distinto de este y del acierto: que el PDF lleve la marca de agua pero su contenido haya sido modificado. Entonces lo dice expresamente, en vez de darlo por bueno.</a:t>
            </a:r>
            <a:endParaRPr lang="en-US" sz="1050" dirty="0"/>
          </a:p>
        </p:txBody>
      </p:sp>
      <p:sp>
        <p:nvSpPr>
          <p:cNvPr id="14" name="Text 11"/>
          <p:cNvSpPr txBox="1"/>
          <p:nvPr/>
        </p:nvSpPr>
        <p:spPr>
          <a:xfrm>
            <a:off x="502920" y="6190488"/>
            <a:ext cx="6342075" cy="219456"/>
          </a:xfrm>
          <a:prstGeom prst="rect">
            <a:avLst/>
          </a:prstGeom>
          <a:noFill/>
          <a:ln/>
        </p:spPr>
        <p:txBody>
          <a:bodyPr wrap="square" lIns="0" tIns="0" rIns="0" bIns="0" rtlCol="0" anchor="t"/>
          <a:lstStyle/>
          <a:p>
            <a:pPr indent="0" marL="0">
              <a:buNone/>
            </a:pPr>
            <a:r>
              <a:rPr lang="en-US" sz="800" dirty="0">
                <a:solidFill>
                  <a:srgbClr val="6B6559"/>
                </a:solidFill>
                <a:latin typeface="Courier New" pitchFamily="34" charset="0"/>
                <a:ea typeface="Courier New" pitchFamily="34" charset="-122"/>
                <a:cs typeface="Courier New" pitchFamily="34" charset="-120"/>
              </a:rPr>
              <a:t>/verify/aegis/asset/certification/ — se sube un PDF ajeno</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10896"/>
            <a:ext cx="640080" cy="566928"/>
          </a:xfrm>
          <a:prstGeom prst="rect">
            <a:avLst/>
          </a:prstGeom>
          <a:noFill/>
          <a:ln/>
        </p:spPr>
        <p:txBody>
          <a:bodyPr wrap="square" lIns="0" tIns="0" rIns="0" bIns="0" rtlCol="0" anchor="t"/>
          <a:lstStyle/>
          <a:p>
            <a:pPr algn="l" indent="0" marL="0">
              <a:buNone/>
            </a:pPr>
            <a:r>
              <a:rPr lang="en-US" sz="4000" dirty="0">
                <a:solidFill>
                  <a:srgbClr val="9C7222"/>
                </a:solidFill>
                <a:latin typeface="Cambria" pitchFamily="34" charset="0"/>
                <a:ea typeface="Cambria" pitchFamily="34" charset="-122"/>
                <a:cs typeface="Cambria" pitchFamily="34" charset="-120"/>
              </a:rPr>
              <a:t>5</a:t>
            </a:r>
            <a:endParaRPr lang="en-US" sz="4000" dirty="0"/>
          </a:p>
        </p:txBody>
      </p:sp>
      <p:sp>
        <p:nvSpPr>
          <p:cNvPr id="3" name="Text 1"/>
          <p:cNvSpPr txBox="1"/>
          <p:nvPr/>
        </p:nvSpPr>
        <p:spPr>
          <a:xfrm>
            <a:off x="502920" y="859536"/>
            <a:ext cx="822960" cy="219456"/>
          </a:xfrm>
          <a:prstGeom prst="rect">
            <a:avLst/>
          </a:prstGeom>
          <a:noFill/>
          <a:ln/>
        </p:spPr>
        <p:txBody>
          <a:bodyPr wrap="square" lIns="0" tIns="0" rIns="0" bIns="0" rtlCol="0" anchor="ctr"/>
          <a:lstStyle/>
          <a:p>
            <a:pPr indent="0" marL="0">
              <a:buNone/>
            </a:pPr>
            <a:endParaRPr lang="en-US" sz="800" dirty="0"/>
          </a:p>
        </p:txBody>
      </p:sp>
      <p:sp>
        <p:nvSpPr>
          <p:cNvPr id="4" name="Text 2"/>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La pantalla de resultado, leída por partes</a:t>
            </a:r>
            <a:endParaRPr lang="en-US" sz="2600" dirty="0"/>
          </a:p>
        </p:txBody>
      </p:sp>
      <p:sp>
        <p:nvSpPr>
          <p:cNvPr id="5" name="Text 3"/>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Es la que va a mirar un auditor. Conviene saber qué es cada cosa.</a:t>
            </a:r>
            <a:endParaRPr lang="en-US" sz="1200" dirty="0"/>
          </a:p>
        </p:txBody>
      </p:sp>
      <p:pic>
        <p:nvPicPr>
          <p:cNvPr id="6" name="Image 0" descr="/tmp/claude-0/-home-user-gea-module-0/05c86c8b-2f1b-52ff-8f50-3243e9e36b63/scratchpad/deck_img/res_a.png">    </p:cNvPr>
          <p:cNvPicPr>
            <a:picLocks noChangeAspect="1"/>
          </p:cNvPicPr>
          <p:nvPr/>
        </p:nvPicPr>
        <p:blipFill>
          <a:blip r:embed="rId1"/>
          <a:stretch>
            <a:fillRect/>
          </a:stretch>
        </p:blipFill>
        <p:spPr>
          <a:xfrm>
            <a:off x="502920" y="1280160"/>
            <a:ext cx="6858000" cy="5092986"/>
          </a:xfrm>
          <a:prstGeom prst="rect">
            <a:avLst/>
          </a:prstGeom>
        </p:spPr>
      </p:pic>
      <p:sp>
        <p:nvSpPr>
          <p:cNvPr id="7" name="Shape 4"/>
          <p:cNvSpPr/>
          <p:nvPr/>
        </p:nvSpPr>
        <p:spPr>
          <a:xfrm>
            <a:off x="502920" y="1280160"/>
            <a:ext cx="6858000" cy="5092986"/>
          </a:xfrm>
          <a:prstGeom prst="rect">
            <a:avLst/>
          </a:prstGeom>
          <a:ln w="9525">
            <a:solidFill>
              <a:srgbClr val="DED8CB"/>
            </a:solidFill>
            <a:prstDash val="solid"/>
          </a:ln>
        </p:spPr>
      </p:sp>
      <p:sp>
        <p:nvSpPr>
          <p:cNvPr id="8" name="Shape 5"/>
          <p:cNvSpPr/>
          <p:nvPr/>
        </p:nvSpPr>
        <p:spPr>
          <a:xfrm>
            <a:off x="2796921" y="4158716"/>
            <a:ext cx="4374032" cy="143622"/>
          </a:xfrm>
          <a:prstGeom prst="roundRect">
            <a:avLst>
              <a:gd name="adj" fmla="val 19100"/>
            </a:avLst>
          </a:prstGeom>
          <a:ln w="19050">
            <a:solidFill>
              <a:srgbClr val="9C7222"/>
            </a:solidFill>
            <a:prstDash val="solid"/>
          </a:ln>
        </p:spPr>
      </p:sp>
      <p:sp>
        <p:nvSpPr>
          <p:cNvPr id="9" name="Shape 6"/>
          <p:cNvSpPr/>
          <p:nvPr/>
        </p:nvSpPr>
        <p:spPr>
          <a:xfrm>
            <a:off x="2678049" y="4039844"/>
            <a:ext cx="237744" cy="237744"/>
          </a:xfrm>
          <a:prstGeom prst="ellipse">
            <a:avLst/>
          </a:prstGeom>
          <a:solidFill>
            <a:srgbClr val="9C7222"/>
          </a:solidFill>
          <a:ln w="12700">
            <a:solidFill>
              <a:srgbClr val="FFFFFF"/>
            </a:solidFill>
            <a:prstDash val="solid"/>
          </a:ln>
        </p:spPr>
      </p:sp>
      <p:sp>
        <p:nvSpPr>
          <p:cNvPr id="10" name="Text 7"/>
          <p:cNvSpPr txBox="1"/>
          <p:nvPr/>
        </p:nvSpPr>
        <p:spPr>
          <a:xfrm>
            <a:off x="2678049" y="403984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1" name="Shape 8"/>
          <p:cNvSpPr/>
          <p:nvPr/>
        </p:nvSpPr>
        <p:spPr>
          <a:xfrm>
            <a:off x="2796921" y="4729640"/>
            <a:ext cx="4374032" cy="143622"/>
          </a:xfrm>
          <a:prstGeom prst="roundRect">
            <a:avLst>
              <a:gd name="adj" fmla="val 19100"/>
            </a:avLst>
          </a:prstGeom>
          <a:ln w="19050">
            <a:solidFill>
              <a:srgbClr val="9C7222"/>
            </a:solidFill>
            <a:prstDash val="solid"/>
          </a:ln>
        </p:spPr>
      </p:sp>
      <p:sp>
        <p:nvSpPr>
          <p:cNvPr id="12" name="Shape 9"/>
          <p:cNvSpPr/>
          <p:nvPr/>
        </p:nvSpPr>
        <p:spPr>
          <a:xfrm>
            <a:off x="2678049" y="4610768"/>
            <a:ext cx="237744" cy="237744"/>
          </a:xfrm>
          <a:prstGeom prst="ellipse">
            <a:avLst/>
          </a:prstGeom>
          <a:solidFill>
            <a:srgbClr val="9C7222"/>
          </a:solidFill>
          <a:ln w="12700">
            <a:solidFill>
              <a:srgbClr val="FFFFFF"/>
            </a:solidFill>
            <a:prstDash val="solid"/>
          </a:ln>
        </p:spPr>
      </p:sp>
      <p:sp>
        <p:nvSpPr>
          <p:cNvPr id="13" name="Text 10"/>
          <p:cNvSpPr txBox="1"/>
          <p:nvPr/>
        </p:nvSpPr>
        <p:spPr>
          <a:xfrm>
            <a:off x="2678049" y="461076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4" name="Shape 11"/>
          <p:cNvSpPr/>
          <p:nvPr/>
        </p:nvSpPr>
        <p:spPr>
          <a:xfrm>
            <a:off x="3837280" y="4919099"/>
            <a:ext cx="2361209" cy="128016"/>
          </a:xfrm>
          <a:prstGeom prst="roundRect">
            <a:avLst>
              <a:gd name="adj" fmla="val 21429"/>
            </a:avLst>
          </a:prstGeom>
          <a:ln w="19050">
            <a:solidFill>
              <a:srgbClr val="9C7222"/>
            </a:solidFill>
            <a:prstDash val="solid"/>
          </a:ln>
        </p:spPr>
      </p:sp>
      <p:sp>
        <p:nvSpPr>
          <p:cNvPr id="15" name="Shape 12"/>
          <p:cNvSpPr/>
          <p:nvPr/>
        </p:nvSpPr>
        <p:spPr>
          <a:xfrm>
            <a:off x="3718408" y="4800227"/>
            <a:ext cx="237744" cy="237744"/>
          </a:xfrm>
          <a:prstGeom prst="ellipse">
            <a:avLst/>
          </a:prstGeom>
          <a:solidFill>
            <a:srgbClr val="9C7222"/>
          </a:solidFill>
          <a:ln w="12700">
            <a:solidFill>
              <a:srgbClr val="FFFFFF"/>
            </a:solidFill>
            <a:prstDash val="solid"/>
          </a:ln>
        </p:spPr>
      </p:sp>
      <p:sp>
        <p:nvSpPr>
          <p:cNvPr id="16" name="Text 13"/>
          <p:cNvSpPr txBox="1"/>
          <p:nvPr/>
        </p:nvSpPr>
        <p:spPr>
          <a:xfrm>
            <a:off x="3718408" y="4800227"/>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3</a:t>
            </a:r>
            <a:endParaRPr lang="en-US" sz="900" dirty="0"/>
          </a:p>
        </p:txBody>
      </p:sp>
      <p:sp>
        <p:nvSpPr>
          <p:cNvPr id="17" name="Shape 14"/>
          <p:cNvSpPr/>
          <p:nvPr/>
        </p:nvSpPr>
        <p:spPr>
          <a:xfrm>
            <a:off x="6773875" y="5555213"/>
            <a:ext cx="262661" cy="128016"/>
          </a:xfrm>
          <a:prstGeom prst="roundRect">
            <a:avLst>
              <a:gd name="adj" fmla="val 21429"/>
            </a:avLst>
          </a:prstGeom>
          <a:ln w="19050">
            <a:solidFill>
              <a:srgbClr val="9C7222"/>
            </a:solidFill>
            <a:prstDash val="solid"/>
          </a:ln>
        </p:spPr>
      </p:sp>
      <p:sp>
        <p:nvSpPr>
          <p:cNvPr id="18" name="Shape 15"/>
          <p:cNvSpPr/>
          <p:nvPr/>
        </p:nvSpPr>
        <p:spPr>
          <a:xfrm>
            <a:off x="6655003" y="5436341"/>
            <a:ext cx="237744" cy="237744"/>
          </a:xfrm>
          <a:prstGeom prst="ellipse">
            <a:avLst/>
          </a:prstGeom>
          <a:solidFill>
            <a:srgbClr val="9C7222"/>
          </a:solidFill>
          <a:ln w="12700">
            <a:solidFill>
              <a:srgbClr val="FFFFFF"/>
            </a:solidFill>
            <a:prstDash val="solid"/>
          </a:ln>
        </p:spPr>
      </p:sp>
      <p:sp>
        <p:nvSpPr>
          <p:cNvPr id="19" name="Text 16"/>
          <p:cNvSpPr txBox="1"/>
          <p:nvPr/>
        </p:nvSpPr>
        <p:spPr>
          <a:xfrm>
            <a:off x="6655003" y="5436341"/>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4</a:t>
            </a:r>
            <a:endParaRPr lang="en-US" sz="900" dirty="0"/>
          </a:p>
        </p:txBody>
      </p:sp>
      <p:sp>
        <p:nvSpPr>
          <p:cNvPr id="20" name="Shape 17"/>
          <p:cNvSpPr/>
          <p:nvPr/>
        </p:nvSpPr>
        <p:spPr>
          <a:xfrm>
            <a:off x="7680960" y="1307592"/>
            <a:ext cx="219456" cy="219456"/>
          </a:xfrm>
          <a:prstGeom prst="ellipse">
            <a:avLst/>
          </a:prstGeom>
          <a:ln w="12700">
            <a:solidFill>
              <a:srgbClr val="9C7222"/>
            </a:solidFill>
            <a:prstDash val="solid"/>
          </a:ln>
        </p:spPr>
      </p:sp>
      <p:sp>
        <p:nvSpPr>
          <p:cNvPr id="21" name="Text 18"/>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22" name="Text 19"/>
          <p:cNvSpPr txBox="1"/>
          <p:nvPr/>
        </p:nvSpPr>
        <p:spPr>
          <a:xfrm>
            <a:off x="7991856" y="1280160"/>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Código público de verificación. </a:t>
            </a:r>
            <a:pPr indent="0" marL="0">
              <a:buNone/>
            </a:pPr>
            <a:r>
              <a:rPr lang="en-US" sz="1050" dirty="0">
                <a:solidFill>
                  <a:srgbClr val="6B6559"/>
                </a:solidFill>
                <a:latin typeface="Calibri" pitchFamily="34" charset="0"/>
                <a:ea typeface="Calibri" pitchFamily="34" charset="-122"/>
                <a:cs typeface="Calibri" pitchFamily="34" charset="-120"/>
              </a:rPr>
              <a:t>Doce caracteres. Es lo que se cita por teléfono o por correo para que la otra parte llegue al documento.</a:t>
            </a:r>
            <a:endParaRPr lang="en-US" sz="1050" dirty="0"/>
          </a:p>
        </p:txBody>
      </p:sp>
      <p:sp>
        <p:nvSpPr>
          <p:cNvPr id="23" name="Shape 20"/>
          <p:cNvSpPr/>
          <p:nvPr/>
        </p:nvSpPr>
        <p:spPr>
          <a:xfrm>
            <a:off x="7680960" y="2068830"/>
            <a:ext cx="219456" cy="219456"/>
          </a:xfrm>
          <a:prstGeom prst="ellipse">
            <a:avLst/>
          </a:prstGeom>
          <a:ln w="12700">
            <a:solidFill>
              <a:srgbClr val="9C7222"/>
            </a:solidFill>
            <a:prstDash val="solid"/>
          </a:ln>
        </p:spPr>
      </p:sp>
      <p:sp>
        <p:nvSpPr>
          <p:cNvPr id="24" name="Text 21"/>
          <p:cNvSpPr txBox="1"/>
          <p:nvPr/>
        </p:nvSpPr>
        <p:spPr>
          <a:xfrm>
            <a:off x="7680960" y="206883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25" name="Text 22"/>
          <p:cNvSpPr txBox="1"/>
          <p:nvPr/>
        </p:nvSpPr>
        <p:spPr>
          <a:xfrm>
            <a:off x="7991856" y="2041398"/>
            <a:ext cx="3666744" cy="707136"/>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Código de certificación completo. </a:t>
            </a:r>
            <a:pPr indent="0" marL="0">
              <a:buNone/>
            </a:pPr>
            <a:r>
              <a:rPr lang="en-US" sz="1050" dirty="0">
                <a:solidFill>
                  <a:srgbClr val="6B6559"/>
                </a:solidFill>
                <a:latin typeface="Calibri" pitchFamily="34" charset="0"/>
                <a:ea typeface="Calibri" pitchFamily="34" charset="-122"/>
                <a:cs typeface="Calibri" pitchFamily="34" charset="-120"/>
              </a:rPr>
              <a:t>NIT del emisor · iniciales y secuencia · fragmento de la huella · fecha · código público. Es el mismo texto que va impreso en el código de barras del PDF.</a:t>
            </a:r>
            <a:endParaRPr lang="en-US" sz="1050" dirty="0"/>
          </a:p>
        </p:txBody>
      </p:sp>
      <p:sp>
        <p:nvSpPr>
          <p:cNvPr id="26" name="Shape 23"/>
          <p:cNvSpPr/>
          <p:nvPr/>
        </p:nvSpPr>
        <p:spPr>
          <a:xfrm>
            <a:off x="7680960" y="2995422"/>
            <a:ext cx="219456" cy="219456"/>
          </a:xfrm>
          <a:prstGeom prst="ellipse">
            <a:avLst/>
          </a:prstGeom>
          <a:ln w="12700">
            <a:solidFill>
              <a:srgbClr val="9C7222"/>
            </a:solidFill>
            <a:prstDash val="solid"/>
          </a:ln>
        </p:spPr>
      </p:sp>
      <p:sp>
        <p:nvSpPr>
          <p:cNvPr id="27" name="Text 24"/>
          <p:cNvSpPr txBox="1"/>
          <p:nvPr/>
        </p:nvSpPr>
        <p:spPr>
          <a:xfrm>
            <a:off x="7680960" y="299542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3</a:t>
            </a:r>
            <a:endParaRPr lang="en-US" sz="850" dirty="0"/>
          </a:p>
        </p:txBody>
      </p:sp>
      <p:sp>
        <p:nvSpPr>
          <p:cNvPr id="28" name="Text 25"/>
          <p:cNvSpPr txBox="1"/>
          <p:nvPr/>
        </p:nvSpPr>
        <p:spPr>
          <a:xfrm>
            <a:off x="7991856" y="2967990"/>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Descarga de la copia distribuible. </a:t>
            </a:r>
            <a:pPr indent="0" marL="0">
              <a:buNone/>
            </a:pPr>
            <a:r>
              <a:rPr lang="en-US" sz="1050" dirty="0">
                <a:solidFill>
                  <a:srgbClr val="6B6559"/>
                </a:solidFill>
                <a:latin typeface="Calibri" pitchFamily="34" charset="0"/>
                <a:ea typeface="Calibri" pitchFamily="34" charset="-122"/>
                <a:cs typeface="Calibri" pitchFamily="34" charset="-120"/>
              </a:rPr>
              <a:t>Ésta es la que se comparte. Lleva la marca de agua invisible.</a:t>
            </a:r>
            <a:endParaRPr lang="en-US" sz="1050" dirty="0"/>
          </a:p>
        </p:txBody>
      </p:sp>
      <p:sp>
        <p:nvSpPr>
          <p:cNvPr id="29" name="Shape 26"/>
          <p:cNvSpPr/>
          <p:nvPr/>
        </p:nvSpPr>
        <p:spPr>
          <a:xfrm>
            <a:off x="7680960" y="3591306"/>
            <a:ext cx="219456" cy="219456"/>
          </a:xfrm>
          <a:prstGeom prst="ellipse">
            <a:avLst/>
          </a:prstGeom>
          <a:ln w="12700">
            <a:solidFill>
              <a:srgbClr val="9C7222"/>
            </a:solidFill>
            <a:prstDash val="solid"/>
          </a:ln>
        </p:spPr>
      </p:sp>
      <p:sp>
        <p:nvSpPr>
          <p:cNvPr id="30" name="Text 27"/>
          <p:cNvSpPr txBox="1"/>
          <p:nvPr/>
        </p:nvSpPr>
        <p:spPr>
          <a:xfrm>
            <a:off x="7680960" y="3591306"/>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4</a:t>
            </a:r>
            <a:endParaRPr lang="en-US" sz="850" dirty="0"/>
          </a:p>
        </p:txBody>
      </p:sp>
      <p:sp>
        <p:nvSpPr>
          <p:cNvPr id="31" name="Text 28"/>
          <p:cNvSpPr txBox="1"/>
          <p:nvPr/>
        </p:nvSpPr>
        <p:spPr>
          <a:xfrm>
            <a:off x="7991856" y="3563874"/>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Estado, hoy. </a:t>
            </a:r>
            <a:pPr indent="0" marL="0">
              <a:buNone/>
            </a:pPr>
            <a:r>
              <a:rPr lang="en-US" sz="1050" dirty="0">
                <a:solidFill>
                  <a:srgbClr val="6B6559"/>
                </a:solidFill>
                <a:latin typeface="Calibri" pitchFamily="34" charset="0"/>
                <a:ea typeface="Calibri" pitchFamily="34" charset="-122"/>
                <a:cs typeface="Calibri" pitchFamily="34" charset="-120"/>
              </a:rPr>
              <a:t>La caducidad y la revocación no están congeladas en el papel: se consultan aquí, que es siempre la versión viva.</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10896"/>
            <a:ext cx="640080" cy="566928"/>
          </a:xfrm>
          <a:prstGeom prst="rect">
            <a:avLst/>
          </a:prstGeom>
          <a:noFill/>
          <a:ln/>
        </p:spPr>
        <p:txBody>
          <a:bodyPr wrap="square" lIns="0" tIns="0" rIns="0" bIns="0" rtlCol="0" anchor="t"/>
          <a:lstStyle/>
          <a:p>
            <a:pPr algn="l" indent="0" marL="0">
              <a:buNone/>
            </a:pPr>
            <a:r>
              <a:rPr lang="en-US" sz="4000" dirty="0">
                <a:solidFill>
                  <a:srgbClr val="9C7222"/>
                </a:solidFill>
                <a:latin typeface="Cambria" pitchFamily="34" charset="0"/>
                <a:ea typeface="Cambria" pitchFamily="34" charset="-122"/>
                <a:cs typeface="Cambria" pitchFamily="34" charset="-120"/>
              </a:rPr>
              <a:t>5</a:t>
            </a:r>
            <a:endParaRPr lang="en-US" sz="4000" dirty="0"/>
          </a:p>
        </p:txBody>
      </p:sp>
      <p:sp>
        <p:nvSpPr>
          <p:cNvPr id="3" name="Text 1"/>
          <p:cNvSpPr txBox="1"/>
          <p:nvPr/>
        </p:nvSpPr>
        <p:spPr>
          <a:xfrm>
            <a:off x="502920" y="859536"/>
            <a:ext cx="822960" cy="219456"/>
          </a:xfrm>
          <a:prstGeom prst="rect">
            <a:avLst/>
          </a:prstGeom>
          <a:noFill/>
          <a:ln/>
        </p:spPr>
        <p:txBody>
          <a:bodyPr wrap="square" lIns="0" tIns="0" rIns="0" bIns="0" rtlCol="0" anchor="ctr"/>
          <a:lstStyle/>
          <a:p>
            <a:pPr indent="0" marL="0">
              <a:buNone/>
            </a:pPr>
            <a:endParaRPr lang="en-US" sz="800" dirty="0"/>
          </a:p>
        </p:txBody>
      </p:sp>
      <p:sp>
        <p:nvSpPr>
          <p:cNvPr id="4" name="Text 2"/>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La pantalla de resultado, leída por partes</a:t>
            </a:r>
            <a:endParaRPr lang="en-US" sz="2600" dirty="0"/>
          </a:p>
        </p:txBody>
      </p:sp>
      <p:sp>
        <p:nvSpPr>
          <p:cNvPr id="5" name="Text 3"/>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Es la que va a mirar un auditor. Conviene saber qué es cada cosa.</a:t>
            </a:r>
            <a:endParaRPr lang="en-US" sz="1200" dirty="0"/>
          </a:p>
        </p:txBody>
      </p:sp>
      <p:pic>
        <p:nvPicPr>
          <p:cNvPr id="6" name="Image 0" descr="/tmp/claude-0/-home-user-gea-module-0/05c86c8b-2f1b-52ff-8f50-3243e9e36b63/scratchpad/deck_img/res_b.png">    </p:cNvPr>
          <p:cNvPicPr>
            <a:picLocks noChangeAspect="1"/>
          </p:cNvPicPr>
          <p:nvPr/>
        </p:nvPicPr>
        <p:blipFill>
          <a:blip r:embed="rId1"/>
          <a:stretch>
            <a:fillRect/>
          </a:stretch>
        </p:blipFill>
        <p:spPr>
          <a:xfrm>
            <a:off x="502920" y="1280160"/>
            <a:ext cx="6858000" cy="2620778"/>
          </a:xfrm>
          <a:prstGeom prst="rect">
            <a:avLst/>
          </a:prstGeom>
        </p:spPr>
      </p:pic>
      <p:sp>
        <p:nvSpPr>
          <p:cNvPr id="7" name="Shape 4"/>
          <p:cNvSpPr/>
          <p:nvPr/>
        </p:nvSpPr>
        <p:spPr>
          <a:xfrm>
            <a:off x="502920" y="1280160"/>
            <a:ext cx="6858000" cy="2620778"/>
          </a:xfrm>
          <a:prstGeom prst="rect">
            <a:avLst/>
          </a:prstGeom>
          <a:ln w="9525">
            <a:solidFill>
              <a:srgbClr val="DED8CB"/>
            </a:solidFill>
            <a:prstDash val="solid"/>
          </a:ln>
        </p:spPr>
      </p:sp>
      <p:sp>
        <p:nvSpPr>
          <p:cNvPr id="8" name="Shape 5"/>
          <p:cNvSpPr/>
          <p:nvPr/>
        </p:nvSpPr>
        <p:spPr>
          <a:xfrm>
            <a:off x="2931338" y="2027868"/>
            <a:ext cx="4105199" cy="712328"/>
          </a:xfrm>
          <a:prstGeom prst="roundRect">
            <a:avLst>
              <a:gd name="adj" fmla="val 3851"/>
            </a:avLst>
          </a:prstGeom>
          <a:ln w="19050">
            <a:solidFill>
              <a:srgbClr val="9C7222"/>
            </a:solidFill>
            <a:prstDash val="solid"/>
          </a:ln>
        </p:spPr>
      </p:sp>
      <p:sp>
        <p:nvSpPr>
          <p:cNvPr id="9" name="Shape 6"/>
          <p:cNvSpPr/>
          <p:nvPr/>
        </p:nvSpPr>
        <p:spPr>
          <a:xfrm>
            <a:off x="2812466" y="1908996"/>
            <a:ext cx="237744" cy="237744"/>
          </a:xfrm>
          <a:prstGeom prst="ellipse">
            <a:avLst/>
          </a:prstGeom>
          <a:solidFill>
            <a:srgbClr val="9C7222"/>
          </a:solidFill>
          <a:ln w="12700">
            <a:solidFill>
              <a:srgbClr val="FFFFFF"/>
            </a:solidFill>
            <a:prstDash val="solid"/>
          </a:ln>
        </p:spPr>
      </p:sp>
      <p:sp>
        <p:nvSpPr>
          <p:cNvPr id="10" name="Text 7"/>
          <p:cNvSpPr txBox="1"/>
          <p:nvPr/>
        </p:nvSpPr>
        <p:spPr>
          <a:xfrm>
            <a:off x="2812466" y="190899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1" name="Shape 8"/>
          <p:cNvSpPr/>
          <p:nvPr/>
        </p:nvSpPr>
        <p:spPr>
          <a:xfrm>
            <a:off x="2931338" y="2787894"/>
            <a:ext cx="4105199" cy="249760"/>
          </a:xfrm>
          <a:prstGeom prst="roundRect">
            <a:avLst>
              <a:gd name="adj" fmla="val 10983"/>
            </a:avLst>
          </a:prstGeom>
          <a:ln w="19050">
            <a:solidFill>
              <a:srgbClr val="9C7222"/>
            </a:solidFill>
            <a:prstDash val="solid"/>
          </a:ln>
        </p:spPr>
      </p:sp>
      <p:sp>
        <p:nvSpPr>
          <p:cNvPr id="12" name="Shape 9"/>
          <p:cNvSpPr/>
          <p:nvPr/>
        </p:nvSpPr>
        <p:spPr>
          <a:xfrm>
            <a:off x="2812466" y="2669022"/>
            <a:ext cx="237744" cy="237744"/>
          </a:xfrm>
          <a:prstGeom prst="ellipse">
            <a:avLst/>
          </a:prstGeom>
          <a:solidFill>
            <a:srgbClr val="9C7222"/>
          </a:solidFill>
          <a:ln w="12700">
            <a:solidFill>
              <a:srgbClr val="FFFFFF"/>
            </a:solidFill>
            <a:prstDash val="solid"/>
          </a:ln>
        </p:spPr>
      </p:sp>
      <p:sp>
        <p:nvSpPr>
          <p:cNvPr id="13" name="Text 10"/>
          <p:cNvSpPr txBox="1"/>
          <p:nvPr/>
        </p:nvSpPr>
        <p:spPr>
          <a:xfrm>
            <a:off x="2812466" y="266902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4" name="Shape 11"/>
          <p:cNvSpPr/>
          <p:nvPr/>
        </p:nvSpPr>
        <p:spPr>
          <a:xfrm>
            <a:off x="2931338" y="3131740"/>
            <a:ext cx="1436065" cy="177165"/>
          </a:xfrm>
          <a:prstGeom prst="roundRect">
            <a:avLst>
              <a:gd name="adj" fmla="val 15484"/>
            </a:avLst>
          </a:prstGeom>
          <a:ln w="19050">
            <a:solidFill>
              <a:srgbClr val="9C7222"/>
            </a:solidFill>
            <a:prstDash val="solid"/>
          </a:ln>
        </p:spPr>
      </p:sp>
      <p:sp>
        <p:nvSpPr>
          <p:cNvPr id="15" name="Shape 12"/>
          <p:cNvSpPr/>
          <p:nvPr/>
        </p:nvSpPr>
        <p:spPr>
          <a:xfrm>
            <a:off x="2812466" y="3012868"/>
            <a:ext cx="237744" cy="237744"/>
          </a:xfrm>
          <a:prstGeom prst="ellipse">
            <a:avLst/>
          </a:prstGeom>
          <a:solidFill>
            <a:srgbClr val="9C7222"/>
          </a:solidFill>
          <a:ln w="12700">
            <a:solidFill>
              <a:srgbClr val="FFFFFF"/>
            </a:solidFill>
            <a:prstDash val="solid"/>
          </a:ln>
        </p:spPr>
      </p:sp>
      <p:sp>
        <p:nvSpPr>
          <p:cNvPr id="16" name="Text 13"/>
          <p:cNvSpPr txBox="1"/>
          <p:nvPr/>
        </p:nvSpPr>
        <p:spPr>
          <a:xfrm>
            <a:off x="2812466" y="301286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3</a:t>
            </a:r>
            <a:endParaRPr lang="en-US" sz="900" dirty="0"/>
          </a:p>
        </p:txBody>
      </p:sp>
      <p:sp>
        <p:nvSpPr>
          <p:cNvPr id="17" name="Shape 14"/>
          <p:cNvSpPr/>
          <p:nvPr/>
        </p:nvSpPr>
        <p:spPr>
          <a:xfrm>
            <a:off x="7680960" y="1307592"/>
            <a:ext cx="219456" cy="219456"/>
          </a:xfrm>
          <a:prstGeom prst="ellipse">
            <a:avLst/>
          </a:prstGeom>
          <a:ln w="12700">
            <a:solidFill>
              <a:srgbClr val="9C7222"/>
            </a:solidFill>
            <a:prstDash val="solid"/>
          </a:ln>
        </p:spPr>
      </p:sp>
      <p:sp>
        <p:nvSpPr>
          <p:cNvPr id="18" name="Text 15"/>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9" name="Text 16"/>
          <p:cNvSpPr txBox="1"/>
          <p:nvPr/>
        </p:nvSpPr>
        <p:spPr>
          <a:xfrm>
            <a:off x="7991856" y="1280160"/>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Las tres huellas SHA-256. </a:t>
            </a:r>
            <a:pPr indent="0" marL="0">
              <a:buNone/>
            </a:pPr>
            <a:r>
              <a:rPr lang="en-US" sz="1050" dirty="0">
                <a:solidFill>
                  <a:srgbClr val="6B6559"/>
                </a:solidFill>
                <a:latin typeface="Calibri" pitchFamily="34" charset="0"/>
                <a:ea typeface="Calibri" pitchFamily="34" charset="-122"/>
                <a:cs typeface="Calibri" pitchFamily="34" charset="-120"/>
              </a:rPr>
              <a:t>Una por archivo. Con ellas se comprueba un PDF sin depender de esta plataforma.</a:t>
            </a:r>
            <a:endParaRPr lang="en-US" sz="1050" dirty="0"/>
          </a:p>
        </p:txBody>
      </p:sp>
      <p:sp>
        <p:nvSpPr>
          <p:cNvPr id="20" name="Shape 17"/>
          <p:cNvSpPr/>
          <p:nvPr/>
        </p:nvSpPr>
        <p:spPr>
          <a:xfrm>
            <a:off x="7680960" y="2068830"/>
            <a:ext cx="219456" cy="219456"/>
          </a:xfrm>
          <a:prstGeom prst="ellipse">
            <a:avLst/>
          </a:prstGeom>
          <a:ln w="12700">
            <a:solidFill>
              <a:srgbClr val="9C7222"/>
            </a:solidFill>
            <a:prstDash val="solid"/>
          </a:ln>
        </p:spPr>
      </p:sp>
      <p:sp>
        <p:nvSpPr>
          <p:cNvPr id="21" name="Text 18"/>
          <p:cNvSpPr txBox="1"/>
          <p:nvPr/>
        </p:nvSpPr>
        <p:spPr>
          <a:xfrm>
            <a:off x="7680960" y="206883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22" name="Text 19"/>
          <p:cNvSpPr txBox="1"/>
          <p:nvPr/>
        </p:nvSpPr>
        <p:spPr>
          <a:xfrm>
            <a:off x="7991856" y="2041398"/>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Cómo calcularla usted mismo. </a:t>
            </a:r>
            <a:pPr indent="0" marL="0">
              <a:buNone/>
            </a:pPr>
            <a:r>
              <a:rPr lang="en-US" sz="1050" dirty="0">
                <a:solidFill>
                  <a:srgbClr val="6B6559"/>
                </a:solidFill>
                <a:latin typeface="Calibri" pitchFamily="34" charset="0"/>
                <a:ea typeface="Calibri" pitchFamily="34" charset="-122"/>
                <a:cs typeface="Calibri" pitchFamily="34" charset="-120"/>
              </a:rPr>
              <a:t>El comando exacto, para Linux, macOS y Windows.</a:t>
            </a:r>
            <a:endParaRPr lang="en-US" sz="1050" dirty="0"/>
          </a:p>
        </p:txBody>
      </p:sp>
      <p:sp>
        <p:nvSpPr>
          <p:cNvPr id="23" name="Shape 20"/>
          <p:cNvSpPr/>
          <p:nvPr/>
        </p:nvSpPr>
        <p:spPr>
          <a:xfrm>
            <a:off x="7680960" y="2664714"/>
            <a:ext cx="219456" cy="219456"/>
          </a:xfrm>
          <a:prstGeom prst="ellipse">
            <a:avLst/>
          </a:prstGeom>
          <a:ln w="12700">
            <a:solidFill>
              <a:srgbClr val="9C7222"/>
            </a:solidFill>
            <a:prstDash val="solid"/>
          </a:ln>
        </p:spPr>
      </p:sp>
      <p:sp>
        <p:nvSpPr>
          <p:cNvPr id="24" name="Text 21"/>
          <p:cNvSpPr txBox="1"/>
          <p:nvPr/>
        </p:nvSpPr>
        <p:spPr>
          <a:xfrm>
            <a:off x="7680960" y="2664714"/>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3</a:t>
            </a:r>
            <a:endParaRPr lang="en-US" sz="850" dirty="0"/>
          </a:p>
        </p:txBody>
      </p:sp>
      <p:sp>
        <p:nvSpPr>
          <p:cNvPr id="25" name="Text 22"/>
          <p:cNvSpPr txBox="1"/>
          <p:nvPr/>
        </p:nvSpPr>
        <p:spPr>
          <a:xfrm>
            <a:off x="7991856" y="2637282"/>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Registro de certificación (JSON). </a:t>
            </a:r>
            <a:pPr indent="0" marL="0">
              <a:buNone/>
            </a:pPr>
            <a:r>
              <a:rPr lang="en-US" sz="1050" dirty="0">
                <a:solidFill>
                  <a:srgbClr val="6B6559"/>
                </a:solidFill>
                <a:latin typeface="Calibri" pitchFamily="34" charset="0"/>
                <a:ea typeface="Calibri" pitchFamily="34" charset="-122"/>
                <a:cs typeface="Calibri" pitchFamily="34" charset="-120"/>
              </a:rPr>
              <a:t>El documento que se le entrega a un auditor: sellado criptográficamente, con las huellas y el alcance por escrito.</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84048"/>
            <a:ext cx="1051560" cy="548640"/>
          </a:xfrm>
          <a:prstGeom prst="rect">
            <a:avLst/>
          </a:prstGeom>
          <a:noFill/>
          <a:ln/>
        </p:spPr>
        <p:txBody>
          <a:bodyPr wrap="square" lIns="0" tIns="0" rIns="0" bIns="0" rtlCol="0" anchor="t"/>
          <a:lstStyle/>
          <a:p>
            <a:pPr indent="0" marL="0">
              <a:buNone/>
            </a:pPr>
            <a:r>
              <a:rPr lang="en-US" sz="800" spc="140" kern="0" dirty="0">
                <a:solidFill>
                  <a:srgbClr val="6B6559"/>
                </a:solidFill>
                <a:latin typeface="Courier New" pitchFamily="34" charset="0"/>
                <a:ea typeface="Courier New" pitchFamily="34" charset="-122"/>
                <a:cs typeface="Courier New" pitchFamily="34" charset="-120"/>
              </a:rPr>
              <a:t>SIN DEPENDER DE NADIE</a:t>
            </a:r>
            <a:endParaRPr lang="en-US" sz="800" dirty="0"/>
          </a:p>
        </p:txBody>
      </p:sp>
      <p:sp>
        <p:nvSpPr>
          <p:cNvPr id="3" name="Text 1"/>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Comprobarlo por su cuenta, con dos comandos</a:t>
            </a:r>
            <a:endParaRPr lang="en-US" sz="2600" dirty="0"/>
          </a:p>
        </p:txBody>
      </p:sp>
      <p:sp>
        <p:nvSpPr>
          <p:cNvPr id="4" name="Text 2"/>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Sirve dentro de diez años, y sirve aunque la plataforma no esté disponible.</a:t>
            </a:r>
            <a:endParaRPr lang="en-US" sz="1200" dirty="0"/>
          </a:p>
        </p:txBody>
      </p:sp>
      <p:sp>
        <p:nvSpPr>
          <p:cNvPr id="5" name="Text 3"/>
          <p:cNvSpPr txBox="1"/>
          <p:nvPr/>
        </p:nvSpPr>
        <p:spPr>
          <a:xfrm>
            <a:off x="1645920" y="1280160"/>
            <a:ext cx="5577840" cy="847344"/>
          </a:xfrm>
          <a:prstGeom prst="rect">
            <a:avLst/>
          </a:prstGeom>
          <a:noFill/>
          <a:ln/>
        </p:spPr>
        <p:txBody>
          <a:bodyPr wrap="square" lIns="0" tIns="0" rIns="0" bIns="0" rtlCol="0" anchor="t"/>
          <a:lstStyle/>
          <a:p>
            <a:pPr indent="0" marL="0">
              <a:buNone/>
            </a:pPr>
            <a:r>
              <a:rPr lang="en-US" sz="1200" dirty="0">
                <a:solidFill>
                  <a:srgbClr val="12203A"/>
                </a:solidFill>
                <a:latin typeface="Calibri" pitchFamily="34" charset="0"/>
                <a:ea typeface="Calibri" pitchFamily="34" charset="-122"/>
                <a:cs typeface="Calibri" pitchFamily="34" charset="-120"/>
              </a:rPr>
              <a:t>Todo lo anterior pasa por la web del despacho. Un auditor querrá algo que no dependa de eso, y para eso está el registro de certificación: un fichero con las huellas de los tres archivos y una firma criptográfica encima.</a:t>
            </a:r>
            <a:endParaRPr lang="en-US" sz="1200" dirty="0"/>
          </a:p>
        </p:txBody>
      </p:sp>
      <p:sp>
        <p:nvSpPr>
          <p:cNvPr id="6" name="Shape 4"/>
          <p:cNvSpPr/>
          <p:nvPr/>
        </p:nvSpPr>
        <p:spPr>
          <a:xfrm>
            <a:off x="1645920" y="2401824"/>
            <a:ext cx="5577840" cy="1087120"/>
          </a:xfrm>
          <a:prstGeom prst="roundRect">
            <a:avLst>
              <a:gd name="adj" fmla="val 4206"/>
            </a:avLst>
          </a:prstGeom>
          <a:solidFill>
            <a:srgbClr val="FFFFFF"/>
          </a:solidFill>
          <a:ln w="12700">
            <a:solidFill>
              <a:srgbClr val="9C7222"/>
            </a:solidFill>
            <a:prstDash val="solid"/>
          </a:ln>
        </p:spPr>
      </p:sp>
      <p:sp>
        <p:nvSpPr>
          <p:cNvPr id="7" name="Text 5"/>
          <p:cNvSpPr txBox="1"/>
          <p:nvPr/>
        </p:nvSpPr>
        <p:spPr>
          <a:xfrm>
            <a:off x="1792224" y="2474976"/>
            <a:ext cx="5285232" cy="201168"/>
          </a:xfrm>
          <a:prstGeom prst="rect">
            <a:avLst/>
          </a:prstGeom>
          <a:noFill/>
          <a:ln/>
        </p:spPr>
        <p:txBody>
          <a:bodyPr wrap="square" lIns="0" tIns="0" rIns="0" bIns="0" rtlCol="0" anchor="ctr"/>
          <a:lstStyle/>
          <a:p>
            <a:pPr indent="0" marL="0">
              <a:buNone/>
            </a:pPr>
            <a:r>
              <a:rPr lang="en-US" sz="750" spc="120" kern="0" dirty="0">
                <a:solidFill>
                  <a:srgbClr val="9C7222"/>
                </a:solidFill>
                <a:latin typeface="Courier New" pitchFamily="34" charset="0"/>
                <a:ea typeface="Courier New" pitchFamily="34" charset="-122"/>
                <a:cs typeface="Courier New" pitchFamily="34" charset="-120"/>
              </a:rPr>
              <a:t>UN DETALLE QUE CONFUNDE SI NO SE AVISA</a:t>
            </a:r>
            <a:endParaRPr lang="en-US" sz="750" dirty="0"/>
          </a:p>
        </p:txBody>
      </p:sp>
      <p:sp>
        <p:nvSpPr>
          <p:cNvPr id="8" name="Text 6"/>
          <p:cNvSpPr txBox="1"/>
          <p:nvPr/>
        </p:nvSpPr>
        <p:spPr>
          <a:xfrm>
            <a:off x="1792224" y="2676144"/>
            <a:ext cx="5285232" cy="739648"/>
          </a:xfrm>
          <a:prstGeom prst="rect">
            <a:avLst/>
          </a:prstGeom>
          <a:noFill/>
          <a:ln/>
        </p:spPr>
        <p:txBody>
          <a:bodyPr wrap="square" lIns="0" tIns="0" rIns="0" bIns="0" rtlCol="0" anchor="t"/>
          <a:lstStyle/>
          <a:p>
            <a:pPr indent="0" marL="0">
              <a:buNone/>
            </a:pPr>
            <a:r>
              <a:rPr lang="en-US" sz="1000" dirty="0">
                <a:solidFill>
                  <a:srgbClr val="12203A"/>
                </a:solidFill>
                <a:latin typeface="Calibri" pitchFamily="34" charset="0"/>
                <a:ea typeface="Calibri" pitchFamily="34" charset="-122"/>
                <a:cs typeface="Calibri" pitchFamily="34" charset="-120"/>
              </a:rPr>
              <a:t>El content_sha256 del certificado y el de la copia distribuible son el mismo, mientras que sus sha256 difieren. Es deliberado: la huella de contenido ignora la marca de agua. Así se puede demostrar que la copia que circula dice exactamente lo mismo que el ejemplar certificado, y a la vez distinguir una de otro.</a:t>
            </a:r>
            <a:endParaRPr lang="en-US" sz="1000" dirty="0"/>
          </a:p>
        </p:txBody>
      </p:sp>
      <p:sp>
        <p:nvSpPr>
          <p:cNvPr id="9" name="Shape 7"/>
          <p:cNvSpPr/>
          <p:nvPr/>
        </p:nvSpPr>
        <p:spPr>
          <a:xfrm>
            <a:off x="7589520" y="1280160"/>
            <a:ext cx="4069080" cy="5120640"/>
          </a:xfrm>
          <a:prstGeom prst="roundRect">
            <a:avLst>
              <a:gd name="adj" fmla="val 1124"/>
            </a:avLst>
          </a:prstGeom>
          <a:solidFill>
            <a:srgbClr val="12203A"/>
          </a:solidFill>
          <a:ln w="6350">
            <a:solidFill>
              <a:srgbClr val="12203A"/>
            </a:solidFill>
            <a:prstDash val="solid"/>
          </a:ln>
        </p:spPr>
      </p:sp>
      <p:sp>
        <p:nvSpPr>
          <p:cNvPr id="10" name="Text 8"/>
          <p:cNvSpPr txBox="1"/>
          <p:nvPr/>
        </p:nvSpPr>
        <p:spPr>
          <a:xfrm>
            <a:off x="7790688" y="1481328"/>
            <a:ext cx="3666744" cy="4718304"/>
          </a:xfrm>
          <a:prstGeom prst="rect">
            <a:avLst/>
          </a:prstGeom>
          <a:noFill/>
          <a:ln/>
        </p:spPr>
        <p:txBody>
          <a:bodyPr wrap="square" lIns="0" tIns="0" rIns="0" bIns="0" rtlCol="0" anchor="t"/>
          <a:lstStyle/>
          <a:p>
            <a:pPr indent="0" marL="0">
              <a:lnSpc>
                <a:spcPct val="120000"/>
              </a:lnSpc>
              <a:buNone/>
            </a:pPr>
            <a:r>
              <a:rPr lang="en-US" sz="1000" dirty="0">
                <a:solidFill>
                  <a:srgbClr val="9C9689"/>
                </a:solidFill>
                <a:latin typeface="Courier New" pitchFamily="34" charset="0"/>
                <a:ea typeface="Courier New" pitchFamily="34" charset="-122"/>
                <a:cs typeface="Courier New" pitchFamily="34" charset="-120"/>
              </a:rPr>
              <a:t># 1. La huella del PDF que usted tiene</a:t>
            </a:r>
            <a:endParaRPr lang="en-US" sz="1000" dirty="0"/>
          </a:p>
          <a:p>
            <a:pPr indent="0" marL="0">
              <a:lnSpc>
                <a:spcPct val="120000"/>
              </a:lnSpc>
              <a:buNone/>
            </a:pPr>
            <a:r>
              <a:rPr lang="en-US" sz="1000" dirty="0">
                <a:solidFill>
                  <a:srgbClr val="D9AE58"/>
                </a:solidFill>
                <a:latin typeface="Courier New" pitchFamily="34" charset="0"/>
                <a:ea typeface="Courier New" pitchFamily="34" charset="-122"/>
                <a:cs typeface="Courier New" pitchFamily="34" charset="-120"/>
              </a:rPr>
              <a:t>sha256sum certificado.pdf</a:t>
            </a:r>
            <a:pPr indent="0" marL="0">
              <a:lnSpc>
                <a:spcPct val="120000"/>
              </a:lnSpc>
              <a:buNone/>
            </a:pPr>
            <a:r>
              <a:rPr lang="en-US" sz="1000" dirty="0">
                <a:solidFill>
                  <a:srgbClr val="9C9689"/>
                </a:solidFill>
                <a:latin typeface="Courier New" pitchFamily="34" charset="0"/>
                <a:ea typeface="Courier New" pitchFamily="34" charset="-122"/>
                <a:cs typeface="Courier New" pitchFamily="34" charset="-120"/>
              </a:rPr>
              <a:t># Linux o macOS</a:t>
            </a:r>
            <a:endParaRPr lang="en-US" sz="1000" dirty="0"/>
          </a:p>
          <a:p>
            <a:pPr indent="0" marL="0">
              <a:lnSpc>
                <a:spcPct val="120000"/>
              </a:lnSpc>
              <a:buNone/>
            </a:pPr>
            <a:r>
              <a:rPr lang="en-US" sz="1000" dirty="0">
                <a:solidFill>
                  <a:srgbClr val="D9AE58"/>
                </a:solidFill>
                <a:latin typeface="Courier New" pitchFamily="34" charset="0"/>
                <a:ea typeface="Courier New" pitchFamily="34" charset="-122"/>
                <a:cs typeface="Courier New" pitchFamily="34" charset="-120"/>
              </a:rPr>
              <a:t>certutil -hashfile certificado.pdf SHA256</a:t>
            </a:r>
            <a:pPr indent="0" marL="0">
              <a:lnSpc>
                <a:spcPct val="120000"/>
              </a:lnSpc>
              <a:buNone/>
            </a:pPr>
            <a:r>
              <a:rPr lang="en-US" sz="1000" dirty="0">
                <a:solidFill>
                  <a:srgbClr val="9C9689"/>
                </a:solidFill>
                <a:latin typeface="Courier New" pitchFamily="34" charset="0"/>
                <a:ea typeface="Courier New" pitchFamily="34" charset="-122"/>
                <a:cs typeface="Courier New" pitchFamily="34" charset="-120"/>
              </a:rPr>
              <a:t># Windows</a:t>
            </a:r>
            <a:endParaRPr lang="en-US" sz="1000" dirty="0"/>
          </a:p>
          <a:p>
            <a:pPr indent="0" marL="0">
              <a:lnSpc>
                <a:spcPct val="120000"/>
              </a:lnSpc>
              <a:buNone/>
            </a:pPr>
            <a:r>
              <a:rPr lang="en-US" sz="1000" dirty="0">
                <a:solidFill>
                  <a:srgbClr val="E9E4D9"/>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9C9689"/>
                </a:solidFill>
                <a:latin typeface="Courier New" pitchFamily="34" charset="0"/>
                <a:ea typeface="Courier New" pitchFamily="34" charset="-122"/>
                <a:cs typeface="Courier New" pitchFamily="34" charset="-120"/>
              </a:rPr>
              <a:t># 2. Se compara contra el registro. Si coincide con una de las tres,</a:t>
            </a:r>
            <a:endParaRPr lang="en-US" sz="1000" dirty="0"/>
          </a:p>
          <a:p>
            <a:pPr indent="0" marL="0">
              <a:lnSpc>
                <a:spcPct val="120000"/>
              </a:lnSpc>
              <a:buNone/>
            </a:pPr>
            <a:r>
              <a:rPr lang="en-US" sz="1000" dirty="0">
                <a:solidFill>
                  <a:srgbClr val="9C9689"/>
                </a:solidFill>
                <a:latin typeface="Courier New" pitchFamily="34" charset="0"/>
                <a:ea typeface="Courier New" pitchFamily="34" charset="-122"/>
                <a:cs typeface="Courier New" pitchFamily="34" charset="-120"/>
              </a:rPr>
              <a:t># el archivo es exactamente el que se registró.</a:t>
            </a:r>
            <a:endParaRPr lang="en-US" sz="1000" dirty="0"/>
          </a:p>
          <a:p>
            <a:pPr indent="0" marL="0">
              <a:lnSpc>
                <a:spcPct val="120000"/>
              </a:lnSpc>
              <a:buNone/>
            </a:pPr>
            <a:r>
              <a:rPr lang="en-US" sz="1000" dirty="0">
                <a:solidFill>
                  <a:srgbClr val="E9E4D9"/>
                </a:solidFill>
                <a:latin typeface="Courier New" pitchFamily="34" charset="0"/>
                <a:ea typeface="Courier New" pitchFamily="34" charset="-122"/>
                <a:cs typeface="Courier New" pitchFamily="34" charset="-120"/>
              </a:rPr>
              <a:t>files.original.sha256</a:t>
            </a:r>
            <a:endParaRPr lang="en-US" sz="1000" dirty="0"/>
          </a:p>
          <a:p>
            <a:pPr indent="0" marL="0">
              <a:lnSpc>
                <a:spcPct val="120000"/>
              </a:lnSpc>
              <a:buNone/>
            </a:pPr>
            <a:r>
              <a:rPr lang="en-US" sz="1000" dirty="0">
                <a:solidFill>
                  <a:srgbClr val="E9E4D9"/>
                </a:solidFill>
                <a:latin typeface="Courier New" pitchFamily="34" charset="0"/>
                <a:ea typeface="Courier New" pitchFamily="34" charset="-122"/>
                <a:cs typeface="Courier New" pitchFamily="34" charset="-120"/>
              </a:rPr>
              <a:t>files.certified.sha256</a:t>
            </a:r>
            <a:endParaRPr lang="en-US" sz="1000" dirty="0"/>
          </a:p>
          <a:p>
            <a:pPr indent="0" marL="0">
              <a:lnSpc>
                <a:spcPct val="120000"/>
              </a:lnSpc>
              <a:buNone/>
            </a:pPr>
            <a:r>
              <a:rPr lang="en-US" sz="1000" dirty="0">
                <a:solidFill>
                  <a:srgbClr val="E9E4D9"/>
                </a:solidFill>
                <a:latin typeface="Courier New" pitchFamily="34" charset="0"/>
                <a:ea typeface="Courier New" pitchFamily="34" charset="-122"/>
                <a:cs typeface="Courier New" pitchFamily="34" charset="-120"/>
              </a:rPr>
              <a:t>files.public_copy.sha256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84048"/>
            <a:ext cx="1051560" cy="548640"/>
          </a:xfrm>
          <a:prstGeom prst="rect">
            <a:avLst/>
          </a:prstGeom>
          <a:noFill/>
          <a:ln/>
        </p:spPr>
        <p:txBody>
          <a:bodyPr wrap="square" lIns="0" tIns="0" rIns="0" bIns="0" rtlCol="0" anchor="t"/>
          <a:lstStyle/>
          <a:p>
            <a:pPr indent="0" marL="0">
              <a:buNone/>
            </a:pPr>
            <a:r>
              <a:rPr lang="en-US" sz="800" spc="140" kern="0" dirty="0">
                <a:solidFill>
                  <a:srgbClr val="6B6559"/>
                </a:solidFill>
                <a:latin typeface="Courier New" pitchFamily="34" charset="0"/>
                <a:ea typeface="Courier New" pitchFamily="34" charset="-122"/>
                <a:cs typeface="Courier New" pitchFamily="34" charset="-120"/>
              </a:rPr>
              <a:t>SI HAY RESUMEN</a:t>
            </a:r>
            <a:endParaRPr lang="en-US" sz="800" dirty="0"/>
          </a:p>
        </p:txBody>
      </p:sp>
      <p:sp>
        <p:nvSpPr>
          <p:cNvPr id="3" name="Text 1"/>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El resumen AEGIS y la fecha demostrable</a:t>
            </a:r>
            <a:endParaRPr lang="en-US" sz="2600" dirty="0"/>
          </a:p>
        </p:txBody>
      </p:sp>
      <p:sp>
        <p:nvSpPr>
          <p:cNvPr id="4" name="Text 2"/>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Cuando varios documentos se agrupan, y cuando hace falta probar cuándo.</a:t>
            </a:r>
            <a:endParaRPr lang="en-US" sz="1200" dirty="0"/>
          </a:p>
        </p:txBody>
      </p:sp>
      <p:pic>
        <p:nvPicPr>
          <p:cNvPr id="5" name="Image 0" descr="/tmp/claude-0/-home-user-gea-module-0/05c86c8b-2f1b-52ff-8f50-3243e9e36b63/scratchpad/deck_img/07_resumen.png">    </p:cNvPr>
          <p:cNvPicPr>
            <a:picLocks noChangeAspect="1"/>
          </p:cNvPicPr>
          <p:nvPr/>
        </p:nvPicPr>
        <p:blipFill>
          <a:blip r:embed="rId1"/>
          <a:stretch>
            <a:fillRect/>
          </a:stretch>
        </p:blipFill>
        <p:spPr>
          <a:xfrm>
            <a:off x="502920" y="1280160"/>
            <a:ext cx="6858000" cy="4149671"/>
          </a:xfrm>
          <a:prstGeom prst="rect">
            <a:avLst/>
          </a:prstGeom>
        </p:spPr>
      </p:pic>
      <p:sp>
        <p:nvSpPr>
          <p:cNvPr id="6" name="Shape 3"/>
          <p:cNvSpPr/>
          <p:nvPr/>
        </p:nvSpPr>
        <p:spPr>
          <a:xfrm>
            <a:off x="502920" y="1280160"/>
            <a:ext cx="6858000" cy="4149671"/>
          </a:xfrm>
          <a:prstGeom prst="rect">
            <a:avLst/>
          </a:prstGeom>
          <a:ln w="9525">
            <a:solidFill>
              <a:srgbClr val="DED8CB"/>
            </a:solidFill>
            <a:prstDash val="solid"/>
          </a:ln>
        </p:spPr>
      </p:sp>
      <p:sp>
        <p:nvSpPr>
          <p:cNvPr id="7" name="Shape 4"/>
          <p:cNvSpPr/>
          <p:nvPr/>
        </p:nvSpPr>
        <p:spPr>
          <a:xfrm>
            <a:off x="2897734" y="3678255"/>
            <a:ext cx="2734285" cy="128016"/>
          </a:xfrm>
          <a:prstGeom prst="roundRect">
            <a:avLst>
              <a:gd name="adj" fmla="val 21429"/>
            </a:avLst>
          </a:prstGeom>
          <a:ln w="19050">
            <a:solidFill>
              <a:srgbClr val="9C7222"/>
            </a:solidFill>
            <a:prstDash val="solid"/>
          </a:ln>
        </p:spPr>
      </p:sp>
      <p:sp>
        <p:nvSpPr>
          <p:cNvPr id="8" name="Shape 5"/>
          <p:cNvSpPr/>
          <p:nvPr/>
        </p:nvSpPr>
        <p:spPr>
          <a:xfrm>
            <a:off x="2778862" y="3559383"/>
            <a:ext cx="237744" cy="237744"/>
          </a:xfrm>
          <a:prstGeom prst="ellipse">
            <a:avLst/>
          </a:prstGeom>
          <a:solidFill>
            <a:srgbClr val="9C7222"/>
          </a:solidFill>
          <a:ln w="12700">
            <a:solidFill>
              <a:srgbClr val="FFFFFF"/>
            </a:solidFill>
            <a:prstDash val="solid"/>
          </a:ln>
        </p:spPr>
      </p:sp>
      <p:sp>
        <p:nvSpPr>
          <p:cNvPr id="9" name="Text 6"/>
          <p:cNvSpPr txBox="1"/>
          <p:nvPr/>
        </p:nvSpPr>
        <p:spPr>
          <a:xfrm>
            <a:off x="2778862" y="3559383"/>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0" name="Shape 7"/>
          <p:cNvSpPr/>
          <p:nvPr/>
        </p:nvSpPr>
        <p:spPr>
          <a:xfrm>
            <a:off x="688772" y="3916446"/>
            <a:ext cx="773582" cy="174286"/>
          </a:xfrm>
          <a:prstGeom prst="roundRect">
            <a:avLst>
              <a:gd name="adj" fmla="val 15740"/>
            </a:avLst>
          </a:prstGeom>
          <a:ln w="19050">
            <a:solidFill>
              <a:srgbClr val="9C7222"/>
            </a:solidFill>
            <a:prstDash val="solid"/>
          </a:ln>
        </p:spPr>
      </p:sp>
      <p:sp>
        <p:nvSpPr>
          <p:cNvPr id="11" name="Shape 8"/>
          <p:cNvSpPr/>
          <p:nvPr/>
        </p:nvSpPr>
        <p:spPr>
          <a:xfrm>
            <a:off x="569900" y="3797574"/>
            <a:ext cx="237744" cy="237744"/>
          </a:xfrm>
          <a:prstGeom prst="ellipse">
            <a:avLst/>
          </a:prstGeom>
          <a:solidFill>
            <a:srgbClr val="9C7222"/>
          </a:solidFill>
          <a:ln w="12700">
            <a:solidFill>
              <a:srgbClr val="FFFFFF"/>
            </a:solidFill>
            <a:prstDash val="solid"/>
          </a:ln>
        </p:spPr>
      </p:sp>
      <p:sp>
        <p:nvSpPr>
          <p:cNvPr id="12" name="Text 9"/>
          <p:cNvSpPr txBox="1"/>
          <p:nvPr/>
        </p:nvSpPr>
        <p:spPr>
          <a:xfrm>
            <a:off x="569900" y="379757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3" name="Shape 10"/>
          <p:cNvSpPr/>
          <p:nvPr/>
        </p:nvSpPr>
        <p:spPr>
          <a:xfrm>
            <a:off x="820445" y="4692435"/>
            <a:ext cx="6222949" cy="400858"/>
          </a:xfrm>
          <a:prstGeom prst="roundRect">
            <a:avLst>
              <a:gd name="adj" fmla="val 6843"/>
            </a:avLst>
          </a:prstGeom>
          <a:ln w="19050">
            <a:solidFill>
              <a:srgbClr val="9C7222"/>
            </a:solidFill>
            <a:prstDash val="solid"/>
          </a:ln>
        </p:spPr>
      </p:sp>
      <p:sp>
        <p:nvSpPr>
          <p:cNvPr id="14" name="Shape 11"/>
          <p:cNvSpPr/>
          <p:nvPr/>
        </p:nvSpPr>
        <p:spPr>
          <a:xfrm>
            <a:off x="701573" y="4573563"/>
            <a:ext cx="237744" cy="237744"/>
          </a:xfrm>
          <a:prstGeom prst="ellipse">
            <a:avLst/>
          </a:prstGeom>
          <a:solidFill>
            <a:srgbClr val="9C7222"/>
          </a:solidFill>
          <a:ln w="12700">
            <a:solidFill>
              <a:srgbClr val="FFFFFF"/>
            </a:solidFill>
            <a:prstDash val="solid"/>
          </a:ln>
        </p:spPr>
      </p:sp>
      <p:sp>
        <p:nvSpPr>
          <p:cNvPr id="15" name="Text 12"/>
          <p:cNvSpPr txBox="1"/>
          <p:nvPr/>
        </p:nvSpPr>
        <p:spPr>
          <a:xfrm>
            <a:off x="701573" y="4573563"/>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3</a:t>
            </a:r>
            <a:endParaRPr lang="en-US" sz="900" dirty="0"/>
          </a:p>
        </p:txBody>
      </p:sp>
      <p:sp>
        <p:nvSpPr>
          <p:cNvPr id="16" name="Shape 13"/>
          <p:cNvSpPr/>
          <p:nvPr/>
        </p:nvSpPr>
        <p:spPr>
          <a:xfrm>
            <a:off x="7680960" y="1307592"/>
            <a:ext cx="219456" cy="219456"/>
          </a:xfrm>
          <a:prstGeom prst="ellipse">
            <a:avLst/>
          </a:prstGeom>
          <a:ln w="12700">
            <a:solidFill>
              <a:srgbClr val="9C7222"/>
            </a:solidFill>
            <a:prstDash val="solid"/>
          </a:ln>
        </p:spPr>
      </p:sp>
      <p:sp>
        <p:nvSpPr>
          <p:cNvPr id="17" name="Text 14"/>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8" name="Text 15"/>
          <p:cNvSpPr txBox="1"/>
          <p:nvPr/>
        </p:nvSpPr>
        <p:spPr>
          <a:xfrm>
            <a:off x="7991856" y="1280160"/>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Master hash. </a:t>
            </a:r>
            <a:pPr indent="0" marL="0">
              <a:buNone/>
            </a:pPr>
            <a:r>
              <a:rPr lang="en-US" sz="1050" dirty="0">
                <a:solidFill>
                  <a:srgbClr val="6B6559"/>
                </a:solidFill>
                <a:latin typeface="Calibri" pitchFamily="34" charset="0"/>
                <a:ea typeface="Calibri" pitchFamily="34" charset="-122"/>
                <a:cs typeface="Calibri" pitchFamily="34" charset="-120"/>
              </a:rPr>
              <a:t>Una sola cifra que se compromete con las huellas de todos los documentos del resumen.</a:t>
            </a:r>
            <a:endParaRPr lang="en-US" sz="1050" dirty="0"/>
          </a:p>
        </p:txBody>
      </p:sp>
      <p:sp>
        <p:nvSpPr>
          <p:cNvPr id="19" name="Shape 16"/>
          <p:cNvSpPr/>
          <p:nvPr/>
        </p:nvSpPr>
        <p:spPr>
          <a:xfrm>
            <a:off x="7680960" y="1903476"/>
            <a:ext cx="219456" cy="219456"/>
          </a:xfrm>
          <a:prstGeom prst="ellipse">
            <a:avLst/>
          </a:prstGeom>
          <a:ln w="12700">
            <a:solidFill>
              <a:srgbClr val="9C7222"/>
            </a:solidFill>
            <a:prstDash val="solid"/>
          </a:ln>
        </p:spPr>
      </p:sp>
      <p:sp>
        <p:nvSpPr>
          <p:cNvPr id="20" name="Text 17"/>
          <p:cNvSpPr txBox="1"/>
          <p:nvPr/>
        </p:nvSpPr>
        <p:spPr>
          <a:xfrm>
            <a:off x="7680960" y="1903476"/>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21" name="Text 18"/>
          <p:cNvSpPr txBox="1"/>
          <p:nvPr/>
        </p:nvSpPr>
        <p:spPr>
          <a:xfrm>
            <a:off x="7991856" y="1876044"/>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Timestamp anchor. </a:t>
            </a:r>
            <a:pPr indent="0" marL="0">
              <a:buNone/>
            </a:pPr>
            <a:r>
              <a:rPr lang="en-US" sz="1050" dirty="0">
                <a:solidFill>
                  <a:srgbClr val="6B6559"/>
                </a:solidFill>
                <a:latin typeface="Calibri" pitchFamily="34" charset="0"/>
                <a:ea typeface="Calibri" pitchFamily="34" charset="-122"/>
                <a:cs typeface="Calibri" pitchFamily="34" charset="-120"/>
              </a:rPr>
              <a:t>Lleva a la página del sello de tiempo, que es pública y no pide código.</a:t>
            </a:r>
            <a:endParaRPr lang="en-US" sz="1050" dirty="0"/>
          </a:p>
        </p:txBody>
      </p:sp>
      <p:sp>
        <p:nvSpPr>
          <p:cNvPr id="22" name="Shape 19"/>
          <p:cNvSpPr/>
          <p:nvPr/>
        </p:nvSpPr>
        <p:spPr>
          <a:xfrm>
            <a:off x="7680960" y="2499360"/>
            <a:ext cx="219456" cy="219456"/>
          </a:xfrm>
          <a:prstGeom prst="ellipse">
            <a:avLst/>
          </a:prstGeom>
          <a:ln w="12700">
            <a:solidFill>
              <a:srgbClr val="9C7222"/>
            </a:solidFill>
            <a:prstDash val="solid"/>
          </a:ln>
        </p:spPr>
      </p:sp>
      <p:sp>
        <p:nvSpPr>
          <p:cNvPr id="23" name="Text 20"/>
          <p:cNvSpPr txBox="1"/>
          <p:nvPr/>
        </p:nvSpPr>
        <p:spPr>
          <a:xfrm>
            <a:off x="7680960" y="249936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3</a:t>
            </a:r>
            <a:endParaRPr lang="en-US" sz="850" dirty="0"/>
          </a:p>
        </p:txBody>
      </p:sp>
      <p:sp>
        <p:nvSpPr>
          <p:cNvPr id="24" name="Text 21"/>
          <p:cNvSpPr txBox="1"/>
          <p:nvPr/>
        </p:nvSpPr>
        <p:spPr>
          <a:xfrm>
            <a:off x="7991856" y="2471928"/>
            <a:ext cx="3666744" cy="376428"/>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Los documentos agrupados, </a:t>
            </a:r>
            <a:pPr indent="0" marL="0">
              <a:buNone/>
            </a:pPr>
            <a:r>
              <a:rPr lang="en-US" sz="1050" dirty="0">
                <a:solidFill>
                  <a:srgbClr val="6B6559"/>
                </a:solidFill>
                <a:latin typeface="Calibri" pitchFamily="34" charset="0"/>
                <a:ea typeface="Calibri" pitchFamily="34" charset="-122"/>
                <a:cs typeface="Calibri" pitchFamily="34" charset="-120"/>
              </a:rPr>
              <a:t>cada uno con su código dentro del resumen (AEGIS-1, AEGIS-2…).</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84048"/>
            <a:ext cx="1051560" cy="548640"/>
          </a:xfrm>
          <a:prstGeom prst="rect">
            <a:avLst/>
          </a:prstGeom>
          <a:noFill/>
          <a:ln/>
        </p:spPr>
        <p:txBody>
          <a:bodyPr wrap="square" lIns="0" tIns="0" rIns="0" bIns="0" rtlCol="0" anchor="t"/>
          <a:lstStyle/>
          <a:p>
            <a:pPr indent="0" marL="0">
              <a:buNone/>
            </a:pPr>
            <a:r>
              <a:rPr lang="en-US" sz="800" spc="140" kern="0" dirty="0">
                <a:solidFill>
                  <a:srgbClr val="6B6559"/>
                </a:solidFill>
                <a:latin typeface="Courier New" pitchFamily="34" charset="0"/>
                <a:ea typeface="Courier New" pitchFamily="34" charset="-122"/>
                <a:cs typeface="Courier New" pitchFamily="34" charset="-120"/>
              </a:rPr>
              <a:t>SI HAY RESUMEN</a:t>
            </a:r>
            <a:endParaRPr lang="en-US" sz="800" dirty="0"/>
          </a:p>
        </p:txBody>
      </p:sp>
      <p:sp>
        <p:nvSpPr>
          <p:cNvPr id="3" name="Text 1"/>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El sello de tiempo, en su propia página</a:t>
            </a:r>
            <a:endParaRPr lang="en-US" sz="2600" dirty="0"/>
          </a:p>
        </p:txBody>
      </p:sp>
      <p:sp>
        <p:nvSpPr>
          <p:cNvPr id="4" name="Text 2"/>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Pública y sin código: es la que abre el QR impreso.</a:t>
            </a:r>
            <a:endParaRPr lang="en-US" sz="1200" dirty="0"/>
          </a:p>
        </p:txBody>
      </p:sp>
      <p:pic>
        <p:nvPicPr>
          <p:cNvPr id="5" name="Image 0" descr="/tmp/claude-0/-home-user-gea-module-0/05c86c8b-2f1b-52ff-8f50-3243e9e36b63/scratchpad/deck_img/08_anclaje.png">    </p:cNvPr>
          <p:cNvPicPr>
            <a:picLocks noChangeAspect="1"/>
          </p:cNvPicPr>
          <p:nvPr/>
        </p:nvPicPr>
        <p:blipFill>
          <a:blip r:embed="rId1"/>
          <a:stretch>
            <a:fillRect/>
          </a:stretch>
        </p:blipFill>
        <p:spPr>
          <a:xfrm>
            <a:off x="502920" y="1280160"/>
            <a:ext cx="4039538" cy="4837176"/>
          </a:xfrm>
          <a:prstGeom prst="rect">
            <a:avLst/>
          </a:prstGeom>
        </p:spPr>
      </p:pic>
      <p:sp>
        <p:nvSpPr>
          <p:cNvPr id="6" name="Shape 3"/>
          <p:cNvSpPr/>
          <p:nvPr/>
        </p:nvSpPr>
        <p:spPr>
          <a:xfrm>
            <a:off x="502920" y="1280160"/>
            <a:ext cx="4039538" cy="4837176"/>
          </a:xfrm>
          <a:prstGeom prst="rect">
            <a:avLst/>
          </a:prstGeom>
          <a:ln w="9525">
            <a:solidFill>
              <a:srgbClr val="DED8CB"/>
            </a:solidFill>
            <a:prstDash val="solid"/>
          </a:ln>
        </p:spPr>
      </p:sp>
      <p:sp>
        <p:nvSpPr>
          <p:cNvPr id="7" name="Shape 4"/>
          <p:cNvSpPr/>
          <p:nvPr/>
        </p:nvSpPr>
        <p:spPr>
          <a:xfrm>
            <a:off x="612391" y="2490905"/>
            <a:ext cx="3820595" cy="315384"/>
          </a:xfrm>
          <a:prstGeom prst="roundRect">
            <a:avLst>
              <a:gd name="adj" fmla="val 8698"/>
            </a:avLst>
          </a:prstGeom>
          <a:ln w="19050">
            <a:solidFill>
              <a:srgbClr val="9C7222"/>
            </a:solidFill>
            <a:prstDash val="solid"/>
          </a:ln>
        </p:spPr>
      </p:sp>
      <p:sp>
        <p:nvSpPr>
          <p:cNvPr id="8" name="Shape 5"/>
          <p:cNvSpPr/>
          <p:nvPr/>
        </p:nvSpPr>
        <p:spPr>
          <a:xfrm>
            <a:off x="493519" y="2372033"/>
            <a:ext cx="237744" cy="237744"/>
          </a:xfrm>
          <a:prstGeom prst="ellipse">
            <a:avLst/>
          </a:prstGeom>
          <a:solidFill>
            <a:srgbClr val="9C7222"/>
          </a:solidFill>
          <a:ln w="12700">
            <a:solidFill>
              <a:srgbClr val="FFFFFF"/>
            </a:solidFill>
            <a:prstDash val="solid"/>
          </a:ln>
        </p:spPr>
      </p:sp>
      <p:sp>
        <p:nvSpPr>
          <p:cNvPr id="9" name="Text 6"/>
          <p:cNvSpPr txBox="1"/>
          <p:nvPr/>
        </p:nvSpPr>
        <p:spPr>
          <a:xfrm>
            <a:off x="493519" y="2372033"/>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0" name="Shape 7"/>
          <p:cNvSpPr/>
          <p:nvPr/>
        </p:nvSpPr>
        <p:spPr>
          <a:xfrm>
            <a:off x="689951" y="3349020"/>
            <a:ext cx="1840818" cy="128016"/>
          </a:xfrm>
          <a:prstGeom prst="roundRect">
            <a:avLst>
              <a:gd name="adj" fmla="val 21429"/>
            </a:avLst>
          </a:prstGeom>
          <a:ln w="19050">
            <a:solidFill>
              <a:srgbClr val="9C7222"/>
            </a:solidFill>
            <a:prstDash val="solid"/>
          </a:ln>
        </p:spPr>
      </p:sp>
      <p:sp>
        <p:nvSpPr>
          <p:cNvPr id="11" name="Shape 8"/>
          <p:cNvSpPr/>
          <p:nvPr/>
        </p:nvSpPr>
        <p:spPr>
          <a:xfrm>
            <a:off x="571079" y="3230148"/>
            <a:ext cx="237744" cy="237744"/>
          </a:xfrm>
          <a:prstGeom prst="ellipse">
            <a:avLst/>
          </a:prstGeom>
          <a:solidFill>
            <a:srgbClr val="9C7222"/>
          </a:solidFill>
          <a:ln w="12700">
            <a:solidFill>
              <a:srgbClr val="FFFFFF"/>
            </a:solidFill>
            <a:prstDash val="solid"/>
          </a:ln>
        </p:spPr>
      </p:sp>
      <p:sp>
        <p:nvSpPr>
          <p:cNvPr id="12" name="Text 9"/>
          <p:cNvSpPr txBox="1"/>
          <p:nvPr/>
        </p:nvSpPr>
        <p:spPr>
          <a:xfrm>
            <a:off x="571079" y="323014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3" name="Shape 10"/>
          <p:cNvSpPr/>
          <p:nvPr/>
        </p:nvSpPr>
        <p:spPr>
          <a:xfrm>
            <a:off x="689951" y="4824843"/>
            <a:ext cx="3665477" cy="128016"/>
          </a:xfrm>
          <a:prstGeom prst="roundRect">
            <a:avLst>
              <a:gd name="adj" fmla="val 21429"/>
            </a:avLst>
          </a:prstGeom>
          <a:ln w="19050">
            <a:solidFill>
              <a:srgbClr val="9C7222"/>
            </a:solidFill>
            <a:prstDash val="solid"/>
          </a:ln>
        </p:spPr>
      </p:sp>
      <p:sp>
        <p:nvSpPr>
          <p:cNvPr id="14" name="Shape 11"/>
          <p:cNvSpPr/>
          <p:nvPr/>
        </p:nvSpPr>
        <p:spPr>
          <a:xfrm>
            <a:off x="571079" y="4705971"/>
            <a:ext cx="237744" cy="237744"/>
          </a:xfrm>
          <a:prstGeom prst="ellipse">
            <a:avLst/>
          </a:prstGeom>
          <a:solidFill>
            <a:srgbClr val="9C7222"/>
          </a:solidFill>
          <a:ln w="12700">
            <a:solidFill>
              <a:srgbClr val="FFFFFF"/>
            </a:solidFill>
            <a:prstDash val="solid"/>
          </a:ln>
        </p:spPr>
      </p:sp>
      <p:sp>
        <p:nvSpPr>
          <p:cNvPr id="15" name="Text 12"/>
          <p:cNvSpPr txBox="1"/>
          <p:nvPr/>
        </p:nvSpPr>
        <p:spPr>
          <a:xfrm>
            <a:off x="571079" y="4705971"/>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3</a:t>
            </a:r>
            <a:endParaRPr lang="en-US" sz="900" dirty="0"/>
          </a:p>
        </p:txBody>
      </p:sp>
      <p:sp>
        <p:nvSpPr>
          <p:cNvPr id="16" name="Shape 13"/>
          <p:cNvSpPr/>
          <p:nvPr/>
        </p:nvSpPr>
        <p:spPr>
          <a:xfrm>
            <a:off x="670561" y="5785989"/>
            <a:ext cx="925862" cy="128016"/>
          </a:xfrm>
          <a:prstGeom prst="roundRect">
            <a:avLst>
              <a:gd name="adj" fmla="val 21429"/>
            </a:avLst>
          </a:prstGeom>
          <a:ln w="19050">
            <a:solidFill>
              <a:srgbClr val="9C7222"/>
            </a:solidFill>
            <a:prstDash val="solid"/>
          </a:ln>
        </p:spPr>
      </p:sp>
      <p:sp>
        <p:nvSpPr>
          <p:cNvPr id="17" name="Shape 14"/>
          <p:cNvSpPr/>
          <p:nvPr/>
        </p:nvSpPr>
        <p:spPr>
          <a:xfrm>
            <a:off x="551689" y="5667117"/>
            <a:ext cx="237744" cy="237744"/>
          </a:xfrm>
          <a:prstGeom prst="ellipse">
            <a:avLst/>
          </a:prstGeom>
          <a:solidFill>
            <a:srgbClr val="9C7222"/>
          </a:solidFill>
          <a:ln w="12700">
            <a:solidFill>
              <a:srgbClr val="FFFFFF"/>
            </a:solidFill>
            <a:prstDash val="solid"/>
          </a:ln>
        </p:spPr>
      </p:sp>
      <p:sp>
        <p:nvSpPr>
          <p:cNvPr id="18" name="Text 15"/>
          <p:cNvSpPr txBox="1"/>
          <p:nvPr/>
        </p:nvSpPr>
        <p:spPr>
          <a:xfrm>
            <a:off x="551689" y="5667117"/>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4</a:t>
            </a:r>
            <a:endParaRPr lang="en-US" sz="900" dirty="0"/>
          </a:p>
        </p:txBody>
      </p:sp>
      <p:sp>
        <p:nvSpPr>
          <p:cNvPr id="19" name="Shape 16"/>
          <p:cNvSpPr/>
          <p:nvPr/>
        </p:nvSpPr>
        <p:spPr>
          <a:xfrm>
            <a:off x="7680960" y="1307592"/>
            <a:ext cx="219456" cy="219456"/>
          </a:xfrm>
          <a:prstGeom prst="ellipse">
            <a:avLst/>
          </a:prstGeom>
          <a:ln w="12700">
            <a:solidFill>
              <a:srgbClr val="9C7222"/>
            </a:solidFill>
            <a:prstDash val="solid"/>
          </a:ln>
        </p:spPr>
      </p:sp>
      <p:sp>
        <p:nvSpPr>
          <p:cNvPr id="20" name="Text 17"/>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21" name="Text 18"/>
          <p:cNvSpPr txBox="1"/>
          <p:nvPr/>
        </p:nvSpPr>
        <p:spPr>
          <a:xfrm>
            <a:off x="7991856" y="1280160"/>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El estado del sello de tiempo. </a:t>
            </a:r>
            <a:pPr indent="0" marL="0">
              <a:buNone/>
            </a:pPr>
            <a:r>
              <a:rPr lang="en-US" sz="1050" dirty="0">
                <a:solidFill>
                  <a:srgbClr val="6B6559"/>
                </a:solidFill>
                <a:latin typeface="Calibri" pitchFamily="34" charset="0"/>
                <a:ea typeface="Calibri" pitchFamily="34" charset="-122"/>
                <a:cs typeface="Calibri" pitchFamily="34" charset="-120"/>
              </a:rPr>
              <a:t>En el ejemplo: sellado, todavía sin confirmación externa. Esta página se actualiza sola conforme los anclajes maduran.</a:t>
            </a:r>
            <a:endParaRPr lang="en-US" sz="1050" dirty="0"/>
          </a:p>
        </p:txBody>
      </p:sp>
      <p:sp>
        <p:nvSpPr>
          <p:cNvPr id="22" name="Shape 19"/>
          <p:cNvSpPr/>
          <p:nvPr/>
        </p:nvSpPr>
        <p:spPr>
          <a:xfrm>
            <a:off x="7680960" y="2068830"/>
            <a:ext cx="219456" cy="219456"/>
          </a:xfrm>
          <a:prstGeom prst="ellipse">
            <a:avLst/>
          </a:prstGeom>
          <a:ln w="12700">
            <a:solidFill>
              <a:srgbClr val="9C7222"/>
            </a:solidFill>
            <a:prstDash val="solid"/>
          </a:ln>
        </p:spPr>
      </p:sp>
      <p:sp>
        <p:nvSpPr>
          <p:cNvPr id="23" name="Text 20"/>
          <p:cNvSpPr txBox="1"/>
          <p:nvPr/>
        </p:nvSpPr>
        <p:spPr>
          <a:xfrm>
            <a:off x="7680960" y="206883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24" name="Text 21"/>
          <p:cNvSpPr txBox="1"/>
          <p:nvPr/>
        </p:nvSpPr>
        <p:spPr>
          <a:xfrm>
            <a:off x="7991856" y="2041398"/>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El master hash, y los bytes exactos que se firmaron. </a:t>
            </a:r>
            <a:pPr indent="0" marL="0">
              <a:buNone/>
            </a:pPr>
            <a:r>
              <a:rPr lang="en-US" sz="1050" dirty="0">
                <a:solidFill>
                  <a:srgbClr val="6B6559"/>
                </a:solidFill>
                <a:latin typeface="Calibri" pitchFamily="34" charset="0"/>
                <a:ea typeface="Calibri" pitchFamily="34" charset="-122"/>
                <a:cs typeface="Calibri" pitchFamily="34" charset="-120"/>
              </a:rPr>
              <a:t>Se pueden descargar para recalcularlo por su cuenta.</a:t>
            </a:r>
            <a:endParaRPr lang="en-US" sz="1050" dirty="0"/>
          </a:p>
        </p:txBody>
      </p:sp>
      <p:sp>
        <p:nvSpPr>
          <p:cNvPr id="25" name="Shape 22"/>
          <p:cNvSpPr/>
          <p:nvPr/>
        </p:nvSpPr>
        <p:spPr>
          <a:xfrm>
            <a:off x="7680960" y="2830068"/>
            <a:ext cx="219456" cy="219456"/>
          </a:xfrm>
          <a:prstGeom prst="ellipse">
            <a:avLst/>
          </a:prstGeom>
          <a:ln w="12700">
            <a:solidFill>
              <a:srgbClr val="9C7222"/>
            </a:solidFill>
            <a:prstDash val="solid"/>
          </a:ln>
        </p:spPr>
      </p:sp>
      <p:sp>
        <p:nvSpPr>
          <p:cNvPr id="26" name="Text 23"/>
          <p:cNvSpPr txBox="1"/>
          <p:nvPr/>
        </p:nvSpPr>
        <p:spPr>
          <a:xfrm>
            <a:off x="7680960" y="2830068"/>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3</a:t>
            </a:r>
            <a:endParaRPr lang="en-US" sz="850" dirty="0"/>
          </a:p>
        </p:txBody>
      </p:sp>
      <p:sp>
        <p:nvSpPr>
          <p:cNvPr id="27" name="Text 24"/>
          <p:cNvSpPr txBox="1"/>
          <p:nvPr/>
        </p:nvSpPr>
        <p:spPr>
          <a:xfrm>
            <a:off x="7991856" y="2802636"/>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Los anclajes. </a:t>
            </a:r>
            <a:pPr indent="0" marL="0">
              <a:buNone/>
            </a:pPr>
            <a:r>
              <a:rPr lang="en-US" sz="1050" dirty="0">
                <a:solidFill>
                  <a:srgbClr val="6B6559"/>
                </a:solidFill>
                <a:latin typeface="Calibri" pitchFamily="34" charset="0"/>
                <a:ea typeface="Calibri" pitchFamily="34" charset="-122"/>
                <a:cs typeface="Calibri" pitchFamily="34" charset="-120"/>
              </a:rPr>
              <a:t>El sello RFC 3161 es inmediato; el de la cadena de bloques tarda horas en confirmarse. Aparecen aquí a medida que llegan.</a:t>
            </a:r>
            <a:endParaRPr lang="en-US" sz="1050" dirty="0"/>
          </a:p>
        </p:txBody>
      </p:sp>
      <p:sp>
        <p:nvSpPr>
          <p:cNvPr id="28" name="Shape 25"/>
          <p:cNvSpPr/>
          <p:nvPr/>
        </p:nvSpPr>
        <p:spPr>
          <a:xfrm>
            <a:off x="7680960" y="3591306"/>
            <a:ext cx="219456" cy="219456"/>
          </a:xfrm>
          <a:prstGeom prst="ellipse">
            <a:avLst/>
          </a:prstGeom>
          <a:ln w="12700">
            <a:solidFill>
              <a:srgbClr val="9C7222"/>
            </a:solidFill>
            <a:prstDash val="solid"/>
          </a:ln>
        </p:spPr>
      </p:sp>
      <p:sp>
        <p:nvSpPr>
          <p:cNvPr id="29" name="Text 26"/>
          <p:cNvSpPr txBox="1"/>
          <p:nvPr/>
        </p:nvSpPr>
        <p:spPr>
          <a:xfrm>
            <a:off x="7680960" y="3591306"/>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4</a:t>
            </a:r>
            <a:endParaRPr lang="en-US" sz="850" dirty="0"/>
          </a:p>
        </p:txBody>
      </p:sp>
      <p:sp>
        <p:nvSpPr>
          <p:cNvPr id="30" name="Text 27"/>
          <p:cNvSpPr txBox="1"/>
          <p:nvPr/>
        </p:nvSpPr>
        <p:spPr>
          <a:xfrm>
            <a:off x="7991856" y="3563874"/>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Qué prueba y qué no. </a:t>
            </a:r>
            <a:pPr indent="0" marL="0">
              <a:buNone/>
            </a:pPr>
            <a:r>
              <a:rPr lang="en-US" sz="1050" dirty="0">
                <a:solidFill>
                  <a:srgbClr val="6B6559"/>
                </a:solidFill>
                <a:latin typeface="Calibri" pitchFamily="34" charset="0"/>
                <a:ea typeface="Calibri" pitchFamily="34" charset="-122"/>
                <a:cs typeface="Calibri" pitchFamily="34" charset="-120"/>
              </a:rPr>
              <a:t>Prueba CUÁNDO existió ese contenido. Que sea cierto lo que los documentos afirman no lo prueba esto, ni nada de esta página.</a:t>
            </a:r>
            <a:endParaRPr lang="en-US" sz="1050" dirty="0"/>
          </a:p>
        </p:txBody>
      </p:sp>
      <p:sp>
        <p:nvSpPr>
          <p:cNvPr id="31" name="Text 28"/>
          <p:cNvSpPr txBox="1"/>
          <p:nvPr/>
        </p:nvSpPr>
        <p:spPr>
          <a:xfrm>
            <a:off x="502920" y="6190488"/>
            <a:ext cx="4039538" cy="219456"/>
          </a:xfrm>
          <a:prstGeom prst="rect">
            <a:avLst/>
          </a:prstGeom>
          <a:noFill/>
          <a:ln/>
        </p:spPr>
        <p:txBody>
          <a:bodyPr wrap="square" lIns="0" tIns="0" rIns="0" bIns="0" rtlCol="0" anchor="t"/>
          <a:lstStyle/>
          <a:p>
            <a:pPr indent="0" marL="0">
              <a:buNone/>
            </a:pPr>
            <a:r>
              <a:rPr lang="en-US" sz="800" dirty="0">
                <a:solidFill>
                  <a:srgbClr val="6B6559"/>
                </a:solidFill>
                <a:latin typeface="Courier New" pitchFamily="34" charset="0"/>
                <a:ea typeface="Courier New" pitchFamily="34" charset="-122"/>
                <a:cs typeface="Courier New" pitchFamily="34" charset="-120"/>
              </a:rPr>
              <a:t>/verify/aegis/summary//anchor/ — página pública, sin código</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84048"/>
            <a:ext cx="1051560" cy="548640"/>
          </a:xfrm>
          <a:prstGeom prst="rect">
            <a:avLst/>
          </a:prstGeom>
          <a:noFill/>
          <a:ln/>
        </p:spPr>
        <p:txBody>
          <a:bodyPr wrap="square" lIns="0" tIns="0" rIns="0" bIns="0" rtlCol="0" anchor="t"/>
          <a:lstStyle/>
          <a:p>
            <a:pPr indent="0" marL="0">
              <a:buNone/>
            </a:pPr>
            <a:r>
              <a:rPr lang="en-US" sz="800" spc="140" kern="0" dirty="0">
                <a:solidFill>
                  <a:srgbClr val="6B6559"/>
                </a:solidFill>
                <a:latin typeface="Courier New" pitchFamily="34" charset="0"/>
                <a:ea typeface="Courier New" pitchFamily="34" charset="-122"/>
                <a:cs typeface="Courier New" pitchFamily="34" charset="-120"/>
              </a:rPr>
              <a:t>EL OTRO PORTAL</a:t>
            </a:r>
            <a:endParaRPr lang="en-US" sz="800" dirty="0"/>
          </a:p>
        </p:txBody>
      </p:sp>
      <p:sp>
        <p:nvSpPr>
          <p:cNvPr id="3" name="Text 1"/>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Comprobar a la persona, no al papel</a:t>
            </a:r>
            <a:endParaRPr lang="en-US" sz="2600" dirty="0"/>
          </a:p>
        </p:txBody>
      </p:sp>
      <p:sp>
        <p:nvSpPr>
          <p:cNvPr id="4" name="Text 2"/>
          <p:cNvSpPr txBox="1"/>
          <p:nvPr/>
        </p:nvSpPr>
        <p:spPr>
          <a:xfrm>
            <a:off x="1645920" y="841248"/>
            <a:ext cx="10012680" cy="274320"/>
          </a:xfrm>
          <a:prstGeom prst="rect">
            <a:avLst/>
          </a:prstGeom>
          <a:noFill/>
          <a:ln/>
        </p:spPr>
        <p:txBody>
          <a:bodyPr wrap="square" lIns="0" tIns="0" rIns="0" bIns="0" rtlCol="0" anchor="t"/>
          <a:lstStyle/>
          <a:p>
            <a:pPr indent="0" marL="0">
              <a:buNone/>
            </a:pPr>
            <a:r>
              <a:rPr lang="en-US" sz="1200" dirty="0">
                <a:solidFill>
                  <a:srgbClr val="6B6559"/>
                </a:solidFill>
                <a:latin typeface="Calibri" pitchFamily="34" charset="0"/>
                <a:ea typeface="Calibri" pitchFamily="34" charset="-122"/>
                <a:cs typeface="Calibri" pitchFamily="34" charset="-120"/>
              </a:rPr>
              <a:t>Para cuando alguien dice actuar en nombre del despacho.</a:t>
            </a:r>
            <a:endParaRPr lang="en-US" sz="1200" dirty="0"/>
          </a:p>
        </p:txBody>
      </p:sp>
      <p:pic>
        <p:nvPicPr>
          <p:cNvPr id="5" name="Image 0" descr="/tmp/claude-0/-home-user-gea-module-0/05c86c8b-2f1b-52ff-8f50-3243e9e36b63/scratchpad/deck_img/10_personas_detalle.png">    </p:cNvPr>
          <p:cNvPicPr>
            <a:picLocks noChangeAspect="1"/>
          </p:cNvPicPr>
          <p:nvPr/>
        </p:nvPicPr>
        <p:blipFill>
          <a:blip r:embed="rId1"/>
          <a:stretch>
            <a:fillRect/>
          </a:stretch>
        </p:blipFill>
        <p:spPr>
          <a:xfrm>
            <a:off x="502920" y="1280160"/>
            <a:ext cx="5507857" cy="5166360"/>
          </a:xfrm>
          <a:prstGeom prst="rect">
            <a:avLst/>
          </a:prstGeom>
        </p:spPr>
      </p:pic>
      <p:sp>
        <p:nvSpPr>
          <p:cNvPr id="6" name="Shape 3"/>
          <p:cNvSpPr/>
          <p:nvPr/>
        </p:nvSpPr>
        <p:spPr>
          <a:xfrm>
            <a:off x="502920" y="1280160"/>
            <a:ext cx="5507857" cy="5166360"/>
          </a:xfrm>
          <a:prstGeom prst="rect">
            <a:avLst/>
          </a:prstGeom>
          <a:ln w="9525">
            <a:solidFill>
              <a:srgbClr val="DED8CB"/>
            </a:solidFill>
            <a:prstDash val="solid"/>
          </a:ln>
        </p:spPr>
      </p:sp>
      <p:sp>
        <p:nvSpPr>
          <p:cNvPr id="7" name="Shape 4"/>
          <p:cNvSpPr/>
          <p:nvPr/>
        </p:nvSpPr>
        <p:spPr>
          <a:xfrm>
            <a:off x="2386056" y="3193780"/>
            <a:ext cx="3590572" cy="128016"/>
          </a:xfrm>
          <a:prstGeom prst="roundRect">
            <a:avLst>
              <a:gd name="adj" fmla="val 21429"/>
            </a:avLst>
          </a:prstGeom>
          <a:ln w="19050">
            <a:solidFill>
              <a:srgbClr val="9C7222"/>
            </a:solidFill>
            <a:prstDash val="solid"/>
          </a:ln>
        </p:spPr>
      </p:sp>
      <p:sp>
        <p:nvSpPr>
          <p:cNvPr id="8" name="Shape 5"/>
          <p:cNvSpPr/>
          <p:nvPr/>
        </p:nvSpPr>
        <p:spPr>
          <a:xfrm>
            <a:off x="2267184" y="3074908"/>
            <a:ext cx="237744" cy="237744"/>
          </a:xfrm>
          <a:prstGeom prst="ellipse">
            <a:avLst/>
          </a:prstGeom>
          <a:solidFill>
            <a:srgbClr val="9C7222"/>
          </a:solidFill>
          <a:ln w="12700">
            <a:solidFill>
              <a:srgbClr val="FFFFFF"/>
            </a:solidFill>
            <a:prstDash val="solid"/>
          </a:ln>
        </p:spPr>
      </p:sp>
      <p:sp>
        <p:nvSpPr>
          <p:cNvPr id="9" name="Text 6"/>
          <p:cNvSpPr txBox="1"/>
          <p:nvPr/>
        </p:nvSpPr>
        <p:spPr>
          <a:xfrm>
            <a:off x="2267184" y="307490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0" name="Shape 7"/>
          <p:cNvSpPr/>
          <p:nvPr/>
        </p:nvSpPr>
        <p:spPr>
          <a:xfrm>
            <a:off x="2386056" y="4525667"/>
            <a:ext cx="3590572" cy="512503"/>
          </a:xfrm>
          <a:prstGeom prst="roundRect">
            <a:avLst>
              <a:gd name="adj" fmla="val 5353"/>
            </a:avLst>
          </a:prstGeom>
          <a:ln w="19050">
            <a:solidFill>
              <a:srgbClr val="9C7222"/>
            </a:solidFill>
            <a:prstDash val="solid"/>
          </a:ln>
        </p:spPr>
      </p:sp>
      <p:sp>
        <p:nvSpPr>
          <p:cNvPr id="11" name="Shape 8"/>
          <p:cNvSpPr/>
          <p:nvPr/>
        </p:nvSpPr>
        <p:spPr>
          <a:xfrm>
            <a:off x="2267184" y="4406795"/>
            <a:ext cx="237744" cy="237744"/>
          </a:xfrm>
          <a:prstGeom prst="ellipse">
            <a:avLst/>
          </a:prstGeom>
          <a:solidFill>
            <a:srgbClr val="9C7222"/>
          </a:solidFill>
          <a:ln w="12700">
            <a:solidFill>
              <a:srgbClr val="FFFFFF"/>
            </a:solidFill>
            <a:prstDash val="solid"/>
          </a:ln>
        </p:spPr>
      </p:sp>
      <p:sp>
        <p:nvSpPr>
          <p:cNvPr id="12" name="Text 9"/>
          <p:cNvSpPr txBox="1"/>
          <p:nvPr/>
        </p:nvSpPr>
        <p:spPr>
          <a:xfrm>
            <a:off x="2267184" y="4406795"/>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3" name="Shape 10"/>
          <p:cNvSpPr/>
          <p:nvPr/>
        </p:nvSpPr>
        <p:spPr>
          <a:xfrm>
            <a:off x="2469225" y="5258257"/>
            <a:ext cx="3424785" cy="128016"/>
          </a:xfrm>
          <a:prstGeom prst="roundRect">
            <a:avLst>
              <a:gd name="adj" fmla="val 21429"/>
            </a:avLst>
          </a:prstGeom>
          <a:ln w="19050">
            <a:solidFill>
              <a:srgbClr val="9C7222"/>
            </a:solidFill>
            <a:prstDash val="solid"/>
          </a:ln>
        </p:spPr>
      </p:sp>
      <p:sp>
        <p:nvSpPr>
          <p:cNvPr id="14" name="Shape 11"/>
          <p:cNvSpPr/>
          <p:nvPr/>
        </p:nvSpPr>
        <p:spPr>
          <a:xfrm>
            <a:off x="2350353" y="5139385"/>
            <a:ext cx="237744" cy="237744"/>
          </a:xfrm>
          <a:prstGeom prst="ellipse">
            <a:avLst/>
          </a:prstGeom>
          <a:solidFill>
            <a:srgbClr val="9C7222"/>
          </a:solidFill>
          <a:ln w="12700">
            <a:solidFill>
              <a:srgbClr val="FFFFFF"/>
            </a:solidFill>
            <a:prstDash val="solid"/>
          </a:ln>
        </p:spPr>
      </p:sp>
      <p:sp>
        <p:nvSpPr>
          <p:cNvPr id="15" name="Text 12"/>
          <p:cNvSpPr txBox="1"/>
          <p:nvPr/>
        </p:nvSpPr>
        <p:spPr>
          <a:xfrm>
            <a:off x="2350353" y="5139385"/>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3</a:t>
            </a:r>
            <a:endParaRPr lang="en-US" sz="900" dirty="0"/>
          </a:p>
        </p:txBody>
      </p:sp>
      <p:sp>
        <p:nvSpPr>
          <p:cNvPr id="16" name="Shape 13"/>
          <p:cNvSpPr/>
          <p:nvPr/>
        </p:nvSpPr>
        <p:spPr>
          <a:xfrm>
            <a:off x="7680960" y="1307592"/>
            <a:ext cx="219456" cy="219456"/>
          </a:xfrm>
          <a:prstGeom prst="ellipse">
            <a:avLst/>
          </a:prstGeom>
          <a:ln w="12700">
            <a:solidFill>
              <a:srgbClr val="9C7222"/>
            </a:solidFill>
            <a:prstDash val="solid"/>
          </a:ln>
        </p:spPr>
      </p:sp>
      <p:sp>
        <p:nvSpPr>
          <p:cNvPr id="17" name="Text 14"/>
          <p:cNvSpPr txBox="1"/>
          <p:nvPr/>
        </p:nvSpPr>
        <p:spPr>
          <a:xfrm>
            <a:off x="7680960" y="1307592"/>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1</a:t>
            </a:r>
            <a:endParaRPr lang="en-US" sz="850" dirty="0"/>
          </a:p>
        </p:txBody>
      </p:sp>
      <p:sp>
        <p:nvSpPr>
          <p:cNvPr id="18" name="Text 15"/>
          <p:cNvSpPr txBox="1"/>
          <p:nvPr/>
        </p:nvSpPr>
        <p:spPr>
          <a:xfrm>
            <a:off x="7991856" y="1280160"/>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El documento sale enmascarado. </a:t>
            </a:r>
            <a:pPr indent="0" marL="0">
              <a:buNone/>
            </a:pPr>
            <a:r>
              <a:rPr lang="en-US" sz="1050" dirty="0">
                <a:solidFill>
                  <a:srgbClr val="6B6559"/>
                </a:solidFill>
                <a:latin typeface="Calibri" pitchFamily="34" charset="0"/>
                <a:ea typeface="Calibri" pitchFamily="34" charset="-122"/>
                <a:cs typeface="Calibri" pitchFamily="34" charset="-120"/>
              </a:rPr>
              <a:t>Sólo las últimas cifras. Confirma a quien ya tiene la credencial delante, sin publicar el número entero.</a:t>
            </a:r>
            <a:endParaRPr lang="en-US" sz="1050" dirty="0"/>
          </a:p>
        </p:txBody>
      </p:sp>
      <p:sp>
        <p:nvSpPr>
          <p:cNvPr id="19" name="Shape 16"/>
          <p:cNvSpPr/>
          <p:nvPr/>
        </p:nvSpPr>
        <p:spPr>
          <a:xfrm>
            <a:off x="7680960" y="2068830"/>
            <a:ext cx="219456" cy="219456"/>
          </a:xfrm>
          <a:prstGeom prst="ellipse">
            <a:avLst/>
          </a:prstGeom>
          <a:ln w="12700">
            <a:solidFill>
              <a:srgbClr val="9C7222"/>
            </a:solidFill>
            <a:prstDash val="solid"/>
          </a:ln>
        </p:spPr>
      </p:sp>
      <p:sp>
        <p:nvSpPr>
          <p:cNvPr id="20" name="Text 17"/>
          <p:cNvSpPr txBox="1"/>
          <p:nvPr/>
        </p:nvSpPr>
        <p:spPr>
          <a:xfrm>
            <a:off x="7680960" y="2068830"/>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2</a:t>
            </a:r>
            <a:endParaRPr lang="en-US" sz="850" dirty="0"/>
          </a:p>
        </p:txBody>
      </p:sp>
      <p:sp>
        <p:nvSpPr>
          <p:cNvPr id="21" name="Text 18"/>
          <p:cNvSpPr txBox="1"/>
          <p:nvPr/>
        </p:nvSpPr>
        <p:spPr>
          <a:xfrm>
            <a:off x="7991856" y="2041398"/>
            <a:ext cx="3666744" cy="541782"/>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El código de barras </a:t>
            </a:r>
            <a:pPr indent="0" marL="0">
              <a:buNone/>
            </a:pPr>
            <a:r>
              <a:rPr lang="en-US" sz="1050" dirty="0">
                <a:solidFill>
                  <a:srgbClr val="6B6559"/>
                </a:solidFill>
                <a:latin typeface="Calibri" pitchFamily="34" charset="0"/>
                <a:ea typeface="Calibri" pitchFamily="34" charset="-122"/>
                <a:cs typeface="Calibri" pitchFamily="34" charset="-120"/>
              </a:rPr>
              <a:t>lleva la dirección de esta misma página: es la que abre el QR de la credencial física.</a:t>
            </a:r>
            <a:endParaRPr lang="en-US" sz="1050" dirty="0"/>
          </a:p>
        </p:txBody>
      </p:sp>
      <p:sp>
        <p:nvSpPr>
          <p:cNvPr id="22" name="Shape 19"/>
          <p:cNvSpPr/>
          <p:nvPr/>
        </p:nvSpPr>
        <p:spPr>
          <a:xfrm>
            <a:off x="7680960" y="2830068"/>
            <a:ext cx="219456" cy="219456"/>
          </a:xfrm>
          <a:prstGeom prst="ellipse">
            <a:avLst/>
          </a:prstGeom>
          <a:ln w="12700">
            <a:solidFill>
              <a:srgbClr val="9C7222"/>
            </a:solidFill>
            <a:prstDash val="solid"/>
          </a:ln>
        </p:spPr>
      </p:sp>
      <p:sp>
        <p:nvSpPr>
          <p:cNvPr id="23" name="Text 20"/>
          <p:cNvSpPr txBox="1"/>
          <p:nvPr/>
        </p:nvSpPr>
        <p:spPr>
          <a:xfrm>
            <a:off x="7680960" y="2830068"/>
            <a:ext cx="219456" cy="219456"/>
          </a:xfrm>
          <a:prstGeom prst="rect">
            <a:avLst/>
          </a:prstGeom>
          <a:noFill/>
          <a:ln/>
        </p:spPr>
        <p:txBody>
          <a:bodyPr wrap="square" lIns="0" tIns="0" rIns="0" bIns="0" rtlCol="0" anchor="ctr"/>
          <a:lstStyle/>
          <a:p>
            <a:pPr algn="ctr" indent="0" marL="0">
              <a:buNone/>
            </a:pPr>
            <a:r>
              <a:rPr lang="en-US" sz="850" dirty="0">
                <a:solidFill>
                  <a:srgbClr val="9C7222"/>
                </a:solidFill>
                <a:latin typeface="Courier New" pitchFamily="34" charset="0"/>
                <a:ea typeface="Courier New" pitchFamily="34" charset="-122"/>
                <a:cs typeface="Courier New" pitchFamily="34" charset="-120"/>
              </a:rPr>
              <a:t>3</a:t>
            </a:r>
            <a:endParaRPr lang="en-US" sz="850" dirty="0"/>
          </a:p>
        </p:txBody>
      </p:sp>
      <p:sp>
        <p:nvSpPr>
          <p:cNvPr id="24" name="Text 21"/>
          <p:cNvSpPr txBox="1"/>
          <p:nvPr/>
        </p:nvSpPr>
        <p:spPr>
          <a:xfrm>
            <a:off x="7991856" y="2802636"/>
            <a:ext cx="3666744" cy="707136"/>
          </a:xfrm>
          <a:prstGeom prst="rect">
            <a:avLst/>
          </a:prstGeom>
          <a:noFill/>
          <a:ln/>
        </p:spPr>
        <p:txBody>
          <a:bodyPr wrap="square" lIns="0" tIns="0" rIns="0" bIns="0" rtlCol="0" anchor="t"/>
          <a:lstStyle/>
          <a:p>
            <a:pPr indent="0" marL="0">
              <a:buNone/>
            </a:pPr>
            <a:r>
              <a:rPr lang="en-US" sz="1050" b="1" dirty="0">
                <a:solidFill>
                  <a:srgbClr val="12203A"/>
                </a:solidFill>
                <a:latin typeface="Calibri" pitchFamily="34" charset="0"/>
                <a:ea typeface="Calibri" pitchFamily="34" charset="-122"/>
                <a:cs typeface="Calibri" pitchFamily="34" charset="-120"/>
              </a:rPr>
              <a:t>Approved and Valid. </a:t>
            </a:r>
            <a:pPr indent="0" marL="0">
              <a:buNone/>
            </a:pPr>
            <a:r>
              <a:rPr lang="en-US" sz="1050" dirty="0">
                <a:solidFill>
                  <a:srgbClr val="6B6559"/>
                </a:solidFill>
                <a:latin typeface="Calibri" pitchFamily="34" charset="0"/>
                <a:ea typeface="Calibri" pitchFamily="34" charset="-122"/>
                <a:cs typeface="Calibri" pitchFamily="34" charset="-120"/>
              </a:rPr>
              <a:t>Es el estado de hoy. Si la persona deja la organización, esta página deja de decirlo — la credencial impresa no se entera, esta página sí.</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3"/>
        </a:solidFill>
      </p:bgPr>
    </p:bg>
    <p:spTree>
      <p:nvGrpSpPr>
        <p:cNvPr id="1" name=""/>
        <p:cNvGrpSpPr/>
        <p:nvPr/>
      </p:nvGrpSpPr>
      <p:grpSpPr>
        <a:xfrm>
          <a:off x="0" y="0"/>
          <a:ext cx="0" cy="0"/>
          <a:chOff x="0" y="0"/>
          <a:chExt cx="0" cy="0"/>
        </a:xfrm>
      </p:grpSpPr>
      <p:sp>
        <p:nvSpPr>
          <p:cNvPr id="2" name="Text 0"/>
          <p:cNvSpPr txBox="1"/>
          <p:nvPr/>
        </p:nvSpPr>
        <p:spPr>
          <a:xfrm>
            <a:off x="502920" y="384048"/>
            <a:ext cx="1051560" cy="548640"/>
          </a:xfrm>
          <a:prstGeom prst="rect">
            <a:avLst/>
          </a:prstGeom>
          <a:noFill/>
          <a:ln/>
        </p:spPr>
        <p:txBody>
          <a:bodyPr wrap="square" lIns="0" tIns="0" rIns="0" bIns="0" rtlCol="0" anchor="t"/>
          <a:lstStyle/>
          <a:p>
            <a:pPr indent="0" marL="0">
              <a:buNone/>
            </a:pPr>
            <a:r>
              <a:rPr lang="en-US" sz="800" spc="140" kern="0" dirty="0">
                <a:solidFill>
                  <a:srgbClr val="6B6559"/>
                </a:solidFill>
                <a:latin typeface="Courier New" pitchFamily="34" charset="0"/>
                <a:ea typeface="Courier New" pitchFamily="34" charset="-122"/>
                <a:cs typeface="Courier New" pitchFamily="34" charset="-120"/>
              </a:rPr>
              <a:t>PARA TENER A MANO</a:t>
            </a:r>
            <a:endParaRPr lang="en-US" sz="800" dirty="0"/>
          </a:p>
        </p:txBody>
      </p:sp>
      <p:sp>
        <p:nvSpPr>
          <p:cNvPr id="3" name="Text 1"/>
          <p:cNvSpPr txBox="1"/>
          <p:nvPr/>
        </p:nvSpPr>
        <p:spPr>
          <a:xfrm>
            <a:off x="1645920" y="310896"/>
            <a:ext cx="10012680" cy="502920"/>
          </a:xfrm>
          <a:prstGeom prst="rect">
            <a:avLst/>
          </a:prstGeom>
          <a:noFill/>
          <a:ln/>
        </p:spPr>
        <p:txBody>
          <a:bodyPr wrap="square" lIns="0" tIns="0" rIns="0" bIns="0" rtlCol="0" anchor="t"/>
          <a:lstStyle/>
          <a:p>
            <a:pPr indent="0" marL="0">
              <a:buNone/>
            </a:pPr>
            <a:r>
              <a:rPr lang="en-US" sz="2600" b="1" dirty="0">
                <a:solidFill>
                  <a:srgbClr val="12203A"/>
                </a:solidFill>
                <a:latin typeface="Cambria" pitchFamily="34" charset="0"/>
                <a:ea typeface="Cambria" pitchFamily="34" charset="-122"/>
                <a:cs typeface="Cambria" pitchFamily="34" charset="-120"/>
              </a:rPr>
              <a:t>Qué se comparte, y qué no</a:t>
            </a:r>
            <a:endParaRPr lang="en-US" sz="2600" dirty="0"/>
          </a:p>
        </p:txBody>
      </p:sp>
      <p:sp>
        <p:nvSpPr>
          <p:cNvPr id="4" name="Text 2"/>
          <p:cNvSpPr txBox="1"/>
          <p:nvPr/>
        </p:nvSpPr>
        <p:spPr>
          <a:xfrm>
            <a:off x="502920" y="1024128"/>
            <a:ext cx="3346704" cy="274320"/>
          </a:xfrm>
          <a:prstGeom prst="rect">
            <a:avLst/>
          </a:prstGeom>
          <a:noFill/>
          <a:ln/>
        </p:spPr>
        <p:txBody>
          <a:bodyPr wrap="square" lIns="0" tIns="0" rIns="0" bIns="0" rtlCol="0" anchor="ctr"/>
          <a:lstStyle/>
          <a:p>
            <a:pPr indent="0" marL="0">
              <a:buNone/>
            </a:pPr>
            <a:r>
              <a:rPr lang="en-US" sz="800" spc="120" kern="0" dirty="0">
                <a:solidFill>
                  <a:srgbClr val="6B6559"/>
                </a:solidFill>
                <a:latin typeface="Courier New" pitchFamily="34" charset="0"/>
                <a:ea typeface="Courier New" pitchFamily="34" charset="-122"/>
                <a:cs typeface="Courier New" pitchFamily="34" charset="-120"/>
              </a:rPr>
              <a:t>QUÉ</a:t>
            </a:r>
            <a:endParaRPr lang="en-US" sz="800" dirty="0"/>
          </a:p>
        </p:txBody>
      </p:sp>
      <p:sp>
        <p:nvSpPr>
          <p:cNvPr id="5" name="Text 3"/>
          <p:cNvSpPr txBox="1"/>
          <p:nvPr/>
        </p:nvSpPr>
        <p:spPr>
          <a:xfrm>
            <a:off x="3849624" y="1024128"/>
            <a:ext cx="1896466" cy="274320"/>
          </a:xfrm>
          <a:prstGeom prst="rect">
            <a:avLst/>
          </a:prstGeom>
          <a:noFill/>
          <a:ln/>
        </p:spPr>
        <p:txBody>
          <a:bodyPr wrap="square" lIns="0" tIns="0" rIns="0" bIns="0" rtlCol="0" anchor="ctr"/>
          <a:lstStyle/>
          <a:p>
            <a:pPr indent="0" marL="0">
              <a:buNone/>
            </a:pPr>
            <a:r>
              <a:rPr lang="en-US" sz="800" spc="120" kern="0" dirty="0">
                <a:solidFill>
                  <a:srgbClr val="6B6559"/>
                </a:solidFill>
                <a:latin typeface="Courier New" pitchFamily="34" charset="0"/>
                <a:ea typeface="Courier New" pitchFamily="34" charset="-122"/>
                <a:cs typeface="Courier New" pitchFamily="34" charset="-120"/>
              </a:rPr>
              <a:t>CON UN TERCERO</a:t>
            </a:r>
            <a:endParaRPr lang="en-US" sz="800" dirty="0"/>
          </a:p>
        </p:txBody>
      </p:sp>
      <p:sp>
        <p:nvSpPr>
          <p:cNvPr id="6" name="Text 4"/>
          <p:cNvSpPr txBox="1"/>
          <p:nvPr/>
        </p:nvSpPr>
        <p:spPr>
          <a:xfrm>
            <a:off x="5746090" y="1024128"/>
            <a:ext cx="5912510" cy="274320"/>
          </a:xfrm>
          <a:prstGeom prst="rect">
            <a:avLst/>
          </a:prstGeom>
          <a:noFill/>
          <a:ln/>
        </p:spPr>
        <p:txBody>
          <a:bodyPr wrap="square" lIns="0" tIns="0" rIns="0" bIns="0" rtlCol="0" anchor="ctr"/>
          <a:lstStyle/>
          <a:p>
            <a:pPr indent="0" marL="0">
              <a:buNone/>
            </a:pPr>
            <a:r>
              <a:rPr lang="en-US" sz="800" spc="120" kern="0" dirty="0">
                <a:solidFill>
                  <a:srgbClr val="6B6559"/>
                </a:solidFill>
                <a:latin typeface="Courier New" pitchFamily="34" charset="0"/>
                <a:ea typeface="Courier New" pitchFamily="34" charset="-122"/>
                <a:cs typeface="Courier New" pitchFamily="34" charset="-120"/>
              </a:rPr>
              <a:t>POR QUÉ</a:t>
            </a:r>
            <a:endParaRPr lang="en-US" sz="800" dirty="0"/>
          </a:p>
        </p:txBody>
      </p:sp>
      <p:sp>
        <p:nvSpPr>
          <p:cNvPr id="7" name="Shape 5"/>
          <p:cNvSpPr/>
          <p:nvPr/>
        </p:nvSpPr>
        <p:spPr>
          <a:xfrm>
            <a:off x="502920" y="1316736"/>
            <a:ext cx="11155680" cy="0"/>
          </a:xfrm>
          <a:prstGeom prst="line">
            <a:avLst/>
          </a:prstGeom>
          <a:noFill/>
          <a:ln w="12700">
            <a:solidFill>
              <a:srgbClr val="DED8CB"/>
            </a:solidFill>
            <a:prstDash val="solid"/>
          </a:ln>
        </p:spPr>
      </p:sp>
      <p:sp>
        <p:nvSpPr>
          <p:cNvPr id="8" name="Text 6"/>
          <p:cNvSpPr txBox="1"/>
          <p:nvPr/>
        </p:nvSpPr>
        <p:spPr>
          <a:xfrm>
            <a:off x="502920" y="1353312"/>
            <a:ext cx="3182112" cy="734133"/>
          </a:xfrm>
          <a:prstGeom prst="rect">
            <a:avLst/>
          </a:prstGeom>
          <a:noFill/>
          <a:ln/>
        </p:spPr>
        <p:txBody>
          <a:bodyPr wrap="square" lIns="0" tIns="0" rIns="0" bIns="0" rtlCol="0" anchor="ctr"/>
          <a:lstStyle/>
          <a:p>
            <a:pPr indent="0" marL="0">
              <a:buNone/>
            </a:pPr>
            <a:r>
              <a:rPr lang="en-US" sz="1050" b="1" dirty="0">
                <a:solidFill>
                  <a:srgbClr val="12203A"/>
                </a:solidFill>
                <a:latin typeface="Calibri" pitchFamily="34" charset="0"/>
                <a:ea typeface="Calibri" pitchFamily="34" charset="-122"/>
                <a:cs typeface="Calibri" pitchFamily="34" charset="-120"/>
              </a:rPr>
              <a:t>Copia distribuible (PDF)</a:t>
            </a:r>
            <a:endParaRPr lang="en-US" sz="1050" dirty="0"/>
          </a:p>
        </p:txBody>
      </p:sp>
      <p:sp>
        <p:nvSpPr>
          <p:cNvPr id="9" name="Shape 7"/>
          <p:cNvSpPr/>
          <p:nvPr/>
        </p:nvSpPr>
        <p:spPr>
          <a:xfrm>
            <a:off x="3849624" y="1601506"/>
            <a:ext cx="1028700" cy="237744"/>
          </a:xfrm>
          <a:prstGeom prst="roundRect">
            <a:avLst>
              <a:gd name="adj" fmla="val 15385"/>
            </a:avLst>
          </a:prstGeom>
          <a:solidFill>
            <a:srgbClr val="E4F0E9"/>
          </a:solidFill>
          <a:ln w="6350">
            <a:solidFill>
              <a:srgbClr val="E4F0E9"/>
            </a:solidFill>
            <a:prstDash val="solid"/>
          </a:ln>
        </p:spPr>
      </p:sp>
      <p:sp>
        <p:nvSpPr>
          <p:cNvPr id="10" name="Text 8"/>
          <p:cNvSpPr txBox="1"/>
          <p:nvPr/>
        </p:nvSpPr>
        <p:spPr>
          <a:xfrm>
            <a:off x="3849624" y="1601506"/>
            <a:ext cx="1028700" cy="237744"/>
          </a:xfrm>
          <a:prstGeom prst="rect">
            <a:avLst/>
          </a:prstGeom>
          <a:noFill/>
          <a:ln/>
        </p:spPr>
        <p:txBody>
          <a:bodyPr wrap="square" lIns="0" tIns="0" rIns="0" bIns="0" rtlCol="0" anchor="ctr"/>
          <a:lstStyle/>
          <a:p>
            <a:pPr algn="ctr" indent="0" marL="0">
              <a:buNone/>
            </a:pPr>
            <a:r>
              <a:rPr lang="en-US" sz="700" dirty="0">
                <a:solidFill>
                  <a:srgbClr val="1B6046"/>
                </a:solidFill>
                <a:latin typeface="Courier New" pitchFamily="34" charset="0"/>
                <a:ea typeface="Courier New" pitchFamily="34" charset="-122"/>
                <a:cs typeface="Courier New" pitchFamily="34" charset="-120"/>
              </a:rPr>
              <a:t>SE COMPARTE</a:t>
            </a:r>
            <a:endParaRPr lang="en-US" sz="700" dirty="0"/>
          </a:p>
        </p:txBody>
      </p:sp>
      <p:sp>
        <p:nvSpPr>
          <p:cNvPr id="11" name="Text 9"/>
          <p:cNvSpPr txBox="1"/>
          <p:nvPr/>
        </p:nvSpPr>
        <p:spPr>
          <a:xfrm>
            <a:off x="5746090" y="1353312"/>
            <a:ext cx="5912510" cy="734133"/>
          </a:xfrm>
          <a:prstGeom prst="rect">
            <a:avLst/>
          </a:prstGeom>
          <a:noFill/>
          <a:ln/>
        </p:spPr>
        <p:txBody>
          <a:bodyPr wrap="square" lIns="0" tIns="0" rIns="0" bIns="0" rtlCol="0" anchor="ctr"/>
          <a:lstStyle/>
          <a:p>
            <a:pPr indent="0" marL="0">
              <a:buNone/>
            </a:pPr>
            <a:r>
              <a:rPr lang="en-US" sz="1000" dirty="0">
                <a:solidFill>
                  <a:srgbClr val="6B6559"/>
                </a:solidFill>
                <a:latin typeface="Calibri" pitchFamily="34" charset="0"/>
                <a:ea typeface="Calibri" pitchFamily="34" charset="-122"/>
                <a:cs typeface="Calibri" pitchFamily="34" charset="-120"/>
              </a:rPr>
              <a:t>Es la versión pensada para circular. Lleva la marca invisible que permite reconocerla.</a:t>
            </a:r>
            <a:endParaRPr lang="en-US" sz="1000" dirty="0"/>
          </a:p>
        </p:txBody>
      </p:sp>
      <p:sp>
        <p:nvSpPr>
          <p:cNvPr id="12" name="Shape 10"/>
          <p:cNvSpPr/>
          <p:nvPr/>
        </p:nvSpPr>
        <p:spPr>
          <a:xfrm>
            <a:off x="502920" y="2087445"/>
            <a:ext cx="11155680" cy="0"/>
          </a:xfrm>
          <a:prstGeom prst="line">
            <a:avLst/>
          </a:prstGeom>
          <a:noFill/>
          <a:ln w="9525">
            <a:solidFill>
              <a:srgbClr val="EBE6DA"/>
            </a:solidFill>
            <a:prstDash val="solid"/>
          </a:ln>
        </p:spPr>
      </p:sp>
      <p:sp>
        <p:nvSpPr>
          <p:cNvPr id="13" name="Text 11"/>
          <p:cNvSpPr txBox="1"/>
          <p:nvPr/>
        </p:nvSpPr>
        <p:spPr>
          <a:xfrm>
            <a:off x="502920" y="2087445"/>
            <a:ext cx="3182112" cy="734133"/>
          </a:xfrm>
          <a:prstGeom prst="rect">
            <a:avLst/>
          </a:prstGeom>
          <a:noFill/>
          <a:ln/>
        </p:spPr>
        <p:txBody>
          <a:bodyPr wrap="square" lIns="0" tIns="0" rIns="0" bIns="0" rtlCol="0" anchor="ctr"/>
          <a:lstStyle/>
          <a:p>
            <a:pPr indent="0" marL="0">
              <a:buNone/>
            </a:pPr>
            <a:r>
              <a:rPr lang="en-US" sz="1050" b="1" dirty="0">
                <a:solidFill>
                  <a:srgbClr val="12203A"/>
                </a:solidFill>
                <a:latin typeface="Calibri" pitchFamily="34" charset="0"/>
                <a:ea typeface="Calibri" pitchFamily="34" charset="-122"/>
                <a:cs typeface="Calibri" pitchFamily="34" charset="-120"/>
              </a:rPr>
              <a:t>Código público de 12 caracteres</a:t>
            </a:r>
            <a:endParaRPr lang="en-US" sz="1050" dirty="0"/>
          </a:p>
        </p:txBody>
      </p:sp>
      <p:sp>
        <p:nvSpPr>
          <p:cNvPr id="14" name="Shape 12"/>
          <p:cNvSpPr/>
          <p:nvPr/>
        </p:nvSpPr>
        <p:spPr>
          <a:xfrm>
            <a:off x="3849624" y="2335639"/>
            <a:ext cx="1028700" cy="237744"/>
          </a:xfrm>
          <a:prstGeom prst="roundRect">
            <a:avLst>
              <a:gd name="adj" fmla="val 15385"/>
            </a:avLst>
          </a:prstGeom>
          <a:solidFill>
            <a:srgbClr val="E4F0E9"/>
          </a:solidFill>
          <a:ln w="6350">
            <a:solidFill>
              <a:srgbClr val="E4F0E9"/>
            </a:solidFill>
            <a:prstDash val="solid"/>
          </a:ln>
        </p:spPr>
      </p:sp>
      <p:sp>
        <p:nvSpPr>
          <p:cNvPr id="15" name="Text 13"/>
          <p:cNvSpPr txBox="1"/>
          <p:nvPr/>
        </p:nvSpPr>
        <p:spPr>
          <a:xfrm>
            <a:off x="3849624" y="2335639"/>
            <a:ext cx="1028700" cy="237744"/>
          </a:xfrm>
          <a:prstGeom prst="rect">
            <a:avLst/>
          </a:prstGeom>
          <a:noFill/>
          <a:ln/>
        </p:spPr>
        <p:txBody>
          <a:bodyPr wrap="square" lIns="0" tIns="0" rIns="0" bIns="0" rtlCol="0" anchor="ctr"/>
          <a:lstStyle/>
          <a:p>
            <a:pPr algn="ctr" indent="0" marL="0">
              <a:buNone/>
            </a:pPr>
            <a:r>
              <a:rPr lang="en-US" sz="700" dirty="0">
                <a:solidFill>
                  <a:srgbClr val="1B6046"/>
                </a:solidFill>
                <a:latin typeface="Courier New" pitchFamily="34" charset="0"/>
                <a:ea typeface="Courier New" pitchFamily="34" charset="-122"/>
                <a:cs typeface="Courier New" pitchFamily="34" charset="-120"/>
              </a:rPr>
              <a:t>SE COMPARTE</a:t>
            </a:r>
            <a:endParaRPr lang="en-US" sz="700" dirty="0"/>
          </a:p>
        </p:txBody>
      </p:sp>
      <p:sp>
        <p:nvSpPr>
          <p:cNvPr id="16" name="Text 14"/>
          <p:cNvSpPr txBox="1"/>
          <p:nvPr/>
        </p:nvSpPr>
        <p:spPr>
          <a:xfrm>
            <a:off x="5746090" y="2087445"/>
            <a:ext cx="5912510" cy="734133"/>
          </a:xfrm>
          <a:prstGeom prst="rect">
            <a:avLst/>
          </a:prstGeom>
          <a:noFill/>
          <a:ln/>
        </p:spPr>
        <p:txBody>
          <a:bodyPr wrap="square" lIns="0" tIns="0" rIns="0" bIns="0" rtlCol="0" anchor="ctr"/>
          <a:lstStyle/>
          <a:p>
            <a:pPr indent="0" marL="0">
              <a:buNone/>
            </a:pPr>
            <a:r>
              <a:rPr lang="en-US" sz="1000" dirty="0">
                <a:solidFill>
                  <a:srgbClr val="6B6559"/>
                </a:solidFill>
                <a:latin typeface="Calibri" pitchFamily="34" charset="0"/>
                <a:ea typeface="Calibri" pitchFamily="34" charset="-122"/>
                <a:cs typeface="Calibri" pitchFamily="34" charset="-120"/>
              </a:rPr>
              <a:t>Es lo que la otra parte teclea para llegar al documento. Va impreso en el PDF.</a:t>
            </a:r>
            <a:endParaRPr lang="en-US" sz="1000" dirty="0"/>
          </a:p>
        </p:txBody>
      </p:sp>
      <p:sp>
        <p:nvSpPr>
          <p:cNvPr id="17" name="Shape 15"/>
          <p:cNvSpPr/>
          <p:nvPr/>
        </p:nvSpPr>
        <p:spPr>
          <a:xfrm>
            <a:off x="502920" y="2821577"/>
            <a:ext cx="11155680" cy="0"/>
          </a:xfrm>
          <a:prstGeom prst="line">
            <a:avLst/>
          </a:prstGeom>
          <a:noFill/>
          <a:ln w="9525">
            <a:solidFill>
              <a:srgbClr val="EBE6DA"/>
            </a:solidFill>
            <a:prstDash val="solid"/>
          </a:ln>
        </p:spPr>
      </p:sp>
      <p:sp>
        <p:nvSpPr>
          <p:cNvPr id="18" name="Text 16"/>
          <p:cNvSpPr txBox="1"/>
          <p:nvPr/>
        </p:nvSpPr>
        <p:spPr>
          <a:xfrm>
            <a:off x="502920" y="2821577"/>
            <a:ext cx="3182112" cy="734133"/>
          </a:xfrm>
          <a:prstGeom prst="rect">
            <a:avLst/>
          </a:prstGeom>
          <a:noFill/>
          <a:ln/>
        </p:spPr>
        <p:txBody>
          <a:bodyPr wrap="square" lIns="0" tIns="0" rIns="0" bIns="0" rtlCol="0" anchor="ctr"/>
          <a:lstStyle/>
          <a:p>
            <a:pPr indent="0" marL="0">
              <a:buNone/>
            </a:pPr>
            <a:r>
              <a:rPr lang="en-US" sz="1050" b="1" dirty="0">
                <a:solidFill>
                  <a:srgbClr val="12203A"/>
                </a:solidFill>
                <a:latin typeface="Calibri" pitchFamily="34" charset="0"/>
                <a:ea typeface="Calibri" pitchFamily="34" charset="-122"/>
                <a:cs typeface="Calibri" pitchFamily="34" charset="-120"/>
              </a:rPr>
              <a:t>Registro de certificación (JSON)</a:t>
            </a:r>
            <a:endParaRPr lang="en-US" sz="1050" dirty="0"/>
          </a:p>
        </p:txBody>
      </p:sp>
      <p:sp>
        <p:nvSpPr>
          <p:cNvPr id="19" name="Shape 17"/>
          <p:cNvSpPr/>
          <p:nvPr/>
        </p:nvSpPr>
        <p:spPr>
          <a:xfrm>
            <a:off x="3849624" y="3069771"/>
            <a:ext cx="1028700" cy="237744"/>
          </a:xfrm>
          <a:prstGeom prst="roundRect">
            <a:avLst>
              <a:gd name="adj" fmla="val 15385"/>
            </a:avLst>
          </a:prstGeom>
          <a:solidFill>
            <a:srgbClr val="E4F0E9"/>
          </a:solidFill>
          <a:ln w="6350">
            <a:solidFill>
              <a:srgbClr val="E4F0E9"/>
            </a:solidFill>
            <a:prstDash val="solid"/>
          </a:ln>
        </p:spPr>
      </p:sp>
      <p:sp>
        <p:nvSpPr>
          <p:cNvPr id="20" name="Text 18"/>
          <p:cNvSpPr txBox="1"/>
          <p:nvPr/>
        </p:nvSpPr>
        <p:spPr>
          <a:xfrm>
            <a:off x="3849624" y="3069771"/>
            <a:ext cx="1028700" cy="237744"/>
          </a:xfrm>
          <a:prstGeom prst="rect">
            <a:avLst/>
          </a:prstGeom>
          <a:noFill/>
          <a:ln/>
        </p:spPr>
        <p:txBody>
          <a:bodyPr wrap="square" lIns="0" tIns="0" rIns="0" bIns="0" rtlCol="0" anchor="ctr"/>
          <a:lstStyle/>
          <a:p>
            <a:pPr algn="ctr" indent="0" marL="0">
              <a:buNone/>
            </a:pPr>
            <a:r>
              <a:rPr lang="en-US" sz="700" dirty="0">
                <a:solidFill>
                  <a:srgbClr val="1B6046"/>
                </a:solidFill>
                <a:latin typeface="Courier New" pitchFamily="34" charset="0"/>
                <a:ea typeface="Courier New" pitchFamily="34" charset="-122"/>
                <a:cs typeface="Courier New" pitchFamily="34" charset="-120"/>
              </a:rPr>
              <a:t>SE COMPARTE</a:t>
            </a:r>
            <a:endParaRPr lang="en-US" sz="700" dirty="0"/>
          </a:p>
        </p:txBody>
      </p:sp>
      <p:sp>
        <p:nvSpPr>
          <p:cNvPr id="21" name="Text 19"/>
          <p:cNvSpPr txBox="1"/>
          <p:nvPr/>
        </p:nvSpPr>
        <p:spPr>
          <a:xfrm>
            <a:off x="5746090" y="2821577"/>
            <a:ext cx="5912510" cy="734133"/>
          </a:xfrm>
          <a:prstGeom prst="rect">
            <a:avLst/>
          </a:prstGeom>
          <a:noFill/>
          <a:ln/>
        </p:spPr>
        <p:txBody>
          <a:bodyPr wrap="square" lIns="0" tIns="0" rIns="0" bIns="0" rtlCol="0" anchor="ctr"/>
          <a:lstStyle/>
          <a:p>
            <a:pPr indent="0" marL="0">
              <a:buNone/>
            </a:pPr>
            <a:r>
              <a:rPr lang="en-US" sz="1000" dirty="0">
                <a:solidFill>
                  <a:srgbClr val="6B6559"/>
                </a:solidFill>
                <a:latin typeface="Calibri" pitchFamily="34" charset="0"/>
                <a:ea typeface="Calibri" pitchFamily="34" charset="-122"/>
                <a:cs typeface="Calibri" pitchFamily="34" charset="-120"/>
              </a:rPr>
              <a:t>Está hecho para un auditor. No contiene el documento, sólo sus huellas.</a:t>
            </a:r>
            <a:endParaRPr lang="en-US" sz="1000" dirty="0"/>
          </a:p>
        </p:txBody>
      </p:sp>
      <p:sp>
        <p:nvSpPr>
          <p:cNvPr id="22" name="Shape 20"/>
          <p:cNvSpPr/>
          <p:nvPr/>
        </p:nvSpPr>
        <p:spPr>
          <a:xfrm>
            <a:off x="502920" y="3555710"/>
            <a:ext cx="11155680" cy="0"/>
          </a:xfrm>
          <a:prstGeom prst="line">
            <a:avLst/>
          </a:prstGeom>
          <a:noFill/>
          <a:ln w="9525">
            <a:solidFill>
              <a:srgbClr val="EBE6DA"/>
            </a:solidFill>
            <a:prstDash val="solid"/>
          </a:ln>
        </p:spPr>
      </p:sp>
      <p:sp>
        <p:nvSpPr>
          <p:cNvPr id="23" name="Text 21"/>
          <p:cNvSpPr txBox="1"/>
          <p:nvPr/>
        </p:nvSpPr>
        <p:spPr>
          <a:xfrm>
            <a:off x="502920" y="3555710"/>
            <a:ext cx="3182112" cy="734133"/>
          </a:xfrm>
          <a:prstGeom prst="rect">
            <a:avLst/>
          </a:prstGeom>
          <a:noFill/>
          <a:ln/>
        </p:spPr>
        <p:txBody>
          <a:bodyPr wrap="square" lIns="0" tIns="0" rIns="0" bIns="0" rtlCol="0" anchor="ctr"/>
          <a:lstStyle/>
          <a:p>
            <a:pPr indent="0" marL="0">
              <a:buNone/>
            </a:pPr>
            <a:r>
              <a:rPr lang="en-US" sz="1050" b="1" dirty="0">
                <a:solidFill>
                  <a:srgbClr val="12203A"/>
                </a:solidFill>
                <a:latin typeface="Calibri" pitchFamily="34" charset="0"/>
                <a:ea typeface="Calibri" pitchFamily="34" charset="-122"/>
                <a:cs typeface="Calibri" pitchFamily="34" charset="-120"/>
              </a:rPr>
              <a:t>Enlace del sello de tiempo</a:t>
            </a:r>
            <a:endParaRPr lang="en-US" sz="1050" dirty="0"/>
          </a:p>
        </p:txBody>
      </p:sp>
      <p:sp>
        <p:nvSpPr>
          <p:cNvPr id="24" name="Shape 22"/>
          <p:cNvSpPr/>
          <p:nvPr/>
        </p:nvSpPr>
        <p:spPr>
          <a:xfrm>
            <a:off x="3849624" y="3803904"/>
            <a:ext cx="1028700" cy="237744"/>
          </a:xfrm>
          <a:prstGeom prst="roundRect">
            <a:avLst>
              <a:gd name="adj" fmla="val 15385"/>
            </a:avLst>
          </a:prstGeom>
          <a:solidFill>
            <a:srgbClr val="E4F0E9"/>
          </a:solidFill>
          <a:ln w="6350">
            <a:solidFill>
              <a:srgbClr val="E4F0E9"/>
            </a:solidFill>
            <a:prstDash val="solid"/>
          </a:ln>
        </p:spPr>
      </p:sp>
      <p:sp>
        <p:nvSpPr>
          <p:cNvPr id="25" name="Text 23"/>
          <p:cNvSpPr txBox="1"/>
          <p:nvPr/>
        </p:nvSpPr>
        <p:spPr>
          <a:xfrm>
            <a:off x="3849624" y="3803904"/>
            <a:ext cx="1028700" cy="237744"/>
          </a:xfrm>
          <a:prstGeom prst="rect">
            <a:avLst/>
          </a:prstGeom>
          <a:noFill/>
          <a:ln/>
        </p:spPr>
        <p:txBody>
          <a:bodyPr wrap="square" lIns="0" tIns="0" rIns="0" bIns="0" rtlCol="0" anchor="ctr"/>
          <a:lstStyle/>
          <a:p>
            <a:pPr algn="ctr" indent="0" marL="0">
              <a:buNone/>
            </a:pPr>
            <a:r>
              <a:rPr lang="en-US" sz="700" dirty="0">
                <a:solidFill>
                  <a:srgbClr val="1B6046"/>
                </a:solidFill>
                <a:latin typeface="Courier New" pitchFamily="34" charset="0"/>
                <a:ea typeface="Courier New" pitchFamily="34" charset="-122"/>
                <a:cs typeface="Courier New" pitchFamily="34" charset="-120"/>
              </a:rPr>
              <a:t>SE COMPARTE</a:t>
            </a:r>
            <a:endParaRPr lang="en-US" sz="700" dirty="0"/>
          </a:p>
        </p:txBody>
      </p:sp>
      <p:sp>
        <p:nvSpPr>
          <p:cNvPr id="26" name="Text 24"/>
          <p:cNvSpPr txBox="1"/>
          <p:nvPr/>
        </p:nvSpPr>
        <p:spPr>
          <a:xfrm>
            <a:off x="5746090" y="3555710"/>
            <a:ext cx="5912510" cy="734133"/>
          </a:xfrm>
          <a:prstGeom prst="rect">
            <a:avLst/>
          </a:prstGeom>
          <a:noFill/>
          <a:ln/>
        </p:spPr>
        <p:txBody>
          <a:bodyPr wrap="square" lIns="0" tIns="0" rIns="0" bIns="0" rtlCol="0" anchor="ctr"/>
          <a:lstStyle/>
          <a:p>
            <a:pPr indent="0" marL="0">
              <a:buNone/>
            </a:pPr>
            <a:r>
              <a:rPr lang="en-US" sz="1000" dirty="0">
                <a:solidFill>
                  <a:srgbClr val="6B6559"/>
                </a:solidFill>
                <a:latin typeface="Calibri" pitchFamily="34" charset="0"/>
                <a:ea typeface="Calibri" pitchFamily="34" charset="-122"/>
                <a:cs typeface="Calibri" pitchFamily="34" charset="-120"/>
              </a:rPr>
              <a:t>Página pública. Sólo huellas y fechas, ningún contenido.</a:t>
            </a:r>
            <a:endParaRPr lang="en-US" sz="1000" dirty="0"/>
          </a:p>
        </p:txBody>
      </p:sp>
      <p:sp>
        <p:nvSpPr>
          <p:cNvPr id="27" name="Shape 25"/>
          <p:cNvSpPr/>
          <p:nvPr/>
        </p:nvSpPr>
        <p:spPr>
          <a:xfrm>
            <a:off x="502920" y="4289842"/>
            <a:ext cx="11155680" cy="0"/>
          </a:xfrm>
          <a:prstGeom prst="line">
            <a:avLst/>
          </a:prstGeom>
          <a:noFill/>
          <a:ln w="9525">
            <a:solidFill>
              <a:srgbClr val="EBE6DA"/>
            </a:solidFill>
            <a:prstDash val="solid"/>
          </a:ln>
        </p:spPr>
      </p:sp>
      <p:sp>
        <p:nvSpPr>
          <p:cNvPr id="28" name="Text 26"/>
          <p:cNvSpPr txBox="1"/>
          <p:nvPr/>
        </p:nvSpPr>
        <p:spPr>
          <a:xfrm>
            <a:off x="502920" y="4289842"/>
            <a:ext cx="3182112" cy="734133"/>
          </a:xfrm>
          <a:prstGeom prst="rect">
            <a:avLst/>
          </a:prstGeom>
          <a:noFill/>
          <a:ln/>
        </p:spPr>
        <p:txBody>
          <a:bodyPr wrap="square" lIns="0" tIns="0" rIns="0" bIns="0" rtlCol="0" anchor="ctr"/>
          <a:lstStyle/>
          <a:p>
            <a:pPr indent="0" marL="0">
              <a:buNone/>
            </a:pPr>
            <a:r>
              <a:rPr lang="en-US" sz="1050" b="1" dirty="0">
                <a:solidFill>
                  <a:srgbClr val="12203A"/>
                </a:solidFill>
                <a:latin typeface="Calibri" pitchFamily="34" charset="0"/>
                <a:ea typeface="Calibri" pitchFamily="34" charset="-122"/>
                <a:cs typeface="Calibri" pitchFamily="34" charset="-120"/>
              </a:rPr>
              <a:t>Ejemplar certificado (su copia con códigos)</a:t>
            </a:r>
            <a:endParaRPr lang="en-US" sz="1050" dirty="0"/>
          </a:p>
        </p:txBody>
      </p:sp>
      <p:sp>
        <p:nvSpPr>
          <p:cNvPr id="29" name="Shape 27"/>
          <p:cNvSpPr/>
          <p:nvPr/>
        </p:nvSpPr>
        <p:spPr>
          <a:xfrm>
            <a:off x="3849624" y="4538037"/>
            <a:ext cx="1028700" cy="237744"/>
          </a:xfrm>
          <a:prstGeom prst="roundRect">
            <a:avLst>
              <a:gd name="adj" fmla="val 15385"/>
            </a:avLst>
          </a:prstGeom>
          <a:solidFill>
            <a:srgbClr val="F3F0E8"/>
          </a:solidFill>
          <a:ln w="6350">
            <a:solidFill>
              <a:srgbClr val="F3F0E8"/>
            </a:solidFill>
            <a:prstDash val="solid"/>
          </a:ln>
        </p:spPr>
      </p:sp>
      <p:sp>
        <p:nvSpPr>
          <p:cNvPr id="30" name="Text 28"/>
          <p:cNvSpPr txBox="1"/>
          <p:nvPr/>
        </p:nvSpPr>
        <p:spPr>
          <a:xfrm>
            <a:off x="3849624" y="4538037"/>
            <a:ext cx="1028700" cy="237744"/>
          </a:xfrm>
          <a:prstGeom prst="rect">
            <a:avLst/>
          </a:prstGeom>
          <a:noFill/>
          <a:ln/>
        </p:spPr>
        <p:txBody>
          <a:bodyPr wrap="square" lIns="0" tIns="0" rIns="0" bIns="0" rtlCol="0" anchor="ctr"/>
          <a:lstStyle/>
          <a:p>
            <a:pPr algn="ctr" indent="0" marL="0">
              <a:buNone/>
            </a:pPr>
            <a:r>
              <a:rPr lang="en-US" sz="700" dirty="0">
                <a:solidFill>
                  <a:srgbClr val="6B6559"/>
                </a:solidFill>
                <a:latin typeface="Courier New" pitchFamily="34" charset="0"/>
                <a:ea typeface="Courier New" pitchFamily="34" charset="-122"/>
                <a:cs typeface="Courier New" pitchFamily="34" charset="-120"/>
              </a:rPr>
              <a:t>SE CONSERVA</a:t>
            </a:r>
            <a:endParaRPr lang="en-US" sz="700" dirty="0"/>
          </a:p>
        </p:txBody>
      </p:sp>
      <p:sp>
        <p:nvSpPr>
          <p:cNvPr id="31" name="Text 29"/>
          <p:cNvSpPr txBox="1"/>
          <p:nvPr/>
        </p:nvSpPr>
        <p:spPr>
          <a:xfrm>
            <a:off x="5746090" y="4289842"/>
            <a:ext cx="5912510" cy="734133"/>
          </a:xfrm>
          <a:prstGeom prst="rect">
            <a:avLst/>
          </a:prstGeom>
          <a:noFill/>
          <a:ln/>
        </p:spPr>
        <p:txBody>
          <a:bodyPr wrap="square" lIns="0" tIns="0" rIns="0" bIns="0" rtlCol="0" anchor="ctr"/>
          <a:lstStyle/>
          <a:p>
            <a:pPr indent="0" marL="0">
              <a:buNone/>
            </a:pPr>
            <a:r>
              <a:rPr lang="en-US" sz="1000" dirty="0">
                <a:solidFill>
                  <a:srgbClr val="6B6559"/>
                </a:solidFill>
                <a:latin typeface="Calibri" pitchFamily="34" charset="0"/>
                <a:ea typeface="Calibri" pitchFamily="34" charset="-122"/>
                <a:cs typeface="Calibri" pitchFamily="34" charset="-120"/>
              </a:rPr>
              <a:t>No hace falta cederlo: la copia distribuible prueba lo mismo.</a:t>
            </a:r>
            <a:endParaRPr lang="en-US" sz="1000" dirty="0"/>
          </a:p>
        </p:txBody>
      </p:sp>
      <p:sp>
        <p:nvSpPr>
          <p:cNvPr id="32" name="Shape 30"/>
          <p:cNvSpPr/>
          <p:nvPr/>
        </p:nvSpPr>
        <p:spPr>
          <a:xfrm>
            <a:off x="502920" y="5023975"/>
            <a:ext cx="11155680" cy="0"/>
          </a:xfrm>
          <a:prstGeom prst="line">
            <a:avLst/>
          </a:prstGeom>
          <a:noFill/>
          <a:ln w="9525">
            <a:solidFill>
              <a:srgbClr val="EBE6DA"/>
            </a:solidFill>
            <a:prstDash val="solid"/>
          </a:ln>
        </p:spPr>
      </p:sp>
      <p:sp>
        <p:nvSpPr>
          <p:cNvPr id="33" name="Text 31"/>
          <p:cNvSpPr txBox="1"/>
          <p:nvPr/>
        </p:nvSpPr>
        <p:spPr>
          <a:xfrm>
            <a:off x="502920" y="5023975"/>
            <a:ext cx="3182112" cy="734133"/>
          </a:xfrm>
          <a:prstGeom prst="rect">
            <a:avLst/>
          </a:prstGeom>
          <a:noFill/>
          <a:ln/>
        </p:spPr>
        <p:txBody>
          <a:bodyPr wrap="square" lIns="0" tIns="0" rIns="0" bIns="0" rtlCol="0" anchor="ctr"/>
          <a:lstStyle/>
          <a:p>
            <a:pPr indent="0" marL="0">
              <a:buNone/>
            </a:pPr>
            <a:r>
              <a:rPr lang="en-US" sz="1050" b="1" dirty="0">
                <a:solidFill>
                  <a:srgbClr val="12203A"/>
                </a:solidFill>
                <a:latin typeface="Calibri" pitchFamily="34" charset="0"/>
                <a:ea typeface="Calibri" pitchFamily="34" charset="-122"/>
                <a:cs typeface="Calibri" pitchFamily="34" charset="-120"/>
              </a:rPr>
              <a:t>Documento original sin códigos</a:t>
            </a:r>
            <a:endParaRPr lang="en-US" sz="1050" dirty="0"/>
          </a:p>
        </p:txBody>
      </p:sp>
      <p:sp>
        <p:nvSpPr>
          <p:cNvPr id="34" name="Shape 32"/>
          <p:cNvSpPr/>
          <p:nvPr/>
        </p:nvSpPr>
        <p:spPr>
          <a:xfrm>
            <a:off x="3849624" y="5272169"/>
            <a:ext cx="754380" cy="237744"/>
          </a:xfrm>
          <a:prstGeom prst="roundRect">
            <a:avLst>
              <a:gd name="adj" fmla="val 15385"/>
            </a:avLst>
          </a:prstGeom>
          <a:solidFill>
            <a:srgbClr val="F8E7E2"/>
          </a:solidFill>
          <a:ln w="6350">
            <a:solidFill>
              <a:srgbClr val="F8E7E2"/>
            </a:solidFill>
            <a:prstDash val="solid"/>
          </a:ln>
        </p:spPr>
      </p:sp>
      <p:sp>
        <p:nvSpPr>
          <p:cNvPr id="35" name="Text 33"/>
          <p:cNvSpPr txBox="1"/>
          <p:nvPr/>
        </p:nvSpPr>
        <p:spPr>
          <a:xfrm>
            <a:off x="3849624" y="5272169"/>
            <a:ext cx="754380" cy="237744"/>
          </a:xfrm>
          <a:prstGeom prst="rect">
            <a:avLst/>
          </a:prstGeom>
          <a:noFill/>
          <a:ln/>
        </p:spPr>
        <p:txBody>
          <a:bodyPr wrap="square" lIns="0" tIns="0" rIns="0" bIns="0" rtlCol="0" anchor="ctr"/>
          <a:lstStyle/>
          <a:p>
            <a:pPr algn="ctr" indent="0" marL="0">
              <a:buNone/>
            </a:pPr>
            <a:r>
              <a:rPr lang="en-US" sz="700" dirty="0">
                <a:solidFill>
                  <a:srgbClr val="8E3120"/>
                </a:solidFill>
                <a:latin typeface="Courier New" pitchFamily="34" charset="0"/>
                <a:ea typeface="Courier New" pitchFamily="34" charset="-122"/>
                <a:cs typeface="Courier New" pitchFamily="34" charset="-120"/>
              </a:rPr>
              <a:t>NO SALE</a:t>
            </a:r>
            <a:endParaRPr lang="en-US" sz="700" dirty="0"/>
          </a:p>
        </p:txBody>
      </p:sp>
      <p:sp>
        <p:nvSpPr>
          <p:cNvPr id="36" name="Text 34"/>
          <p:cNvSpPr txBox="1"/>
          <p:nvPr/>
        </p:nvSpPr>
        <p:spPr>
          <a:xfrm>
            <a:off x="5746090" y="5023975"/>
            <a:ext cx="5912510" cy="734133"/>
          </a:xfrm>
          <a:prstGeom prst="rect">
            <a:avLst/>
          </a:prstGeom>
          <a:noFill/>
          <a:ln/>
        </p:spPr>
        <p:txBody>
          <a:bodyPr wrap="square" lIns="0" tIns="0" rIns="0" bIns="0" rtlCol="0" anchor="ctr"/>
          <a:lstStyle/>
          <a:p>
            <a:pPr indent="0" marL="0">
              <a:buNone/>
            </a:pPr>
            <a:r>
              <a:rPr lang="en-US" sz="1000" dirty="0">
                <a:solidFill>
                  <a:srgbClr val="6B6559"/>
                </a:solidFill>
                <a:latin typeface="Calibri" pitchFamily="34" charset="0"/>
                <a:ea typeface="Calibri" pitchFamily="34" charset="-122"/>
                <a:cs typeface="Calibri" pitchFamily="34" charset="-120"/>
              </a:rPr>
              <a:t>Queda archivado en la plataforma. Sólo lo consulta el personal interno.</a:t>
            </a:r>
            <a:endParaRPr lang="en-US" sz="1000" dirty="0"/>
          </a:p>
        </p:txBody>
      </p:sp>
      <p:sp>
        <p:nvSpPr>
          <p:cNvPr id="37" name="Shape 35"/>
          <p:cNvSpPr/>
          <p:nvPr/>
        </p:nvSpPr>
        <p:spPr>
          <a:xfrm>
            <a:off x="502920" y="5758107"/>
            <a:ext cx="11155680" cy="0"/>
          </a:xfrm>
          <a:prstGeom prst="line">
            <a:avLst/>
          </a:prstGeom>
          <a:noFill/>
          <a:ln w="9525">
            <a:solidFill>
              <a:srgbClr val="EBE6DA"/>
            </a:solidFill>
            <a:prstDash val="solid"/>
          </a:ln>
        </p:spPr>
      </p:sp>
      <p:sp>
        <p:nvSpPr>
          <p:cNvPr id="38" name="Text 36"/>
          <p:cNvSpPr txBox="1"/>
          <p:nvPr/>
        </p:nvSpPr>
        <p:spPr>
          <a:xfrm>
            <a:off x="502920" y="5758107"/>
            <a:ext cx="3182112" cy="734133"/>
          </a:xfrm>
          <a:prstGeom prst="rect">
            <a:avLst/>
          </a:prstGeom>
          <a:noFill/>
          <a:ln/>
        </p:spPr>
        <p:txBody>
          <a:bodyPr wrap="square" lIns="0" tIns="0" rIns="0" bIns="0" rtlCol="0" anchor="ctr"/>
          <a:lstStyle/>
          <a:p>
            <a:pPr indent="0" marL="0">
              <a:buNone/>
            </a:pPr>
            <a:r>
              <a:rPr lang="en-US" sz="1050" b="1" dirty="0">
                <a:solidFill>
                  <a:srgbClr val="12203A"/>
                </a:solidFill>
                <a:latin typeface="Calibri" pitchFamily="34" charset="0"/>
                <a:ea typeface="Calibri" pitchFamily="34" charset="-122"/>
                <a:cs typeface="Calibri" pitchFamily="34" charset="-120"/>
              </a:rPr>
              <a:t>El código de seis cifras del correo</a:t>
            </a:r>
            <a:endParaRPr lang="en-US" sz="1050" dirty="0"/>
          </a:p>
        </p:txBody>
      </p:sp>
      <p:sp>
        <p:nvSpPr>
          <p:cNvPr id="39" name="Shape 37"/>
          <p:cNvSpPr/>
          <p:nvPr/>
        </p:nvSpPr>
        <p:spPr>
          <a:xfrm>
            <a:off x="3849624" y="6006302"/>
            <a:ext cx="617220" cy="237744"/>
          </a:xfrm>
          <a:prstGeom prst="roundRect">
            <a:avLst>
              <a:gd name="adj" fmla="val 15385"/>
            </a:avLst>
          </a:prstGeom>
          <a:solidFill>
            <a:srgbClr val="F8E7E2"/>
          </a:solidFill>
          <a:ln w="6350">
            <a:solidFill>
              <a:srgbClr val="F8E7E2"/>
            </a:solidFill>
            <a:prstDash val="solid"/>
          </a:ln>
        </p:spPr>
      </p:sp>
      <p:sp>
        <p:nvSpPr>
          <p:cNvPr id="40" name="Text 38"/>
          <p:cNvSpPr txBox="1"/>
          <p:nvPr/>
        </p:nvSpPr>
        <p:spPr>
          <a:xfrm>
            <a:off x="3849624" y="6006302"/>
            <a:ext cx="617220" cy="237744"/>
          </a:xfrm>
          <a:prstGeom prst="rect">
            <a:avLst/>
          </a:prstGeom>
          <a:noFill/>
          <a:ln/>
        </p:spPr>
        <p:txBody>
          <a:bodyPr wrap="square" lIns="0" tIns="0" rIns="0" bIns="0" rtlCol="0" anchor="ctr"/>
          <a:lstStyle/>
          <a:p>
            <a:pPr algn="ctr" indent="0" marL="0">
              <a:buNone/>
            </a:pPr>
            <a:r>
              <a:rPr lang="en-US" sz="700" dirty="0">
                <a:solidFill>
                  <a:srgbClr val="8E3120"/>
                </a:solidFill>
                <a:latin typeface="Courier New" pitchFamily="34" charset="0"/>
                <a:ea typeface="Courier New" pitchFamily="34" charset="-122"/>
                <a:cs typeface="Courier New" pitchFamily="34" charset="-120"/>
              </a:rPr>
              <a:t>NUNCA</a:t>
            </a:r>
            <a:endParaRPr lang="en-US" sz="700" dirty="0"/>
          </a:p>
        </p:txBody>
      </p:sp>
      <p:sp>
        <p:nvSpPr>
          <p:cNvPr id="41" name="Text 39"/>
          <p:cNvSpPr txBox="1"/>
          <p:nvPr/>
        </p:nvSpPr>
        <p:spPr>
          <a:xfrm>
            <a:off x="5746090" y="5758107"/>
            <a:ext cx="5912510" cy="734133"/>
          </a:xfrm>
          <a:prstGeom prst="rect">
            <a:avLst/>
          </a:prstGeom>
          <a:noFill/>
          <a:ln/>
        </p:spPr>
        <p:txBody>
          <a:bodyPr wrap="square" lIns="0" tIns="0" rIns="0" bIns="0" rtlCol="0" anchor="ctr"/>
          <a:lstStyle/>
          <a:p>
            <a:pPr indent="0" marL="0">
              <a:buNone/>
            </a:pPr>
            <a:r>
              <a:rPr lang="en-US" sz="1000" dirty="0">
                <a:solidFill>
                  <a:srgbClr val="6B6559"/>
                </a:solidFill>
                <a:latin typeface="Calibri" pitchFamily="34" charset="0"/>
                <a:ea typeface="Calibri" pitchFamily="34" charset="-122"/>
                <a:cs typeface="Calibri" pitchFamily="34" charset="-120"/>
              </a:rPr>
              <a:t>Es su llave de sesión, personal y de un solo uso. Nadie del despacho se lo va a pedir.</a:t>
            </a:r>
            <a:endParaRPr lang="en-US" sz="1000" dirty="0"/>
          </a:p>
        </p:txBody>
      </p:sp>
      <p:sp>
        <p:nvSpPr>
          <p:cNvPr id="42" name="Shape 40"/>
          <p:cNvSpPr/>
          <p:nvPr/>
        </p:nvSpPr>
        <p:spPr>
          <a:xfrm>
            <a:off x="502920" y="6492240"/>
            <a:ext cx="11155680" cy="0"/>
          </a:xfrm>
          <a:prstGeom prst="line">
            <a:avLst/>
          </a:prstGeom>
          <a:noFill/>
          <a:ln w="9525">
            <a:solidFill>
              <a:srgbClr val="EBE6DA"/>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Verificar un certificado GEA</dc:title>
  <dc:subject>PptxGenJS Presentation</dc:subject>
  <dc:creator>PptxGenJS</dc:creator>
  <cp:lastModifiedBy>PptxGenJS</cp:lastModifiedBy>
  <cp:revision>1</cp:revision>
  <dcterms:created xsi:type="dcterms:W3CDTF">2026-09-01T17:31:59Z</dcterms:created>
  <dcterms:modified xsi:type="dcterms:W3CDTF">2026-09-01T17:31:59Z</dcterms:modified>
</cp:coreProperties>
</file>